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90" r:id="rId2"/>
    <p:sldId id="392" r:id="rId3"/>
    <p:sldId id="393" r:id="rId4"/>
    <p:sldId id="394" r:id="rId5"/>
    <p:sldId id="398" r:id="rId6"/>
    <p:sldId id="395" r:id="rId7"/>
    <p:sldId id="396" r:id="rId8"/>
    <p:sldId id="399" r:id="rId9"/>
    <p:sldId id="400" r:id="rId10"/>
    <p:sldId id="39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4F81BD"/>
    <a:srgbClr val="25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3B10D-49C9-4B0B-BAC7-DF00034EC38D}" v="17" dt="2026-08-16T18:12:40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323" autoAdjust="0"/>
  </p:normalViewPr>
  <p:slideViewPr>
    <p:cSldViewPr>
      <p:cViewPr varScale="1">
        <p:scale>
          <a:sx n="62" d="100"/>
          <a:sy n="62" d="100"/>
        </p:scale>
        <p:origin x="90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24A1-837C-427E-A09E-F69BE28790E3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820EA-AEA3-4928-999E-F2B4A3EAE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A8F8-2F5C-1739-7C6E-9DC31B1C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4A815-896A-0E39-6ABB-8C7D94613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0A313-15FC-4883-CAC9-A00F5852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6EF5E-4409-D843-55F1-430F51231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F5C-E4D2-4B32-ACFC-7F4BB6D354A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7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3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9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0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5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59CC-92EB-41BE-8A78-21811B536BEA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2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3" Type="http://schemas.openxmlformats.org/officeDocument/2006/relationships/image" Target="../media/image16.png"/><Relationship Id="rId12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2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8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36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35.pn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5989-633D-423F-BC88-6C5916D4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AE26F4-3F9F-44D3-CC67-1987E8B26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C24924-1FBF-A688-9802-3B462389E627}"/>
              </a:ext>
            </a:extLst>
          </p:cNvPr>
          <p:cNvSpPr txBox="1">
            <a:spLocks/>
          </p:cNvSpPr>
          <p:nvPr/>
        </p:nvSpPr>
        <p:spPr>
          <a:xfrm>
            <a:off x="755092" y="63213"/>
            <a:ext cx="11287000" cy="118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n-IN" sz="3200" dirty="0">
                <a:latin typeface="Amasis MT Pro" panose="02040504050005020304" pitchFamily="18" charset="0"/>
              </a:rPr>
              <a:t>Atal Bihari Vajpayee</a:t>
            </a:r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ts val="3800"/>
              </a:lnSpc>
            </a:pPr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Indian Institute of Information Technology and Management Gwalior</a:t>
            </a:r>
            <a:endParaRPr lang="en-IN" sz="2400" dirty="0">
              <a:solidFill>
                <a:srgbClr val="00206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4274C5-6B84-C83C-4FF4-C5E58FBC7A29}"/>
              </a:ext>
            </a:extLst>
          </p:cNvPr>
          <p:cNvSpPr txBox="1">
            <a:spLocks/>
          </p:cNvSpPr>
          <p:nvPr/>
        </p:nvSpPr>
        <p:spPr>
          <a:xfrm>
            <a:off x="77319" y="3982819"/>
            <a:ext cx="11584217" cy="904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Instructor – Dr. Sunil Kumar</a:t>
            </a:r>
          </a:p>
          <a:p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Assistant Professor @ Dept. of Information Technology, ABV-IIITM Gwalior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2E2BD-7408-EBD3-0654-F31C8B4A920D}"/>
              </a:ext>
            </a:extLst>
          </p:cNvPr>
          <p:cNvSpPr txBox="1"/>
          <p:nvPr/>
        </p:nvSpPr>
        <p:spPr>
          <a:xfrm>
            <a:off x="3337698" y="1860689"/>
            <a:ext cx="5216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Computer Graphics Lab : 03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4E02E7-BC8E-682A-CFDF-F90BB0E57D57}"/>
              </a:ext>
            </a:extLst>
          </p:cNvPr>
          <p:cNvSpPr txBox="1">
            <a:spLocks/>
          </p:cNvSpPr>
          <p:nvPr/>
        </p:nvSpPr>
        <p:spPr>
          <a:xfrm>
            <a:off x="119334" y="2308251"/>
            <a:ext cx="11653219" cy="131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Line Drawing Algorithms</a:t>
            </a:r>
            <a:endParaRPr lang="en-IN" sz="66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1D2EC2-F2A3-A3F7-D458-9A501858E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685016"/>
              </p:ext>
            </p:extLst>
          </p:nvPr>
        </p:nvGraphicFramePr>
        <p:xfrm>
          <a:off x="1045082" y="5517232"/>
          <a:ext cx="980172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77561">
                  <a:extLst>
                    <a:ext uri="{9D8B030D-6E8A-4147-A177-3AD203B41FA5}">
                      <a16:colId xmlns:a16="http://schemas.microsoft.com/office/drawing/2014/main" val="1573689763"/>
                    </a:ext>
                  </a:extLst>
                </a:gridCol>
                <a:gridCol w="2724160">
                  <a:extLst>
                    <a:ext uri="{9D8B030D-6E8A-4147-A177-3AD203B41FA5}">
                      <a16:colId xmlns:a16="http://schemas.microsoft.com/office/drawing/2014/main" val="2592637703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Mehr Aliah, Sheel Patel, Pranav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Group-02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6418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Anushka Agarwal, Abhishek Shrivastav, Radhika Gupta, Aditya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Group-01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717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F95651A-21A4-C99E-CAA4-C4200504666B}"/>
              </a:ext>
            </a:extLst>
          </p:cNvPr>
          <p:cNvSpPr txBox="1"/>
          <p:nvPr/>
        </p:nvSpPr>
        <p:spPr>
          <a:xfrm>
            <a:off x="4079776" y="5072395"/>
            <a:ext cx="3333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masis MT Pro" panose="02040504050005020304" pitchFamily="18" charset="0"/>
              </a:rPr>
              <a:t>Teaching Assistants (TAs)</a:t>
            </a:r>
          </a:p>
        </p:txBody>
      </p:sp>
    </p:spTree>
    <p:extLst>
      <p:ext uri="{BB962C8B-B14F-4D97-AF65-F5344CB8AC3E}">
        <p14:creationId xmlns:p14="http://schemas.microsoft.com/office/powerpoint/2010/main" val="29508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F1E8-DCE4-BEE6-DFAB-914C981F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59F738-7F80-DEA7-1E96-CE9D17B9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Objective of this lab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2E4DB-E185-5F7F-5EAA-529788B89377}"/>
              </a:ext>
            </a:extLst>
          </p:cNvPr>
          <p:cNvSpPr txBox="1"/>
          <p:nvPr/>
        </p:nvSpPr>
        <p:spPr>
          <a:xfrm>
            <a:off x="1239520" y="158496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93DA1-5F8B-B4BD-9724-E8FE24E2B593}"/>
              </a:ext>
            </a:extLst>
          </p:cNvPr>
          <p:cNvSpPr txBox="1"/>
          <p:nvPr/>
        </p:nvSpPr>
        <p:spPr>
          <a:xfrm>
            <a:off x="5313680" y="206248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9B676-144B-53AB-C403-92E905B7776F}"/>
              </a:ext>
            </a:extLst>
          </p:cNvPr>
          <p:cNvSpPr txBox="1"/>
          <p:nvPr/>
        </p:nvSpPr>
        <p:spPr>
          <a:xfrm>
            <a:off x="1239520" y="1769626"/>
            <a:ext cx="9712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The objective of this lab is to </a:t>
            </a:r>
            <a:r>
              <a:rPr lang="en-IN" sz="2400" b="1" dirty="0"/>
              <a:t>draw line segments and graphics on a computer screen using equations of straight lines</a:t>
            </a:r>
            <a:r>
              <a:rPr lang="en-IN" sz="2400" dirty="0"/>
              <a:t>, while understanding and minimizing the </a:t>
            </a:r>
            <a:r>
              <a:rPr lang="en-IN" sz="2400" b="1" dirty="0"/>
              <a:t>floating-point operations (FLOPs)</a:t>
            </a:r>
            <a:r>
              <a:rPr lang="en-IN" sz="2400" dirty="0"/>
              <a:t> required for line generation. The lab involves using different forms of the line equation, such as y=</a:t>
            </a:r>
            <a:r>
              <a:rPr lang="en-IN" sz="2400" dirty="0" err="1"/>
              <a:t>mx+c</a:t>
            </a:r>
            <a:r>
              <a:rPr lang="en-IN" sz="2400" dirty="0"/>
              <a:t> and x=my​−mc​, for drawing lines between given endpoints. </a:t>
            </a:r>
          </a:p>
        </p:txBody>
      </p:sp>
    </p:spTree>
    <p:extLst>
      <p:ext uri="{BB962C8B-B14F-4D97-AF65-F5344CB8AC3E}">
        <p14:creationId xmlns:p14="http://schemas.microsoft.com/office/powerpoint/2010/main" val="13176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32DF-BC1C-2F17-6310-E9917EA6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6162F0-F306-727E-B582-2DD0A030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B05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Demo</a:t>
            </a:r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 Assignment - 01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0976A-618E-AB3D-9A93-6E6DC463AABA}"/>
              </a:ext>
            </a:extLst>
          </p:cNvPr>
          <p:cNvSpPr txBox="1"/>
          <p:nvPr/>
        </p:nvSpPr>
        <p:spPr>
          <a:xfrm>
            <a:off x="875420" y="1052736"/>
            <a:ext cx="5228354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#include &lt;GL/</a:t>
            </a:r>
            <a:r>
              <a:rPr lang="en-IN" dirty="0" err="1"/>
              <a:t>glut.h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cmath</a:t>
            </a:r>
            <a:r>
              <a:rPr lang="en-IN" dirty="0"/>
              <a:t>&gt;</a:t>
            </a:r>
          </a:p>
          <a:p>
            <a:r>
              <a:rPr lang="en-IN" dirty="0"/>
              <a:t>void display() {</a:t>
            </a:r>
          </a:p>
          <a:p>
            <a:r>
              <a:rPr lang="en-IN" dirty="0"/>
              <a:t>    </a:t>
            </a:r>
            <a:r>
              <a:rPr lang="en-IN" dirty="0" err="1"/>
              <a:t>glClear</a:t>
            </a:r>
            <a:r>
              <a:rPr lang="en-IN" dirty="0"/>
              <a:t>(GL_COLOR_BUFFER_BIT);</a:t>
            </a:r>
          </a:p>
          <a:p>
            <a:r>
              <a:rPr lang="en-IN" dirty="0"/>
              <a:t>    float x1 = 2.8f, y1 = 1.1f;</a:t>
            </a:r>
          </a:p>
          <a:p>
            <a:r>
              <a:rPr lang="en-IN" dirty="0"/>
              <a:t>    float x2 = 9.2f, y2 = 4.9f;</a:t>
            </a:r>
          </a:p>
          <a:p>
            <a:r>
              <a:rPr lang="en-IN" dirty="0"/>
              <a:t>    glColor3f(1.0f, 0.0f, 0.0f);</a:t>
            </a:r>
          </a:p>
          <a:p>
            <a:r>
              <a:rPr lang="en-IN" dirty="0"/>
              <a:t>    </a:t>
            </a:r>
            <a:r>
              <a:rPr lang="en-IN" dirty="0" err="1"/>
              <a:t>glLineWidth</a:t>
            </a:r>
            <a:r>
              <a:rPr lang="en-IN" dirty="0"/>
              <a:t>(2.0f);</a:t>
            </a:r>
          </a:p>
          <a:p>
            <a:r>
              <a:rPr lang="en-IN" dirty="0"/>
              <a:t>    </a:t>
            </a:r>
            <a:r>
              <a:rPr lang="en-IN" dirty="0" err="1"/>
              <a:t>glBegin</a:t>
            </a:r>
            <a:r>
              <a:rPr lang="en-IN" dirty="0"/>
              <a:t>(GL_LINES);</a:t>
            </a:r>
          </a:p>
          <a:p>
            <a:r>
              <a:rPr lang="en-IN" dirty="0"/>
              <a:t>        glVertex2f(x1, y1);</a:t>
            </a:r>
          </a:p>
          <a:p>
            <a:r>
              <a:rPr lang="en-IN" dirty="0"/>
              <a:t>        glVertex2f(x2, y2);</a:t>
            </a:r>
          </a:p>
          <a:p>
            <a:r>
              <a:rPr lang="en-IN" dirty="0"/>
              <a:t>    </a:t>
            </a:r>
            <a:r>
              <a:rPr lang="en-IN" dirty="0" err="1"/>
              <a:t>glEnd</a:t>
            </a:r>
            <a:r>
              <a:rPr lang="en-IN" dirty="0"/>
              <a:t>();</a:t>
            </a:r>
          </a:p>
          <a:p>
            <a:r>
              <a:rPr lang="en-IN" dirty="0"/>
              <a:t>    float m = (y2 - y1) / (x2 - x1);</a:t>
            </a:r>
          </a:p>
          <a:p>
            <a:r>
              <a:rPr lang="en-IN" dirty="0"/>
              <a:t>    float c = y1 - m * x1;</a:t>
            </a:r>
          </a:p>
          <a:p>
            <a:r>
              <a:rPr lang="en-IN" dirty="0"/>
              <a:t>    glColor3f(0.0f, 1.0f, 0.0f);</a:t>
            </a:r>
          </a:p>
          <a:p>
            <a:r>
              <a:rPr lang="en-IN" dirty="0"/>
              <a:t>    </a:t>
            </a:r>
            <a:r>
              <a:rPr lang="en-IN" dirty="0" err="1"/>
              <a:t>glPointSize</a:t>
            </a:r>
            <a:r>
              <a:rPr lang="en-IN" dirty="0"/>
              <a:t>(8.0f);</a:t>
            </a:r>
          </a:p>
          <a:p>
            <a:r>
              <a:rPr lang="en-IN" dirty="0"/>
              <a:t>    </a:t>
            </a:r>
            <a:r>
              <a:rPr lang="en-IN" dirty="0" err="1"/>
              <a:t>glBegin</a:t>
            </a:r>
            <a:r>
              <a:rPr lang="en-IN" dirty="0"/>
              <a:t>(GL_POINTS);</a:t>
            </a:r>
          </a:p>
          <a:p>
            <a:r>
              <a:rPr lang="en-IN" dirty="0"/>
              <a:t>    for (int x = (int)round(x1); x &lt;= (int)round(x2); x++) {</a:t>
            </a:r>
          </a:p>
          <a:p>
            <a:r>
              <a:rPr lang="en-IN" dirty="0"/>
              <a:t>        float y = m * x + c;</a:t>
            </a:r>
          </a:p>
          <a:p>
            <a:r>
              <a:rPr lang="en-IN" dirty="0"/>
              <a:t>        glVertex2i(x, (int)round(y));</a:t>
            </a:r>
          </a:p>
          <a:p>
            <a:r>
              <a:rPr lang="en-IN" dirty="0"/>
              <a:t>   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A173E-7612-CDE6-414F-1FD9633557A3}"/>
              </a:ext>
            </a:extLst>
          </p:cNvPr>
          <p:cNvSpPr txBox="1"/>
          <p:nvPr/>
        </p:nvSpPr>
        <p:spPr>
          <a:xfrm>
            <a:off x="6096000" y="980728"/>
            <a:ext cx="565879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    </a:t>
            </a:r>
            <a:r>
              <a:rPr lang="en-IN" dirty="0" err="1"/>
              <a:t>glEnd</a:t>
            </a:r>
            <a:r>
              <a:rPr lang="en-IN" dirty="0"/>
              <a:t>();</a:t>
            </a:r>
          </a:p>
          <a:p>
            <a:r>
              <a:rPr lang="en-IN" dirty="0"/>
              <a:t>    </a:t>
            </a:r>
            <a:r>
              <a:rPr lang="en-IN" dirty="0" err="1"/>
              <a:t>glFlush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int main(int </a:t>
            </a:r>
            <a:r>
              <a:rPr lang="en-IN" dirty="0" err="1"/>
              <a:t>argc</a:t>
            </a:r>
            <a:r>
              <a:rPr lang="en-IN" dirty="0"/>
              <a:t>, char** </a:t>
            </a:r>
            <a:r>
              <a:rPr lang="en-IN" dirty="0" err="1"/>
              <a:t>argv</a:t>
            </a:r>
            <a:r>
              <a:rPr lang="en-IN" dirty="0"/>
              <a:t>) {</a:t>
            </a:r>
          </a:p>
          <a:p>
            <a:r>
              <a:rPr lang="en-IN" dirty="0"/>
              <a:t>    </a:t>
            </a:r>
            <a:r>
              <a:rPr lang="en-IN" dirty="0" err="1"/>
              <a:t>glutInit</a:t>
            </a:r>
            <a:r>
              <a:rPr lang="en-IN" dirty="0"/>
              <a:t>(&amp;</a:t>
            </a:r>
            <a:r>
              <a:rPr lang="en-IN" dirty="0" err="1"/>
              <a:t>argc</a:t>
            </a:r>
            <a:r>
              <a:rPr lang="en-IN" dirty="0"/>
              <a:t>, </a:t>
            </a:r>
            <a:r>
              <a:rPr lang="en-IN" dirty="0" err="1"/>
              <a:t>argv</a:t>
            </a:r>
            <a:r>
              <a:rPr lang="en-IN" dirty="0"/>
              <a:t>);</a:t>
            </a:r>
          </a:p>
          <a:p>
            <a:r>
              <a:rPr lang="en-IN" dirty="0"/>
              <a:t>    </a:t>
            </a:r>
            <a:r>
              <a:rPr lang="en-IN" dirty="0" err="1"/>
              <a:t>glutInitWindowSize</a:t>
            </a:r>
            <a:r>
              <a:rPr lang="en-IN" dirty="0"/>
              <a:t>(500, 500);</a:t>
            </a:r>
          </a:p>
          <a:p>
            <a:r>
              <a:rPr lang="en-IN" dirty="0"/>
              <a:t>    </a:t>
            </a:r>
            <a:r>
              <a:rPr lang="en-IN" dirty="0" err="1"/>
              <a:t>glutCreateWindow</a:t>
            </a:r>
            <a:r>
              <a:rPr lang="en-IN" dirty="0"/>
              <a:t>("Line Drawing with Pixels and Line");</a:t>
            </a:r>
          </a:p>
          <a:p>
            <a:r>
              <a:rPr lang="en-IN" dirty="0"/>
              <a:t>    gluOrtho2D(0.0, 12.0, 0.0, 12.0);</a:t>
            </a:r>
          </a:p>
          <a:p>
            <a:r>
              <a:rPr lang="en-IN" dirty="0"/>
              <a:t>    </a:t>
            </a:r>
            <a:r>
              <a:rPr lang="en-IN" dirty="0" err="1"/>
              <a:t>glutDisplayFunc</a:t>
            </a:r>
            <a:r>
              <a:rPr lang="en-IN" dirty="0"/>
              <a:t>(display);</a:t>
            </a:r>
          </a:p>
          <a:p>
            <a:r>
              <a:rPr lang="en-IN" dirty="0"/>
              <a:t>    </a:t>
            </a:r>
            <a:r>
              <a:rPr lang="en-IN" dirty="0" err="1"/>
              <a:t>glutMainLoop</a:t>
            </a:r>
            <a:r>
              <a:rPr lang="en-IN" dirty="0"/>
              <a:t>();</a:t>
            </a:r>
          </a:p>
          <a:p>
            <a:r>
              <a:rPr lang="en-IN" dirty="0"/>
              <a:t>    return 0;</a:t>
            </a:r>
          </a:p>
          <a:p>
            <a:r>
              <a:rPr lang="en-IN" dirty="0"/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444C2-6CD9-B82D-8567-B587B4AC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485" y="3573016"/>
            <a:ext cx="2772308" cy="29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8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E0D8-BA2D-7532-43D2-6CFF1AFB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EBBCDA-E2C8-F026-9945-8C373E13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- 02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C5DE5B-E8F6-E36C-D72F-D0CF2603E8A1}"/>
              </a:ext>
            </a:extLst>
          </p:cNvPr>
          <p:cNvGrpSpPr/>
          <p:nvPr/>
        </p:nvGrpSpPr>
        <p:grpSpPr>
          <a:xfrm>
            <a:off x="2301554" y="2204864"/>
            <a:ext cx="7034488" cy="4005375"/>
            <a:chOff x="2712190" y="1564002"/>
            <a:chExt cx="4251758" cy="23005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5FB9E581-00A6-94F4-3977-2BA02EB5C65F}"/>
                    </a:ext>
                  </a:extLst>
                </p:cNvPr>
                <p:cNvSpPr txBox="1"/>
                <p:nvPr/>
              </p:nvSpPr>
              <p:spPr>
                <a:xfrm>
                  <a:off x="5303912" y="3429000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5FB9E581-00A6-94F4-3977-2BA02EB5C6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912" y="3429000"/>
                  <a:ext cx="42772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63DCCFF-A926-E753-6F3F-81AE995FB4A8}"/>
                    </a:ext>
                  </a:extLst>
                </p:cNvPr>
                <p:cNvSpPr txBox="1"/>
                <p:nvPr/>
              </p:nvSpPr>
              <p:spPr>
                <a:xfrm>
                  <a:off x="2712190" y="1564002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63DCCFF-A926-E753-6F3F-81AE995FB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2190" y="1564002"/>
                  <a:ext cx="42772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1761D8-25BA-5A9E-0D5A-47924D3335A1}"/>
                </a:ext>
              </a:extLst>
            </p:cNvPr>
            <p:cNvGrpSpPr/>
            <p:nvPr/>
          </p:nvGrpSpPr>
          <p:grpSpPr>
            <a:xfrm>
              <a:off x="3028629" y="1623190"/>
              <a:ext cx="3935319" cy="2241317"/>
              <a:chOff x="7250197" y="1538669"/>
              <a:chExt cx="2275282" cy="144941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B048ECE-DFC6-4082-9394-24EB6FBDB5AE}"/>
                  </a:ext>
                </a:extLst>
              </p:cNvPr>
              <p:cNvSpPr/>
              <p:nvPr/>
            </p:nvSpPr>
            <p:spPr>
              <a:xfrm>
                <a:off x="7293231" y="1751592"/>
                <a:ext cx="1872208" cy="1224136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6750546-64A1-9090-9472-02173A468C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7487" y="1759339"/>
                <a:ext cx="1857949" cy="1206534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FD758BF-4ED4-6AF2-A35A-D63E5FA6C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93231" y="2965873"/>
                <a:ext cx="2232248" cy="0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8F0C0B89-32F5-63C0-C486-A5D25E05C9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4022" y="1538669"/>
                <a:ext cx="9208" cy="1368422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B4E3C59-5B90-FFEA-F2F6-A6777F67AB71}"/>
                  </a:ext>
                </a:extLst>
              </p:cNvPr>
              <p:cNvSpPr/>
              <p:nvPr/>
            </p:nvSpPr>
            <p:spPr>
              <a:xfrm>
                <a:off x="7250197" y="2900654"/>
                <a:ext cx="86066" cy="874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9693C1F-DB1B-EA03-CD29-C2BDA42F0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7207" y="2432360"/>
                <a:ext cx="1401360" cy="38505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3AA0487-7BF3-720E-E4CB-2ED94AF385E8}"/>
                  </a:ext>
                </a:extLst>
              </p:cNvPr>
              <p:cNvSpPr/>
              <p:nvPr/>
            </p:nvSpPr>
            <p:spPr>
              <a:xfrm>
                <a:off x="7462711" y="2392028"/>
                <a:ext cx="86066" cy="874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51CCB4C-839C-1F94-86A0-1602147E4DE8}"/>
                  </a:ext>
                </a:extLst>
              </p:cNvPr>
              <p:cNvSpPr/>
              <p:nvPr/>
            </p:nvSpPr>
            <p:spPr>
              <a:xfrm>
                <a:off x="8845534" y="2787331"/>
                <a:ext cx="86066" cy="874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B5CD48F-496A-CC6D-FDEF-C396A8E4A28E}"/>
                    </a:ext>
                  </a:extLst>
                </p:cNvPr>
                <p:cNvSpPr txBox="1"/>
                <p:nvPr/>
              </p:nvSpPr>
              <p:spPr>
                <a:xfrm>
                  <a:off x="5497472" y="3179372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B5CD48F-496A-CC6D-FDEF-C396A8E4A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472" y="3179372"/>
                  <a:ext cx="4277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4324252-CCC7-5932-59DD-80E7C0F4CC12}"/>
                    </a:ext>
                  </a:extLst>
                </p:cNvPr>
                <p:cNvSpPr txBox="1"/>
                <p:nvPr/>
              </p:nvSpPr>
              <p:spPr>
                <a:xfrm>
                  <a:off x="3442010" y="2670126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4324252-CCC7-5932-59DD-80E7C0F4CC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2010" y="2670126"/>
                  <a:ext cx="4277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5B0757-6A75-9967-3F71-067B4ECDF02F}"/>
                  </a:ext>
                </a:extLst>
              </p:cNvPr>
              <p:cNvSpPr txBox="1"/>
              <p:nvPr/>
            </p:nvSpPr>
            <p:spPr>
              <a:xfrm>
                <a:off x="983432" y="6297022"/>
                <a:ext cx="105131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Fig. (a): </a:t>
                </a:r>
                <a:r>
                  <a:rPr lang="en-US" sz="2400" dirty="0"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Line segment with end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.8,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FF0000"/>
                    </a:solidFill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400" dirty="0">
                  <a:latin typeface="Amasis MT Pro" panose="020405040500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5B0757-6A75-9967-3F71-067B4ECDF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6297022"/>
                <a:ext cx="10513168" cy="461665"/>
              </a:xfrm>
              <a:prstGeom prst="rect">
                <a:avLst/>
              </a:prstGeom>
              <a:blipFill>
                <a:blip r:embed="rId7"/>
                <a:stretch>
                  <a:fillRect l="-870" t="-10526" b="-28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AB1C0D-9E54-8C3B-982F-8386F630F400}"/>
                  </a:ext>
                </a:extLst>
              </p:cNvPr>
              <p:cNvSpPr txBox="1"/>
              <p:nvPr/>
            </p:nvSpPr>
            <p:spPr>
              <a:xfrm>
                <a:off x="9363618" y="5255664"/>
                <a:ext cx="4277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>
                  <a:latin typeface="Amasis MT Pro" panose="020405040500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AB1C0D-9E54-8C3B-982F-8386F630F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618" y="5255664"/>
                <a:ext cx="42772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697350C-8461-2B45-70F2-C05AEF43E89E}"/>
              </a:ext>
            </a:extLst>
          </p:cNvPr>
          <p:cNvSpPr txBox="1"/>
          <p:nvPr/>
        </p:nvSpPr>
        <p:spPr>
          <a:xfrm>
            <a:off x="543897" y="963187"/>
            <a:ext cx="11210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-02 </a:t>
            </a:r>
            <a:r>
              <a:rPr lang="en-IN" sz="2400" dirty="0">
                <a:latin typeface="Amasis MT Pro" panose="02040504050005020304" pitchFamily="18" charset="0"/>
              </a:rPr>
              <a:t>: Draw the below line segment on computer screen using DDA &amp;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line drawing algorithms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Amasis MT Pro" panose="02040504050005020304" pitchFamily="18" charset="0"/>
              </a:rPr>
              <a:t> Compute the FLOPS (Floating-point operations per second)</a:t>
            </a:r>
          </a:p>
        </p:txBody>
      </p:sp>
    </p:spTree>
    <p:extLst>
      <p:ext uri="{BB962C8B-B14F-4D97-AF65-F5344CB8AC3E}">
        <p14:creationId xmlns:p14="http://schemas.microsoft.com/office/powerpoint/2010/main" val="233671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A8CD-EAB2-62B0-305A-F7C2F29A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92700E-436F-CE27-CF5D-8678BAB8A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- 03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B4F53D-B4E3-5AD9-ABD7-7E7C9D871BD4}"/>
                  </a:ext>
                </a:extLst>
              </p:cNvPr>
              <p:cNvSpPr txBox="1"/>
              <p:nvPr/>
            </p:nvSpPr>
            <p:spPr>
              <a:xfrm>
                <a:off x="1559496" y="6327348"/>
                <a:ext cx="103691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Fig. (b) Line segment with end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 </a:t>
                </a:r>
                <a:endParaRPr lang="en-IN" b="1" dirty="0">
                  <a:latin typeface="Amasis MT Pro" panose="020405040500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B4F53D-B4E3-5AD9-ABD7-7E7C9D871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6327348"/>
                <a:ext cx="10369152" cy="369332"/>
              </a:xfrm>
              <a:prstGeom prst="rect">
                <a:avLst/>
              </a:prstGeom>
              <a:blipFill>
                <a:blip r:embed="rId2"/>
                <a:stretch>
                  <a:fillRect l="-529" t="-983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E9A36F3-31C7-B940-0EF5-B507742B43FA}"/>
              </a:ext>
            </a:extLst>
          </p:cNvPr>
          <p:cNvGrpSpPr/>
          <p:nvPr/>
        </p:nvGrpSpPr>
        <p:grpSpPr>
          <a:xfrm>
            <a:off x="1847528" y="2257002"/>
            <a:ext cx="8496944" cy="4255012"/>
            <a:chOff x="3088796" y="1313433"/>
            <a:chExt cx="4888769" cy="276525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A2EAD8E-6234-69A3-38F9-AA64C5D6A181}"/>
                </a:ext>
              </a:extLst>
            </p:cNvPr>
            <p:cNvGrpSpPr/>
            <p:nvPr/>
          </p:nvGrpSpPr>
          <p:grpSpPr>
            <a:xfrm>
              <a:off x="3647728" y="1340768"/>
              <a:ext cx="3932044" cy="2593925"/>
              <a:chOff x="7335365" y="4462633"/>
              <a:chExt cx="2275282" cy="141671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248BE1-BA38-4E2A-09FD-5A14FD3C963E}"/>
                  </a:ext>
                </a:extLst>
              </p:cNvPr>
              <p:cNvSpPr/>
              <p:nvPr/>
            </p:nvSpPr>
            <p:spPr>
              <a:xfrm>
                <a:off x="7378399" y="4642857"/>
                <a:ext cx="1872208" cy="1224136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  <a:shade val="30000"/>
                      <a:satMod val="115000"/>
                    </a:schemeClr>
                  </a:gs>
                  <a:gs pos="50000">
                    <a:schemeClr val="bg1">
                      <a:lumMod val="9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95000"/>
                      <a:shade val="100000"/>
                      <a:satMod val="115000"/>
                    </a:schemeClr>
                  </a:gs>
                </a:gsLst>
                <a:lin ang="81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CEE43C1-4AF6-8226-041F-5E1D32ABB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2655" y="4650604"/>
                <a:ext cx="1857949" cy="1206534"/>
              </a:xfrm>
              <a:prstGeom prst="rect">
                <a:avLst/>
              </a:prstGeom>
            </p:spPr>
          </p:pic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B602B86-565A-B7D0-3262-9A499B872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8399" y="5857138"/>
                <a:ext cx="2232248" cy="0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E533E81-403E-842B-29E3-F485293A49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78399" y="4462633"/>
                <a:ext cx="0" cy="1404360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B59EFDD-AC7B-DFF6-4D59-43DE7B3807A8}"/>
                  </a:ext>
                </a:extLst>
              </p:cNvPr>
              <p:cNvSpPr/>
              <p:nvPr/>
            </p:nvSpPr>
            <p:spPr>
              <a:xfrm>
                <a:off x="7335365" y="5791919"/>
                <a:ext cx="86066" cy="874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0852D5E-97E6-9A25-734B-37AC16DC75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1957" y="5125244"/>
                <a:ext cx="1217642" cy="568733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E20F05F-3BF6-BC7C-F403-9FEF12B42664}"/>
                  </a:ext>
                </a:extLst>
              </p:cNvPr>
              <p:cNvSpPr/>
              <p:nvPr/>
            </p:nvSpPr>
            <p:spPr>
              <a:xfrm>
                <a:off x="9043533" y="5069169"/>
                <a:ext cx="86066" cy="874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A00C4E9-28FB-A52B-EB12-93DACB9CC4BA}"/>
                  </a:ext>
                </a:extLst>
              </p:cNvPr>
              <p:cNvSpPr/>
              <p:nvPr/>
            </p:nvSpPr>
            <p:spPr>
              <a:xfrm>
                <a:off x="7860794" y="5635099"/>
                <a:ext cx="86066" cy="8743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Amasis MT Pro" panose="020405040500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868CA31-5B9C-4549-330A-F2F88C748786}"/>
                    </a:ext>
                  </a:extLst>
                </p:cNvPr>
                <p:cNvSpPr txBox="1"/>
                <p:nvPr/>
              </p:nvSpPr>
              <p:spPr>
                <a:xfrm>
                  <a:off x="4021065" y="3302562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868CA31-5B9C-4549-330A-F2F88C748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1065" y="3302562"/>
                  <a:ext cx="42772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6663463-7828-748F-E2A5-021B677DD683}"/>
                    </a:ext>
                  </a:extLst>
                </p:cNvPr>
                <p:cNvSpPr txBox="1"/>
                <p:nvPr/>
              </p:nvSpPr>
              <p:spPr>
                <a:xfrm>
                  <a:off x="5864978" y="2360219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6663463-7828-748F-E2A5-021B677DD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4978" y="2360219"/>
                  <a:ext cx="42772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FE31DDD-DAAA-8E6E-CF00-37BDD83B419F}"/>
                    </a:ext>
                  </a:extLst>
                </p:cNvPr>
                <p:cNvSpPr txBox="1"/>
                <p:nvPr/>
              </p:nvSpPr>
              <p:spPr>
                <a:xfrm>
                  <a:off x="7549839" y="3709354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FE31DDD-DAAA-8E6E-CF00-37BDD83B4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9839" y="3709354"/>
                  <a:ext cx="42772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D786FBC-F7E7-645D-066F-39C1A6A27178}"/>
                    </a:ext>
                  </a:extLst>
                </p:cNvPr>
                <p:cNvSpPr txBox="1"/>
                <p:nvPr/>
              </p:nvSpPr>
              <p:spPr>
                <a:xfrm>
                  <a:off x="3088796" y="1313433"/>
                  <a:ext cx="707668" cy="6430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>
                    <a:latin typeface="Amasis MT Pro" panose="020405040500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D786FBC-F7E7-645D-066F-39C1A6A2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8796" y="1313433"/>
                  <a:ext cx="707668" cy="6430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B4885D1-EB76-B7F7-D94F-1F7C4D50AFF0}"/>
              </a:ext>
            </a:extLst>
          </p:cNvPr>
          <p:cNvSpPr txBox="1"/>
          <p:nvPr/>
        </p:nvSpPr>
        <p:spPr>
          <a:xfrm>
            <a:off x="490582" y="1060501"/>
            <a:ext cx="11210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-03 </a:t>
            </a:r>
            <a:r>
              <a:rPr lang="en-IN" sz="2400" dirty="0">
                <a:latin typeface="Amasis MT Pro" panose="02040504050005020304" pitchFamily="18" charset="0"/>
              </a:rPr>
              <a:t>: Draw the below line segment on computer screen using DDA &amp;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line drawing algorithms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Amasis MT Pro" panose="02040504050005020304" pitchFamily="18" charset="0"/>
              </a:rPr>
              <a:t>Compute the FLOPS (Floating-point operations per second)</a:t>
            </a:r>
          </a:p>
        </p:txBody>
      </p:sp>
    </p:spTree>
    <p:extLst>
      <p:ext uri="{BB962C8B-B14F-4D97-AF65-F5344CB8AC3E}">
        <p14:creationId xmlns:p14="http://schemas.microsoft.com/office/powerpoint/2010/main" val="61860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DB40-237B-4B64-F3D1-B6536AC0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BD0073F-DB6D-D6C5-96F0-DF051657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- 04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0F66AA-BA4F-38B2-6E43-0F1AE9D6B26C}"/>
              </a:ext>
            </a:extLst>
          </p:cNvPr>
          <p:cNvGrpSpPr/>
          <p:nvPr/>
        </p:nvGrpSpPr>
        <p:grpSpPr>
          <a:xfrm>
            <a:off x="2230295" y="2456251"/>
            <a:ext cx="7020071" cy="4069645"/>
            <a:chOff x="6893610" y="1778989"/>
            <a:chExt cx="2834785" cy="17116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A859914-C22C-27ED-570C-F6665B28D665}"/>
                </a:ext>
              </a:extLst>
            </p:cNvPr>
            <p:cNvSpPr/>
            <p:nvPr/>
          </p:nvSpPr>
          <p:spPr>
            <a:xfrm>
              <a:off x="7224638" y="2012962"/>
              <a:ext cx="1872208" cy="122413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  <a:shade val="30000"/>
                    <a:satMod val="115000"/>
                  </a:schemeClr>
                </a:gs>
                <a:gs pos="50000">
                  <a:schemeClr val="bg1">
                    <a:lumMod val="95000"/>
                    <a:shade val="67500"/>
                    <a:satMod val="115000"/>
                  </a:schemeClr>
                </a:gs>
                <a:gs pos="100000">
                  <a:schemeClr val="bg1">
                    <a:lumMod val="9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A457BF4-9BE3-0A77-8D01-78F44E376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8894" y="2020709"/>
              <a:ext cx="1857949" cy="1206534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714DDAD-EEFE-67E6-8E4E-F726B6FA7038}"/>
                </a:ext>
              </a:extLst>
            </p:cNvPr>
            <p:cNvCxnSpPr>
              <a:cxnSpLocks/>
            </p:cNvCxnSpPr>
            <p:nvPr/>
          </p:nvCxnSpPr>
          <p:spPr>
            <a:xfrm>
              <a:off x="7224638" y="3227243"/>
              <a:ext cx="2232248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6F54D39-6A67-2B45-618C-A9F530DBE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4638" y="1854761"/>
              <a:ext cx="0" cy="1382337"/>
            </a:xfrm>
            <a:prstGeom prst="line">
              <a:avLst/>
            </a:prstGeom>
            <a:ln>
              <a:headEnd type="none" w="med" len="med"/>
              <a:tailEnd type="arrow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96ECCA-6B47-9397-6BBF-1BECEA3511ED}"/>
                    </a:ext>
                  </a:extLst>
                </p:cNvPr>
                <p:cNvSpPr txBox="1"/>
                <p:nvPr/>
              </p:nvSpPr>
              <p:spPr>
                <a:xfrm>
                  <a:off x="9300669" y="3121281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96ECCA-6B47-9397-6BBF-1BECEA351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0669" y="3121281"/>
                  <a:ext cx="42772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1691AF-AAF4-5004-C3DA-B2272396C20E}"/>
                    </a:ext>
                  </a:extLst>
                </p:cNvPr>
                <p:cNvSpPr txBox="1"/>
                <p:nvPr/>
              </p:nvSpPr>
              <p:spPr>
                <a:xfrm>
                  <a:off x="6893610" y="1778989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1F02D60-8952-612C-5BCD-3646A4DFA3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3610" y="1778989"/>
                  <a:ext cx="42772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488BEF-01AB-7495-0617-4814EC2BF234}"/>
                </a:ext>
              </a:extLst>
            </p:cNvPr>
            <p:cNvSpPr/>
            <p:nvPr/>
          </p:nvSpPr>
          <p:spPr>
            <a:xfrm>
              <a:off x="7181604" y="3162024"/>
              <a:ext cx="86066" cy="874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283BCC-7443-BA55-F288-15A80ED8D54A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7881001" y="2214578"/>
              <a:ext cx="559378" cy="83450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C87CEE6-1BA1-0CC5-DE56-7311A4E3B0B3}"/>
                </a:ext>
              </a:extLst>
            </p:cNvPr>
            <p:cNvSpPr/>
            <p:nvPr/>
          </p:nvSpPr>
          <p:spPr>
            <a:xfrm>
              <a:off x="8427775" y="2139950"/>
              <a:ext cx="86066" cy="874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7180D27-50C3-ADC7-92B0-8110A0022493}"/>
                </a:ext>
              </a:extLst>
            </p:cNvPr>
            <p:cNvSpPr/>
            <p:nvPr/>
          </p:nvSpPr>
          <p:spPr>
            <a:xfrm>
              <a:off x="7820710" y="3005368"/>
              <a:ext cx="86066" cy="8743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DA12836-D775-D91D-9BEE-3541CB19FE7F}"/>
                    </a:ext>
                  </a:extLst>
                </p:cNvPr>
                <p:cNvSpPr txBox="1"/>
                <p:nvPr/>
              </p:nvSpPr>
              <p:spPr>
                <a:xfrm>
                  <a:off x="7555667" y="2880125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DA12836-D775-D91D-9BEE-3541CB19F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5667" y="2880125"/>
                  <a:ext cx="427726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E784E3-C895-3065-4D97-FF8793D97313}"/>
                    </a:ext>
                  </a:extLst>
                </p:cNvPr>
                <p:cNvSpPr txBox="1"/>
                <p:nvPr/>
              </p:nvSpPr>
              <p:spPr>
                <a:xfrm>
                  <a:off x="8103551" y="2008826"/>
                  <a:ext cx="4277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C32224E-0933-D8BD-C394-A53A677CF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3551" y="2008826"/>
                  <a:ext cx="42772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E866B6-762C-A27D-204B-AFE5010F1DD9}"/>
                  </a:ext>
                </a:extLst>
              </p:cNvPr>
              <p:cNvSpPr txBox="1"/>
              <p:nvPr/>
            </p:nvSpPr>
            <p:spPr>
              <a:xfrm>
                <a:off x="1381699" y="6273956"/>
                <a:ext cx="76897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(a) </a:t>
                </a:r>
                <a:r>
                  <a:rPr lang="en-US" b="1" dirty="0"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Line segment with end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I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Amasis MT Pro" panose="02040504050005020304" pitchFamily="18" charset="0"/>
                    <a:cs typeface="Times New Roman" panose="02020603050405020304" pitchFamily="18" charset="0"/>
                  </a:rPr>
                  <a:t> </a:t>
                </a: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E866B6-762C-A27D-204B-AFE5010F1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699" y="6273956"/>
                <a:ext cx="7689797" cy="369332"/>
              </a:xfrm>
              <a:prstGeom prst="rect">
                <a:avLst/>
              </a:prstGeom>
              <a:blipFill>
                <a:blip r:embed="rId14"/>
                <a:stretch>
                  <a:fillRect l="-714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31A1F29-CFEB-97F1-C6BF-1B419D409753}"/>
              </a:ext>
            </a:extLst>
          </p:cNvPr>
          <p:cNvSpPr txBox="1"/>
          <p:nvPr/>
        </p:nvSpPr>
        <p:spPr>
          <a:xfrm>
            <a:off x="490582" y="1060501"/>
            <a:ext cx="11210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-04 </a:t>
            </a:r>
            <a:r>
              <a:rPr lang="en-IN" sz="2400" dirty="0">
                <a:latin typeface="Amasis MT Pro" panose="02040504050005020304" pitchFamily="18" charset="0"/>
              </a:rPr>
              <a:t>: Draw the below line segment on computer screen using DDA &amp;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line drawing algorithms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latin typeface="Amasis MT Pro" panose="02040504050005020304" pitchFamily="18" charset="0"/>
              </a:rPr>
              <a:t>Compute the FLOPS (Floating-point operations per second)</a:t>
            </a:r>
          </a:p>
        </p:txBody>
      </p:sp>
    </p:spTree>
    <p:extLst>
      <p:ext uri="{BB962C8B-B14F-4D97-AF65-F5344CB8AC3E}">
        <p14:creationId xmlns:p14="http://schemas.microsoft.com/office/powerpoint/2010/main" val="69941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9133-7747-2C51-21FE-2293D3DB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2AA35A-1FEB-7D74-F85F-A163C664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6632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- 05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86B7F-BCB4-D2F1-067D-2BA8A857C698}"/>
              </a:ext>
            </a:extLst>
          </p:cNvPr>
          <p:cNvSpPr txBox="1"/>
          <p:nvPr/>
        </p:nvSpPr>
        <p:spPr>
          <a:xfrm>
            <a:off x="439410" y="1165924"/>
            <a:ext cx="1121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-05 </a:t>
            </a:r>
            <a:r>
              <a:rPr lang="en-IN" sz="2400" dirty="0">
                <a:latin typeface="Amasis MT Pro" panose="02040504050005020304" pitchFamily="18" charset="0"/>
              </a:rPr>
              <a:t>: Draw the following graphics by using DDA &amp;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line drawing algorithms.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DB60FF-D3A0-2F8C-DA49-6B283200F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94998"/>
              </p:ext>
            </p:extLst>
          </p:nvPr>
        </p:nvGraphicFramePr>
        <p:xfrm>
          <a:off x="2567608" y="2564904"/>
          <a:ext cx="6368265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551">
                  <a:extLst>
                    <a:ext uri="{9D8B030D-6E8A-4147-A177-3AD203B41FA5}">
                      <a16:colId xmlns:a16="http://schemas.microsoft.com/office/drawing/2014/main" val="3718938419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5070921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79749528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186843862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815332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36128610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403672173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78860929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425708240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07426042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28253800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89887476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29884034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44979164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178331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3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4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77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95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36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1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3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8892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0A67BA-A013-FDE7-9E27-6380F7D6CF74}"/>
              </a:ext>
            </a:extLst>
          </p:cNvPr>
          <p:cNvCxnSpPr>
            <a:cxnSpLocks/>
          </p:cNvCxnSpPr>
          <p:nvPr/>
        </p:nvCxnSpPr>
        <p:spPr>
          <a:xfrm>
            <a:off x="8472264" y="6273304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BBECE3-5F16-A3A5-CDE1-45B353BFCD26}"/>
              </a:ext>
            </a:extLst>
          </p:cNvPr>
          <p:cNvCxnSpPr/>
          <p:nvPr/>
        </p:nvCxnSpPr>
        <p:spPr>
          <a:xfrm flipV="1">
            <a:off x="2567608" y="2276872"/>
            <a:ext cx="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8F30CF-B394-358A-7975-2AAE73BF16BA}"/>
                  </a:ext>
                </a:extLst>
              </p:cNvPr>
              <p:cNvSpPr txBox="1"/>
              <p:nvPr/>
            </p:nvSpPr>
            <p:spPr>
              <a:xfrm>
                <a:off x="9372364" y="600221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8F30CF-B394-358A-7975-2AAE73BF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64" y="6002219"/>
                <a:ext cx="504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E66CC-3641-F5F5-4960-E5DBB6EA3999}"/>
                  </a:ext>
                </a:extLst>
              </p:cNvPr>
              <p:cNvSpPr txBox="1"/>
              <p:nvPr/>
            </p:nvSpPr>
            <p:spPr>
              <a:xfrm>
                <a:off x="2068299" y="2242441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E66CC-3641-F5F5-4960-E5DBB6EA3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299" y="2242441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9C13531-68B1-B8AE-A2A9-0F2DC0A62120}"/>
              </a:ext>
            </a:extLst>
          </p:cNvPr>
          <p:cNvSpPr/>
          <p:nvPr/>
        </p:nvSpPr>
        <p:spPr>
          <a:xfrm>
            <a:off x="2537206" y="6228855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9B3723-7553-51F8-CE2C-1BB577258719}"/>
              </a:ext>
            </a:extLst>
          </p:cNvPr>
          <p:cNvSpPr/>
          <p:nvPr/>
        </p:nvSpPr>
        <p:spPr>
          <a:xfrm>
            <a:off x="5683060" y="2799363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795832-B455-B019-CE01-0ED5F5F713FB}"/>
              </a:ext>
            </a:extLst>
          </p:cNvPr>
          <p:cNvSpPr/>
          <p:nvPr/>
        </p:nvSpPr>
        <p:spPr>
          <a:xfrm>
            <a:off x="4439816" y="421745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6D06DB-5FAB-BC7E-C2F7-4C575246D108}"/>
              </a:ext>
            </a:extLst>
          </p:cNvPr>
          <p:cNvSpPr/>
          <p:nvPr/>
        </p:nvSpPr>
        <p:spPr>
          <a:xfrm>
            <a:off x="6960096" y="421745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75310D-37D1-C3BB-A1AF-3D7D8992E7A4}"/>
              </a:ext>
            </a:extLst>
          </p:cNvPr>
          <p:cNvSpPr/>
          <p:nvPr/>
        </p:nvSpPr>
        <p:spPr>
          <a:xfrm>
            <a:off x="4439816" y="6055881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68AF8B-B3C2-5106-7E5F-D0BB47292652}"/>
              </a:ext>
            </a:extLst>
          </p:cNvPr>
          <p:cNvSpPr/>
          <p:nvPr/>
        </p:nvSpPr>
        <p:spPr>
          <a:xfrm>
            <a:off x="6990497" y="6055881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BE898B-6218-33AD-013D-2995F6CA08A2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4500618" y="2860826"/>
            <a:ext cx="1191346" cy="135663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E192A9-8930-C143-ACA7-7B1A73163FB9}"/>
              </a:ext>
            </a:extLst>
          </p:cNvPr>
          <p:cNvCxnSpPr>
            <a:cxnSpLocks/>
          </p:cNvCxnSpPr>
          <p:nvPr/>
        </p:nvCxnSpPr>
        <p:spPr>
          <a:xfrm>
            <a:off x="4470217" y="4289466"/>
            <a:ext cx="0" cy="1787505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B39539-FC8A-8BAA-F984-97D1BDB301EE}"/>
              </a:ext>
            </a:extLst>
          </p:cNvPr>
          <p:cNvCxnSpPr>
            <a:stCxn id="19" idx="2"/>
            <a:endCxn id="20" idx="2"/>
          </p:cNvCxnSpPr>
          <p:nvPr/>
        </p:nvCxnSpPr>
        <p:spPr>
          <a:xfrm>
            <a:off x="4439816" y="6091885"/>
            <a:ext cx="2550681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5B2E2A-0835-8B33-60B1-0EE513BE296E}"/>
              </a:ext>
            </a:extLst>
          </p:cNvPr>
          <p:cNvCxnSpPr>
            <a:cxnSpLocks/>
          </p:cNvCxnSpPr>
          <p:nvPr/>
        </p:nvCxnSpPr>
        <p:spPr>
          <a:xfrm>
            <a:off x="5728349" y="2863915"/>
            <a:ext cx="1246635" cy="1346086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5C42C4-95D0-89BD-9613-C6B85D47B87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002017" y="4255180"/>
            <a:ext cx="18881" cy="180070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F08B443-4671-22A1-3487-2BB84B2EDF03}"/>
                  </a:ext>
                </a:extLst>
              </p:cNvPr>
              <p:cNvSpPr txBox="1"/>
              <p:nvPr/>
            </p:nvSpPr>
            <p:spPr>
              <a:xfrm>
                <a:off x="3942508" y="406879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F08B443-4671-22A1-3487-2BB84B2ED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08" y="4068795"/>
                <a:ext cx="62919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BF6CBA-4039-C438-414C-0F98C14F32C0}"/>
                  </a:ext>
                </a:extLst>
              </p:cNvPr>
              <p:cNvSpPr txBox="1"/>
              <p:nvPr/>
            </p:nvSpPr>
            <p:spPr>
              <a:xfrm>
                <a:off x="5730233" y="2555612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BF6CBA-4039-C438-414C-0F98C14F3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33" y="2555612"/>
                <a:ext cx="62919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AB55BEC-6861-942C-8D3F-4EC329F56693}"/>
                  </a:ext>
                </a:extLst>
              </p:cNvPr>
              <p:cNvSpPr txBox="1"/>
              <p:nvPr/>
            </p:nvSpPr>
            <p:spPr>
              <a:xfrm>
                <a:off x="3942508" y="5859523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AB55BEC-6861-942C-8D3F-4EC329F56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08" y="5859523"/>
                <a:ext cx="62919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768FE5C-672D-8C64-0765-7C4323B1DB66}"/>
                  </a:ext>
                </a:extLst>
              </p:cNvPr>
              <p:cNvSpPr txBox="1"/>
              <p:nvPr/>
            </p:nvSpPr>
            <p:spPr>
              <a:xfrm>
                <a:off x="7034600" y="5878014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768FE5C-672D-8C64-0765-7C4323B1D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600" y="5878014"/>
                <a:ext cx="62919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5F8A55-4BF4-624E-188A-68B1DDC420C2}"/>
                  </a:ext>
                </a:extLst>
              </p:cNvPr>
              <p:cNvSpPr txBox="1"/>
              <p:nvPr/>
            </p:nvSpPr>
            <p:spPr>
              <a:xfrm>
                <a:off x="6878635" y="4025336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5F8A55-4BF4-624E-188A-68B1DDC4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635" y="4025336"/>
                <a:ext cx="62919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B7E9DE4-42BC-5C5B-64E0-8617DB261058}"/>
                  </a:ext>
                </a:extLst>
              </p:cNvPr>
              <p:cNvSpPr txBox="1"/>
              <p:nvPr/>
            </p:nvSpPr>
            <p:spPr>
              <a:xfrm>
                <a:off x="9690254" y="4332527"/>
                <a:ext cx="169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B7E9DE4-42BC-5C5B-64E0-8617DB261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254" y="4332527"/>
                <a:ext cx="169288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05BAA1-2F51-E0D0-3DB9-ACA660AA8657}"/>
                  </a:ext>
                </a:extLst>
              </p:cNvPr>
              <p:cNvSpPr txBox="1"/>
              <p:nvPr/>
            </p:nvSpPr>
            <p:spPr>
              <a:xfrm>
                <a:off x="2222611" y="630159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05BAA1-2F51-E0D0-3DB9-ACA660AA8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611" y="6301595"/>
                <a:ext cx="629190" cy="369332"/>
              </a:xfrm>
              <a:prstGeom prst="rect">
                <a:avLst/>
              </a:prstGeom>
              <a:blipFill>
                <a:blip r:embed="rId10"/>
                <a:stretch>
                  <a:fillRect l="-2913" r="-11650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3AD96F-F7C2-04AC-F66A-67730251B005}"/>
                  </a:ext>
                </a:extLst>
              </p:cNvPr>
              <p:cNvSpPr txBox="1"/>
              <p:nvPr/>
            </p:nvSpPr>
            <p:spPr>
              <a:xfrm>
                <a:off x="9709011" y="4701859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3AD96F-F7C2-04AC-F66A-67730251B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011" y="4701859"/>
                <a:ext cx="1800396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746105-8E03-F14E-E6D3-41A16C530BDD}"/>
                  </a:ext>
                </a:extLst>
              </p:cNvPr>
              <p:cNvSpPr txBox="1"/>
              <p:nvPr/>
            </p:nvSpPr>
            <p:spPr>
              <a:xfrm>
                <a:off x="9709011" y="5119331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746105-8E03-F14E-E6D3-41A16C530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011" y="5119331"/>
                <a:ext cx="1800396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3827D6-3CAF-18E8-7386-50DE3D00958A}"/>
                  </a:ext>
                </a:extLst>
              </p:cNvPr>
              <p:cNvSpPr txBox="1"/>
              <p:nvPr/>
            </p:nvSpPr>
            <p:spPr>
              <a:xfrm>
                <a:off x="9629794" y="3967035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3827D6-3CAF-18E8-7386-50DE3D009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794" y="3967035"/>
                <a:ext cx="180039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8C1250-2C5F-5A69-1DB4-6644D7937C2B}"/>
                  </a:ext>
                </a:extLst>
              </p:cNvPr>
              <p:cNvSpPr txBox="1"/>
              <p:nvPr/>
            </p:nvSpPr>
            <p:spPr>
              <a:xfrm>
                <a:off x="9624392" y="3573016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=(7.5, 9.2)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8C1250-2C5F-5A69-1DB4-6644D793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392" y="3573016"/>
                <a:ext cx="1800396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AE72E073-F028-C46C-663B-BB8B4873B853}"/>
              </a:ext>
            </a:extLst>
          </p:cNvPr>
          <p:cNvSpPr txBox="1"/>
          <p:nvPr/>
        </p:nvSpPr>
        <p:spPr>
          <a:xfrm>
            <a:off x="9493983" y="321794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" panose="02040504050005020304" pitchFamily="18" charset="0"/>
              </a:rPr>
              <a:t>Where, </a:t>
            </a:r>
          </a:p>
        </p:txBody>
      </p:sp>
    </p:spTree>
    <p:extLst>
      <p:ext uri="{BB962C8B-B14F-4D97-AF65-F5344CB8AC3E}">
        <p14:creationId xmlns:p14="http://schemas.microsoft.com/office/powerpoint/2010/main" val="323906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B59F-6720-FC9D-EB38-EB4EC6D2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662DFAD-82A3-85CC-FE30-82207D5A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6632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- 06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2F3944-0B36-F5FE-DA08-59EB4B0FB44B}"/>
              </a:ext>
            </a:extLst>
          </p:cNvPr>
          <p:cNvSpPr txBox="1"/>
          <p:nvPr/>
        </p:nvSpPr>
        <p:spPr>
          <a:xfrm>
            <a:off x="439410" y="1165924"/>
            <a:ext cx="1121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-06 </a:t>
            </a:r>
            <a:r>
              <a:rPr lang="en-IN" sz="2400" dirty="0">
                <a:latin typeface="Amasis MT Pro" panose="02040504050005020304" pitchFamily="18" charset="0"/>
              </a:rPr>
              <a:t>: Draw the following graphics by using DDA &amp;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line drawing algorithms.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CF3BD7-EC9F-12D2-1626-CE74D1E727F8}"/>
              </a:ext>
            </a:extLst>
          </p:cNvPr>
          <p:cNvGraphicFramePr>
            <a:graphicFrameLocks noGrp="1"/>
          </p:cNvGraphicFramePr>
          <p:nvPr/>
        </p:nvGraphicFramePr>
        <p:xfrm>
          <a:off x="2567608" y="2564904"/>
          <a:ext cx="6368265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551">
                  <a:extLst>
                    <a:ext uri="{9D8B030D-6E8A-4147-A177-3AD203B41FA5}">
                      <a16:colId xmlns:a16="http://schemas.microsoft.com/office/drawing/2014/main" val="3718938419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5070921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79749528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186843862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815332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36128610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403672173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78860929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425708240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07426042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28253800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89887476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29884034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44979164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178331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3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4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77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95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36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1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3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8892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9B70B4-75D4-3792-D3E5-D5A042AA86EF}"/>
              </a:ext>
            </a:extLst>
          </p:cNvPr>
          <p:cNvCxnSpPr>
            <a:cxnSpLocks/>
          </p:cNvCxnSpPr>
          <p:nvPr/>
        </p:nvCxnSpPr>
        <p:spPr>
          <a:xfrm>
            <a:off x="8472264" y="6273304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4B80A4-F1E9-F481-E5E4-0932FCB243BB}"/>
              </a:ext>
            </a:extLst>
          </p:cNvPr>
          <p:cNvCxnSpPr/>
          <p:nvPr/>
        </p:nvCxnSpPr>
        <p:spPr>
          <a:xfrm flipV="1">
            <a:off x="2567608" y="2276872"/>
            <a:ext cx="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2C9598-3BD3-4674-72F2-3761276A8E25}"/>
                  </a:ext>
                </a:extLst>
              </p:cNvPr>
              <p:cNvSpPr txBox="1"/>
              <p:nvPr/>
            </p:nvSpPr>
            <p:spPr>
              <a:xfrm>
                <a:off x="9372364" y="600221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2C9598-3BD3-4674-72F2-3761276A8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64" y="6002219"/>
                <a:ext cx="504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3FD2BC-C082-699B-924B-5A21477E0D45}"/>
                  </a:ext>
                </a:extLst>
              </p:cNvPr>
              <p:cNvSpPr txBox="1"/>
              <p:nvPr/>
            </p:nvSpPr>
            <p:spPr>
              <a:xfrm>
                <a:off x="2068299" y="2242441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3FD2BC-C082-699B-924B-5A21477E0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299" y="2242441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1F8D669-EF0F-C4D7-753A-3F61CE7854AC}"/>
              </a:ext>
            </a:extLst>
          </p:cNvPr>
          <p:cNvSpPr/>
          <p:nvPr/>
        </p:nvSpPr>
        <p:spPr>
          <a:xfrm>
            <a:off x="2537206" y="6228855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1D7CCE-3A4E-BCF3-E722-C88D18571BFE}"/>
              </a:ext>
            </a:extLst>
          </p:cNvPr>
          <p:cNvSpPr/>
          <p:nvPr/>
        </p:nvSpPr>
        <p:spPr>
          <a:xfrm>
            <a:off x="5683060" y="2799363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B051E9-42EF-32E6-1E9B-F5CFBD588310}"/>
              </a:ext>
            </a:extLst>
          </p:cNvPr>
          <p:cNvSpPr/>
          <p:nvPr/>
        </p:nvSpPr>
        <p:spPr>
          <a:xfrm>
            <a:off x="4439816" y="421745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150572-0DC6-9830-3288-BE2BD294AE1D}"/>
              </a:ext>
            </a:extLst>
          </p:cNvPr>
          <p:cNvSpPr/>
          <p:nvPr/>
        </p:nvSpPr>
        <p:spPr>
          <a:xfrm>
            <a:off x="6960096" y="421745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8A20C50-56EE-227C-D34C-A6A7BD01C8B4}"/>
              </a:ext>
            </a:extLst>
          </p:cNvPr>
          <p:cNvSpPr/>
          <p:nvPr/>
        </p:nvSpPr>
        <p:spPr>
          <a:xfrm>
            <a:off x="4439816" y="6055881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2AFC61-4C0E-9570-7EA6-2012C0768D3E}"/>
              </a:ext>
            </a:extLst>
          </p:cNvPr>
          <p:cNvSpPr/>
          <p:nvPr/>
        </p:nvSpPr>
        <p:spPr>
          <a:xfrm>
            <a:off x="6990497" y="6055881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BD666B-2930-965C-EE07-C6B9B2347EF4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4500618" y="2860826"/>
            <a:ext cx="1191346" cy="135663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AEC360-6834-84AC-CE6E-36EE1498F4AD}"/>
              </a:ext>
            </a:extLst>
          </p:cNvPr>
          <p:cNvCxnSpPr>
            <a:cxnSpLocks/>
          </p:cNvCxnSpPr>
          <p:nvPr/>
        </p:nvCxnSpPr>
        <p:spPr>
          <a:xfrm>
            <a:off x="4470217" y="4289466"/>
            <a:ext cx="0" cy="1787505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F644C7-5F40-15EF-0295-ED251562A16E}"/>
              </a:ext>
            </a:extLst>
          </p:cNvPr>
          <p:cNvCxnSpPr>
            <a:stCxn id="19" idx="2"/>
            <a:endCxn id="20" idx="2"/>
          </p:cNvCxnSpPr>
          <p:nvPr/>
        </p:nvCxnSpPr>
        <p:spPr>
          <a:xfrm>
            <a:off x="4439816" y="6091885"/>
            <a:ext cx="2550681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12B53A-E45B-0800-6170-90B910FFD569}"/>
              </a:ext>
            </a:extLst>
          </p:cNvPr>
          <p:cNvCxnSpPr>
            <a:cxnSpLocks/>
          </p:cNvCxnSpPr>
          <p:nvPr/>
        </p:nvCxnSpPr>
        <p:spPr>
          <a:xfrm>
            <a:off x="5728349" y="2863915"/>
            <a:ext cx="1246635" cy="1346086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9B333B-996F-838D-1BC7-03DF8199F006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002017" y="4255180"/>
            <a:ext cx="18881" cy="180070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63ED7A-9791-4093-7977-588072DFAA62}"/>
                  </a:ext>
                </a:extLst>
              </p:cNvPr>
              <p:cNvSpPr txBox="1"/>
              <p:nvPr/>
            </p:nvSpPr>
            <p:spPr>
              <a:xfrm>
                <a:off x="3942508" y="406879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63ED7A-9791-4093-7977-588072DFA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08" y="4068795"/>
                <a:ext cx="62919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700A6D-5445-D31B-FC59-D2C8A99C7DCD}"/>
                  </a:ext>
                </a:extLst>
              </p:cNvPr>
              <p:cNvSpPr txBox="1"/>
              <p:nvPr/>
            </p:nvSpPr>
            <p:spPr>
              <a:xfrm>
                <a:off x="5730233" y="2555612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700A6D-5445-D31B-FC59-D2C8A99C7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33" y="2555612"/>
                <a:ext cx="62919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72A1C1-6D60-0F92-229D-B94E40C7F9C5}"/>
                  </a:ext>
                </a:extLst>
              </p:cNvPr>
              <p:cNvSpPr txBox="1"/>
              <p:nvPr/>
            </p:nvSpPr>
            <p:spPr>
              <a:xfrm>
                <a:off x="3942508" y="5859523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72A1C1-6D60-0F92-229D-B94E40C7F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08" y="5859523"/>
                <a:ext cx="62919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6A41D6-6038-585A-0386-67FE88285DC0}"/>
                  </a:ext>
                </a:extLst>
              </p:cNvPr>
              <p:cNvSpPr txBox="1"/>
              <p:nvPr/>
            </p:nvSpPr>
            <p:spPr>
              <a:xfrm>
                <a:off x="7034600" y="5878014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6A41D6-6038-585A-0386-67FE88285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600" y="5878014"/>
                <a:ext cx="62919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5560C-E2D3-8958-CD98-E3383635C43E}"/>
                  </a:ext>
                </a:extLst>
              </p:cNvPr>
              <p:cNvSpPr txBox="1"/>
              <p:nvPr/>
            </p:nvSpPr>
            <p:spPr>
              <a:xfrm>
                <a:off x="6878635" y="4025336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5560C-E2D3-8958-CD98-E3383635C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635" y="4025336"/>
                <a:ext cx="62919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4AB3C2-0010-7439-0346-4B35863E1327}"/>
                  </a:ext>
                </a:extLst>
              </p:cNvPr>
              <p:cNvSpPr txBox="1"/>
              <p:nvPr/>
            </p:nvSpPr>
            <p:spPr>
              <a:xfrm>
                <a:off x="9611993" y="3819179"/>
                <a:ext cx="169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4AB3C2-0010-7439-0346-4B35863E1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993" y="3819179"/>
                <a:ext cx="169288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67D8BE-CE4A-196D-42FA-DF172275CAD9}"/>
                  </a:ext>
                </a:extLst>
              </p:cNvPr>
              <p:cNvSpPr txBox="1"/>
              <p:nvPr/>
            </p:nvSpPr>
            <p:spPr>
              <a:xfrm>
                <a:off x="2222611" y="630159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67D8BE-CE4A-196D-42FA-DF172275C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611" y="6301595"/>
                <a:ext cx="629190" cy="369332"/>
              </a:xfrm>
              <a:prstGeom prst="rect">
                <a:avLst/>
              </a:prstGeom>
              <a:blipFill>
                <a:blip r:embed="rId10"/>
                <a:stretch>
                  <a:fillRect l="-2913" r="-11650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8F86CF-5DE7-9A34-EB6B-43D428001D9A}"/>
                  </a:ext>
                </a:extLst>
              </p:cNvPr>
              <p:cNvSpPr txBox="1"/>
              <p:nvPr/>
            </p:nvSpPr>
            <p:spPr>
              <a:xfrm>
                <a:off x="9630750" y="4188511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8F86CF-5DE7-9A34-EB6B-43D428001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750" y="4188511"/>
                <a:ext cx="1800396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BAD5BD-E758-82D1-3226-B4E7353F3CF6}"/>
                  </a:ext>
                </a:extLst>
              </p:cNvPr>
              <p:cNvSpPr txBox="1"/>
              <p:nvPr/>
            </p:nvSpPr>
            <p:spPr>
              <a:xfrm>
                <a:off x="9630750" y="4605983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BAD5BD-E758-82D1-3226-B4E7353F3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750" y="4605983"/>
                <a:ext cx="1800396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F5C680-5204-60F6-155E-E16CB20018D1}"/>
                  </a:ext>
                </a:extLst>
              </p:cNvPr>
              <p:cNvSpPr txBox="1"/>
              <p:nvPr/>
            </p:nvSpPr>
            <p:spPr>
              <a:xfrm>
                <a:off x="9551533" y="3453687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F5C680-5204-60F6-155E-E16CB2001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533" y="3453687"/>
                <a:ext cx="180039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7EAAD7-4295-522A-13FF-CC68B2285601}"/>
                  </a:ext>
                </a:extLst>
              </p:cNvPr>
              <p:cNvSpPr txBox="1"/>
              <p:nvPr/>
            </p:nvSpPr>
            <p:spPr>
              <a:xfrm>
                <a:off x="9546131" y="3059668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=(7.5, 9.2)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7EAAD7-4295-522A-13FF-CC68B2285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6131" y="3059668"/>
                <a:ext cx="1800396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54BD441D-A9F2-ACA0-7E39-83844D8CBD52}"/>
              </a:ext>
            </a:extLst>
          </p:cNvPr>
          <p:cNvSpPr txBox="1"/>
          <p:nvPr/>
        </p:nvSpPr>
        <p:spPr>
          <a:xfrm>
            <a:off x="9415722" y="2704600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" panose="02040504050005020304" pitchFamily="18" charset="0"/>
              </a:rPr>
              <a:t>Where,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BB067B-6C85-7F79-FD73-15D03E6601D0}"/>
              </a:ext>
            </a:extLst>
          </p:cNvPr>
          <p:cNvCxnSpPr/>
          <p:nvPr/>
        </p:nvCxnSpPr>
        <p:spPr>
          <a:xfrm flipV="1">
            <a:off x="4470217" y="4255180"/>
            <a:ext cx="2550681" cy="187270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426037-6382-1115-9F37-60A06EA7B1A8}"/>
              </a:ext>
            </a:extLst>
          </p:cNvPr>
          <p:cNvCxnSpPr>
            <a:stCxn id="43" idx="1"/>
          </p:cNvCxnSpPr>
          <p:nvPr/>
        </p:nvCxnSpPr>
        <p:spPr>
          <a:xfrm flipH="1" flipV="1">
            <a:off x="4470217" y="4289466"/>
            <a:ext cx="2564383" cy="177321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274420-5CE4-D00D-0057-9303454BB402}"/>
              </a:ext>
            </a:extLst>
          </p:cNvPr>
          <p:cNvCxnSpPr>
            <a:cxnSpLocks/>
          </p:cNvCxnSpPr>
          <p:nvPr/>
        </p:nvCxnSpPr>
        <p:spPr>
          <a:xfrm>
            <a:off x="4439816" y="4255180"/>
            <a:ext cx="259478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42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1919-3FDE-27A2-8B98-DC175391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4E4381-73FA-FD5C-CFF3-AB8E8025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16632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- 07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29E7E-A321-D16A-0800-7CE331A59BA4}"/>
              </a:ext>
            </a:extLst>
          </p:cNvPr>
          <p:cNvSpPr txBox="1"/>
          <p:nvPr/>
        </p:nvSpPr>
        <p:spPr>
          <a:xfrm>
            <a:off x="430265" y="1217402"/>
            <a:ext cx="11210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-07 </a:t>
            </a:r>
            <a:r>
              <a:rPr lang="en-IN" sz="2400" dirty="0">
                <a:latin typeface="Amasis MT Pro" panose="02040504050005020304" pitchFamily="18" charset="0"/>
              </a:rPr>
              <a:t>: Draw the following graphics by using DDA &amp;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line drawing algorithms.</a:t>
            </a:r>
          </a:p>
          <a:p>
            <a:r>
              <a:rPr lang="en-IN" sz="2400" dirty="0">
                <a:latin typeface="Amasis MT Pro" panose="02040504050005020304" pitchFamily="18" charset="0"/>
              </a:rPr>
              <a:t>    </a:t>
            </a:r>
            <a:r>
              <a:rPr lang="en-IN" sz="2400" b="1" dirty="0">
                <a:latin typeface="Amasis MT Pro" panose="02040504050005020304" pitchFamily="18" charset="0"/>
              </a:rPr>
              <a:t>Note*: </a:t>
            </a:r>
            <a:r>
              <a:rPr lang="en-IN" sz="2400" dirty="0">
                <a:latin typeface="Amasis MT Pro" panose="02040504050005020304" pitchFamily="18" charset="0"/>
              </a:rPr>
              <a:t>Consider the coordinates of each line segment by your choice 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0F5FB1-CD8B-D2A7-2545-2356533C376D}"/>
              </a:ext>
            </a:extLst>
          </p:cNvPr>
          <p:cNvGrpSpPr/>
          <p:nvPr/>
        </p:nvGrpSpPr>
        <p:grpSpPr>
          <a:xfrm>
            <a:off x="203035" y="2852936"/>
            <a:ext cx="11665296" cy="3384416"/>
            <a:chOff x="430265" y="2564904"/>
            <a:chExt cx="11665296" cy="338441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5BC78F0-8BE4-E78A-6C47-CBA9EE6A1809}"/>
                </a:ext>
              </a:extLst>
            </p:cNvPr>
            <p:cNvGrpSpPr/>
            <p:nvPr/>
          </p:nvGrpSpPr>
          <p:grpSpPr>
            <a:xfrm>
              <a:off x="430265" y="2564904"/>
              <a:ext cx="11665296" cy="2978770"/>
              <a:chOff x="263352" y="1996921"/>
              <a:chExt cx="11665296" cy="297877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34729EB8-2060-0733-A7C4-43B8A4578E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635920" y="1996921"/>
                <a:ext cx="3292728" cy="2978770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27C359F-81F0-B192-E4C9-AB49493ED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4511" y="1996921"/>
                <a:ext cx="2701377" cy="2653565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62483E84-116C-4B00-4166-A41C2F1C77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352" y="2215881"/>
                <a:ext cx="2283073" cy="2437255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FD19270-BBAC-7259-6DA2-6137117DF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7483" y="2149132"/>
                <a:ext cx="2959099" cy="2711948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03D62E2-F6E0-2FC1-65F0-4C88EB640861}"/>
                </a:ext>
              </a:extLst>
            </p:cNvPr>
            <p:cNvSpPr txBox="1"/>
            <p:nvPr/>
          </p:nvSpPr>
          <p:spPr>
            <a:xfrm>
              <a:off x="1165495" y="5543674"/>
              <a:ext cx="4844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latin typeface="Amasis MT Pro" panose="02040504050005020304" pitchFamily="18" charset="0"/>
                </a:rPr>
                <a:t>(a)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0ACAD02-0BA2-191A-51BC-6244A2118C89}"/>
                </a:ext>
              </a:extLst>
            </p:cNvPr>
            <p:cNvSpPr txBox="1"/>
            <p:nvPr/>
          </p:nvSpPr>
          <p:spPr>
            <a:xfrm>
              <a:off x="3877974" y="5543674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latin typeface="Amasis MT Pro" panose="02040504050005020304" pitchFamily="18" charset="0"/>
                </a:rPr>
                <a:t>(b)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0834B62-90CC-D1C1-228E-69EA416CA6AA}"/>
                </a:ext>
              </a:extLst>
            </p:cNvPr>
            <p:cNvSpPr txBox="1"/>
            <p:nvPr/>
          </p:nvSpPr>
          <p:spPr>
            <a:xfrm>
              <a:off x="6998143" y="5543674"/>
              <a:ext cx="4716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latin typeface="Amasis MT Pro" panose="02040504050005020304" pitchFamily="18" charset="0"/>
                </a:rPr>
                <a:t>(c)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C89B9F0-7D43-78FB-6D4B-C2725BF6529E}"/>
                </a:ext>
              </a:extLst>
            </p:cNvPr>
            <p:cNvSpPr txBox="1"/>
            <p:nvPr/>
          </p:nvSpPr>
          <p:spPr>
            <a:xfrm>
              <a:off x="10094268" y="5579988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>
                  <a:latin typeface="Amasis MT Pro" panose="02040504050005020304" pitchFamily="18" charset="0"/>
                </a:rPr>
                <a:t>(d)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3311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9288-850A-A649-67D3-7E81FABA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414038-8B27-9D3F-2C68-1608A17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889667"/>
            <a:ext cx="9289032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Thank you !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4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8361</TotalTime>
  <Words>754</Words>
  <Application>Microsoft Office PowerPoint</Application>
  <PresentationFormat>Widescreen</PresentationFormat>
  <Paragraphs>113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Amasis MT Pro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Objective of this lab</vt:lpstr>
      <vt:lpstr>Demo Assignment - 01</vt:lpstr>
      <vt:lpstr>Assignment - 02</vt:lpstr>
      <vt:lpstr>Assignment - 03</vt:lpstr>
      <vt:lpstr>Assignment - 04</vt:lpstr>
      <vt:lpstr>Assignment - 05</vt:lpstr>
      <vt:lpstr>Assignment - 06</vt:lpstr>
      <vt:lpstr>Assignment - 07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Autonomous Systems</dc:title>
  <dc:creator>Dell</dc:creator>
  <cp:lastModifiedBy>Nayaab Aman</cp:lastModifiedBy>
  <cp:revision>285</cp:revision>
  <cp:lastPrinted>2026-08-16T18:28:39Z</cp:lastPrinted>
  <dcterms:created xsi:type="dcterms:W3CDTF">2019-07-26T07:10:10Z</dcterms:created>
  <dcterms:modified xsi:type="dcterms:W3CDTF">2026-08-17T04:38:58Z</dcterms:modified>
</cp:coreProperties>
</file>