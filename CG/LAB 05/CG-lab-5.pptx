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390" r:id="rId2"/>
    <p:sldId id="392" r:id="rId3"/>
    <p:sldId id="393" r:id="rId4"/>
    <p:sldId id="396" r:id="rId5"/>
    <p:sldId id="399" r:id="rId6"/>
    <p:sldId id="400" r:id="rId7"/>
    <p:sldId id="401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4F81BD"/>
    <a:srgbClr val="25A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98" autoAdjust="0"/>
    <p:restoredTop sz="96323" autoAdjust="0"/>
  </p:normalViewPr>
  <p:slideViewPr>
    <p:cSldViewPr>
      <p:cViewPr varScale="1">
        <p:scale>
          <a:sx n="63" d="100"/>
          <a:sy n="63" d="100"/>
        </p:scale>
        <p:origin x="472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3024A1-837C-427E-A09E-F69BE28790E3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820EA-AEA3-4928-999E-F2B4A3EAED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169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A8F8-2F5C-1739-7C6E-9DC31B1C7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74A815-896A-0E39-6ABB-8C7D94613E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E0A313-15FC-4883-CAC9-A00F5852E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86EF5E-4409-D843-55F1-430F51231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431F5C-E4D2-4B32-ACFC-7F4BB6D354A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0679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6638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289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89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595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670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199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79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91011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56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6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9759CC-92EB-41BE-8A78-21811B536BEA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5AD58F-6915-4456-BE37-4B259E2A9D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342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211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38.png"/><Relationship Id="rId3" Type="http://schemas.openxmlformats.org/officeDocument/2006/relationships/image" Target="../media/image210.png"/><Relationship Id="rId7" Type="http://schemas.openxmlformats.org/officeDocument/2006/relationships/image" Target="../media/image250.png"/><Relationship Id="rId12" Type="http://schemas.openxmlformats.org/officeDocument/2006/relationships/image" Target="../media/image370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360.png"/><Relationship Id="rId5" Type="http://schemas.openxmlformats.org/officeDocument/2006/relationships/image" Target="../media/image37.png"/><Relationship Id="rId10" Type="http://schemas.openxmlformats.org/officeDocument/2006/relationships/image" Target="../media/image280.png"/><Relationship Id="rId4" Type="http://schemas.openxmlformats.org/officeDocument/2006/relationships/image" Target="../media/image220.png"/><Relationship Id="rId9" Type="http://schemas.openxmlformats.org/officeDocument/2006/relationships/image" Target="../media/image350.png"/><Relationship Id="rId14" Type="http://schemas.openxmlformats.org/officeDocument/2006/relationships/image" Target="../media/image3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asyartstart.com/how-to-draw-a-house-step-by-step/" TargetMode="Externa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5989-633D-423F-BC88-6C5916D4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7AE26F4-3F9F-44D3-CC67-1987E8B26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01" y="23924"/>
            <a:ext cx="868623" cy="12241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C24924-1FBF-A688-9802-3B462389E627}"/>
              </a:ext>
            </a:extLst>
          </p:cNvPr>
          <p:cNvSpPr txBox="1">
            <a:spLocks/>
          </p:cNvSpPr>
          <p:nvPr/>
        </p:nvSpPr>
        <p:spPr>
          <a:xfrm>
            <a:off x="755092" y="63213"/>
            <a:ext cx="11287000" cy="11848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800"/>
              </a:lnSpc>
            </a:pPr>
            <a:r>
              <a:rPr lang="en-IN" sz="3200" dirty="0">
                <a:latin typeface="Amasis MT Pro" panose="02040504050005020304" pitchFamily="18" charset="0"/>
              </a:rPr>
              <a:t>Atal Bihari Vajpayee</a:t>
            </a:r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-</a:t>
            </a:r>
          </a:p>
          <a:p>
            <a:pPr>
              <a:lnSpc>
                <a:spcPts val="3800"/>
              </a:lnSpc>
            </a:pPr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Indian Institute of Information Technology and Management Gwalior</a:t>
            </a:r>
            <a:endParaRPr lang="en-IN" sz="2400" dirty="0">
              <a:solidFill>
                <a:srgbClr val="002060"/>
              </a:solidFill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84274C5-6B84-C83C-4FF4-C5E58FBC7A29}"/>
              </a:ext>
            </a:extLst>
          </p:cNvPr>
          <p:cNvSpPr txBox="1">
            <a:spLocks/>
          </p:cNvSpPr>
          <p:nvPr/>
        </p:nvSpPr>
        <p:spPr>
          <a:xfrm>
            <a:off x="77319" y="3982819"/>
            <a:ext cx="11584217" cy="9049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900" b="1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Instructor – Dr. Sunil Kumar</a:t>
            </a:r>
          </a:p>
          <a:p>
            <a:r>
              <a:rPr lang="en-US" sz="2900" dirty="0">
                <a:solidFill>
                  <a:srgbClr val="00206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Assistant Professor @ Dept. of Information Technology, ABV-IIITM Gwalior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C2E2BD-7408-EBD3-0654-F31C8B4A920D}"/>
              </a:ext>
            </a:extLst>
          </p:cNvPr>
          <p:cNvSpPr txBox="1"/>
          <p:nvPr/>
        </p:nvSpPr>
        <p:spPr>
          <a:xfrm>
            <a:off x="3337698" y="1860689"/>
            <a:ext cx="52164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Computer Graphics Lab : 05 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4E02E7-BC8E-682A-CFDF-F90BB0E57D57}"/>
              </a:ext>
            </a:extLst>
          </p:cNvPr>
          <p:cNvSpPr txBox="1">
            <a:spLocks/>
          </p:cNvSpPr>
          <p:nvPr/>
        </p:nvSpPr>
        <p:spPr>
          <a:xfrm>
            <a:off x="119334" y="2308251"/>
            <a:ext cx="11653219" cy="13146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>
                <a:solidFill>
                  <a:schemeClr val="bg2">
                    <a:lumMod val="10000"/>
                  </a:schemeClr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Mid-Point Algorithm</a:t>
            </a:r>
            <a:endParaRPr lang="en-IN" sz="66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F95651A-21A4-C99E-CAA4-C4200504666B}"/>
              </a:ext>
            </a:extLst>
          </p:cNvPr>
          <p:cNvSpPr txBox="1"/>
          <p:nvPr/>
        </p:nvSpPr>
        <p:spPr>
          <a:xfrm>
            <a:off x="4079776" y="5072395"/>
            <a:ext cx="33334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Amasis MT Pro" panose="02040504050005020304" pitchFamily="18" charset="0"/>
              </a:rPr>
              <a:t>Teaching Assistants (TAs)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CA4315E-45CB-A856-77D0-735444546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259669"/>
              </p:ext>
            </p:extLst>
          </p:nvPr>
        </p:nvGraphicFramePr>
        <p:xfrm>
          <a:off x="1118815" y="5517232"/>
          <a:ext cx="980172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077561">
                  <a:extLst>
                    <a:ext uri="{9D8B030D-6E8A-4147-A177-3AD203B41FA5}">
                      <a16:colId xmlns:a16="http://schemas.microsoft.com/office/drawing/2014/main" val="1573689763"/>
                    </a:ext>
                  </a:extLst>
                </a:gridCol>
                <a:gridCol w="2724160">
                  <a:extLst>
                    <a:ext uri="{9D8B030D-6E8A-4147-A177-3AD203B41FA5}">
                      <a16:colId xmlns:a16="http://schemas.microsoft.com/office/drawing/2014/main" val="2592637703"/>
                    </a:ext>
                  </a:extLst>
                </a:gridCol>
              </a:tblGrid>
              <a:tr h="556260"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Mehr Aliah, Sheel Patel, Pranav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Group-02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164182"/>
                  </a:ext>
                </a:extLst>
              </a:tr>
              <a:tr h="556260"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Anushka Agarwal, Abhishek Shrivastav, Radhika Gupta, Aditya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masis MT Pro" panose="02040504050005020304" pitchFamily="18" charset="0"/>
                        </a:rPr>
                        <a:t>Group-01</a:t>
                      </a:r>
                      <a:endParaRPr lang="en-IN" dirty="0">
                        <a:latin typeface="Amasis MT Pro" panose="020405040500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071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80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F1E8-DCE4-BEE6-DFAB-914C981F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E59F738-7F80-DEA7-1E96-CE9D17B99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60" y="32186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Objective of this lab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E2020A-1B73-F383-D869-A3C6EAE0AA0D}"/>
              </a:ext>
            </a:extLst>
          </p:cNvPr>
          <p:cNvSpPr txBox="1"/>
          <p:nvPr/>
        </p:nvSpPr>
        <p:spPr>
          <a:xfrm>
            <a:off x="911424" y="1916832"/>
            <a:ext cx="1051316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sz="2400" dirty="0"/>
              <a:t>The objective of this lab is to draw circles and ellipses on a computer screen using the </a:t>
            </a:r>
            <a:r>
              <a:rPr lang="en-IN" sz="2400" b="1" dirty="0"/>
              <a:t>Mid-Point algorithms</a:t>
            </a:r>
            <a:r>
              <a:rPr lang="en-IN" sz="2400" dirty="0"/>
              <a:t>, while understanding the decision parameters used for efficient curve generation. The lab also involves using the </a:t>
            </a:r>
            <a:r>
              <a:rPr lang="en-IN" sz="2400" b="1" dirty="0" err="1"/>
              <a:t>Bresenham</a:t>
            </a:r>
            <a:r>
              <a:rPr lang="en-IN" sz="2400" b="1" dirty="0"/>
              <a:t> line drawing algorithm</a:t>
            </a:r>
            <a:r>
              <a:rPr lang="en-IN" sz="2400" dirty="0"/>
              <a:t> along with </a:t>
            </a:r>
            <a:r>
              <a:rPr lang="en-IN" sz="2400" b="1" dirty="0"/>
              <a:t>Mid-Point algorithms</a:t>
            </a:r>
            <a:r>
              <a:rPr lang="en-IN" sz="2400" dirty="0"/>
              <a:t> to construct different graphics using basic geometric shapes.</a:t>
            </a:r>
          </a:p>
        </p:txBody>
      </p:sp>
    </p:spTree>
    <p:extLst>
      <p:ext uri="{BB962C8B-B14F-4D97-AF65-F5344CB8AC3E}">
        <p14:creationId xmlns:p14="http://schemas.microsoft.com/office/powerpoint/2010/main" val="13176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732DF-BC1C-2F17-6310-E9917EA68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6162F0-F306-727E-B582-2DD0A0301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90" y="-99392"/>
            <a:ext cx="10981220" cy="1078665"/>
          </a:xfrm>
        </p:spPr>
        <p:txBody>
          <a:bodyPr>
            <a:normAutofit/>
          </a:bodyPr>
          <a:lstStyle/>
          <a:p>
            <a:r>
              <a:rPr lang="en-US" sz="6000" dirty="0">
                <a:solidFill>
                  <a:srgbClr val="00B050"/>
                </a:solidFill>
                <a:latin typeface="Amasis MT Pro" panose="02040504050005020304" pitchFamily="18" charset="0"/>
                <a:cs typeface="Times New Roman" panose="02020603050405020304" pitchFamily="18" charset="0"/>
              </a:rPr>
              <a:t>Demo</a:t>
            </a:r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 Assignment - 01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864413-E9AD-C9E1-21DD-26FF061E7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272" y="3212976"/>
            <a:ext cx="3226787" cy="33569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9D4406-6E25-FDF8-DD51-1B9E7EAA2CED}"/>
              </a:ext>
            </a:extLst>
          </p:cNvPr>
          <p:cNvSpPr txBox="1"/>
          <p:nvPr/>
        </p:nvSpPr>
        <p:spPr>
          <a:xfrm>
            <a:off x="605390" y="1340768"/>
            <a:ext cx="3690410" cy="56784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#include &lt;GL/</a:t>
            </a:r>
            <a:r>
              <a:rPr lang="en-IN" sz="1100" dirty="0" err="1"/>
              <a:t>freeglut.h</a:t>
            </a:r>
            <a:r>
              <a:rPr lang="en-IN" sz="1100" dirty="0"/>
              <a:t>&gt;</a:t>
            </a:r>
          </a:p>
          <a:p>
            <a:r>
              <a:rPr lang="en-IN" sz="1100" dirty="0"/>
              <a:t>void </a:t>
            </a:r>
            <a:r>
              <a:rPr lang="en-IN" sz="1100" dirty="0" err="1"/>
              <a:t>plotCirclePoints</a:t>
            </a:r>
            <a:r>
              <a:rPr lang="en-IN" sz="1100" dirty="0"/>
              <a:t>(int xc, int </a:t>
            </a:r>
            <a:r>
              <a:rPr lang="en-IN" sz="1100" dirty="0" err="1"/>
              <a:t>yc</a:t>
            </a:r>
            <a:r>
              <a:rPr lang="en-IN" sz="1100" dirty="0"/>
              <a:t>, int x, int y)</a:t>
            </a:r>
          </a:p>
          <a:p>
            <a:r>
              <a:rPr lang="en-IN" sz="1100" dirty="0"/>
              <a:t>{</a:t>
            </a:r>
          </a:p>
          <a:p>
            <a:r>
              <a:rPr lang="en-IN" sz="1100" dirty="0"/>
              <a:t>    glVertex2i(xc + x, </a:t>
            </a:r>
            <a:r>
              <a:rPr lang="en-IN" sz="1100" dirty="0" err="1"/>
              <a:t>yc</a:t>
            </a:r>
            <a:r>
              <a:rPr lang="en-IN" sz="1100" dirty="0"/>
              <a:t> + y);</a:t>
            </a:r>
          </a:p>
          <a:p>
            <a:r>
              <a:rPr lang="en-IN" sz="1100" dirty="0"/>
              <a:t>    glVertex2i(xc - x, </a:t>
            </a:r>
            <a:r>
              <a:rPr lang="en-IN" sz="1100" dirty="0" err="1"/>
              <a:t>yc</a:t>
            </a:r>
            <a:r>
              <a:rPr lang="en-IN" sz="1100" dirty="0"/>
              <a:t> + y);</a:t>
            </a:r>
          </a:p>
          <a:p>
            <a:r>
              <a:rPr lang="en-IN" sz="1100" dirty="0"/>
              <a:t>    glVertex2i(xc + x, </a:t>
            </a:r>
            <a:r>
              <a:rPr lang="en-IN" sz="1100" dirty="0" err="1"/>
              <a:t>yc</a:t>
            </a:r>
            <a:r>
              <a:rPr lang="en-IN" sz="1100" dirty="0"/>
              <a:t> - y);</a:t>
            </a:r>
          </a:p>
          <a:p>
            <a:r>
              <a:rPr lang="en-IN" sz="1100" dirty="0"/>
              <a:t>    glVertex2i(xc - x, </a:t>
            </a:r>
            <a:r>
              <a:rPr lang="en-IN" sz="1100" dirty="0" err="1"/>
              <a:t>yc</a:t>
            </a:r>
            <a:r>
              <a:rPr lang="en-IN" sz="1100" dirty="0"/>
              <a:t> - y);</a:t>
            </a:r>
          </a:p>
          <a:p>
            <a:r>
              <a:rPr lang="en-IN" sz="1100" dirty="0"/>
              <a:t>    glVertex2i(xc + y, </a:t>
            </a:r>
            <a:r>
              <a:rPr lang="en-IN" sz="1100" dirty="0" err="1"/>
              <a:t>yc</a:t>
            </a:r>
            <a:r>
              <a:rPr lang="en-IN" sz="1100" dirty="0"/>
              <a:t> + x);</a:t>
            </a:r>
          </a:p>
          <a:p>
            <a:r>
              <a:rPr lang="en-IN" sz="1100" dirty="0"/>
              <a:t>    glVertex2i(xc - y, </a:t>
            </a:r>
            <a:r>
              <a:rPr lang="en-IN" sz="1100" dirty="0" err="1"/>
              <a:t>yc</a:t>
            </a:r>
            <a:r>
              <a:rPr lang="en-IN" sz="1100" dirty="0"/>
              <a:t> + x);</a:t>
            </a:r>
          </a:p>
          <a:p>
            <a:r>
              <a:rPr lang="en-IN" sz="1100" dirty="0"/>
              <a:t>    glVertex2i(xc + y, </a:t>
            </a:r>
            <a:r>
              <a:rPr lang="en-IN" sz="1100" dirty="0" err="1"/>
              <a:t>yc</a:t>
            </a:r>
            <a:r>
              <a:rPr lang="en-IN" sz="1100" dirty="0"/>
              <a:t> - x);</a:t>
            </a:r>
          </a:p>
          <a:p>
            <a:r>
              <a:rPr lang="en-IN" sz="1100" dirty="0"/>
              <a:t>    glVertex2i(xc - y, </a:t>
            </a:r>
            <a:r>
              <a:rPr lang="en-IN" sz="1100" dirty="0" err="1"/>
              <a:t>yc</a:t>
            </a:r>
            <a:r>
              <a:rPr lang="en-IN" sz="1100" dirty="0"/>
              <a:t> - x);</a:t>
            </a:r>
          </a:p>
          <a:p>
            <a:r>
              <a:rPr lang="en-IN" sz="1100" dirty="0"/>
              <a:t>}</a:t>
            </a:r>
          </a:p>
          <a:p>
            <a:r>
              <a:rPr lang="en-IN" sz="1100" dirty="0"/>
              <a:t>void </a:t>
            </a:r>
            <a:r>
              <a:rPr lang="en-IN" sz="1100" dirty="0" err="1"/>
              <a:t>midpointCircle</a:t>
            </a:r>
            <a:r>
              <a:rPr lang="en-IN" sz="1100" dirty="0"/>
              <a:t>(int xc, int </a:t>
            </a:r>
            <a:r>
              <a:rPr lang="en-IN" sz="1100" dirty="0" err="1"/>
              <a:t>yc</a:t>
            </a:r>
            <a:r>
              <a:rPr lang="en-IN" sz="1100" dirty="0"/>
              <a:t>, int r)</a:t>
            </a:r>
          </a:p>
          <a:p>
            <a:r>
              <a:rPr lang="en-IN" sz="1100" dirty="0"/>
              <a:t>{</a:t>
            </a:r>
          </a:p>
          <a:p>
            <a:r>
              <a:rPr lang="en-IN" sz="1100" dirty="0"/>
              <a:t>    int x = 0;</a:t>
            </a:r>
          </a:p>
          <a:p>
            <a:r>
              <a:rPr lang="en-IN" sz="1100" dirty="0"/>
              <a:t>    int y = r;</a:t>
            </a:r>
          </a:p>
          <a:p>
            <a:r>
              <a:rPr lang="en-IN" sz="1100" dirty="0"/>
              <a:t>    int p = 1 - r;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glBegin</a:t>
            </a:r>
            <a:r>
              <a:rPr lang="en-IN" sz="1100" dirty="0"/>
              <a:t>(GL_POINTS);</a:t>
            </a:r>
          </a:p>
          <a:p>
            <a:r>
              <a:rPr lang="en-IN" sz="1100" dirty="0"/>
              <a:t>    while (x &lt;= y)</a:t>
            </a:r>
          </a:p>
          <a:p>
            <a:r>
              <a:rPr lang="en-IN" sz="1100" dirty="0"/>
              <a:t>    {</a:t>
            </a:r>
          </a:p>
          <a:p>
            <a:r>
              <a:rPr lang="en-IN" sz="1100" dirty="0"/>
              <a:t>        </a:t>
            </a:r>
            <a:r>
              <a:rPr lang="en-IN" sz="1100" dirty="0" err="1"/>
              <a:t>plotCirclePoints</a:t>
            </a:r>
            <a:r>
              <a:rPr lang="en-IN" sz="1100" dirty="0"/>
              <a:t>(xc, </a:t>
            </a:r>
            <a:r>
              <a:rPr lang="en-IN" sz="1100" dirty="0" err="1"/>
              <a:t>yc</a:t>
            </a:r>
            <a:r>
              <a:rPr lang="en-IN" sz="1100" dirty="0"/>
              <a:t>, x, y);</a:t>
            </a:r>
          </a:p>
          <a:p>
            <a:r>
              <a:rPr lang="en-IN" sz="1100" dirty="0"/>
              <a:t>        if (p &lt; 0)</a:t>
            </a:r>
          </a:p>
          <a:p>
            <a:r>
              <a:rPr lang="en-IN" sz="1100" dirty="0"/>
              <a:t>        {</a:t>
            </a:r>
          </a:p>
          <a:p>
            <a:r>
              <a:rPr lang="en-IN" sz="1100" dirty="0"/>
              <a:t>            p = p + 2 * x + 3;</a:t>
            </a:r>
          </a:p>
          <a:p>
            <a:r>
              <a:rPr lang="en-IN" sz="1100" dirty="0"/>
              <a:t>        }</a:t>
            </a:r>
          </a:p>
          <a:p>
            <a:r>
              <a:rPr lang="en-IN" sz="1100" dirty="0"/>
              <a:t>        else</a:t>
            </a:r>
          </a:p>
          <a:p>
            <a:r>
              <a:rPr lang="en-IN" sz="1100" dirty="0"/>
              <a:t>        {</a:t>
            </a:r>
          </a:p>
          <a:p>
            <a:r>
              <a:rPr lang="en-IN" sz="1100" dirty="0"/>
              <a:t>            p = p + 2 * (x - y) + 5;</a:t>
            </a:r>
          </a:p>
          <a:p>
            <a:r>
              <a:rPr lang="en-IN" sz="1100" dirty="0"/>
              <a:t>            y--;</a:t>
            </a:r>
          </a:p>
          <a:p>
            <a:r>
              <a:rPr lang="en-IN" sz="1100" dirty="0"/>
              <a:t>        }</a:t>
            </a:r>
          </a:p>
          <a:p>
            <a:r>
              <a:rPr lang="en-IN" sz="1100" dirty="0"/>
              <a:t>        x++;</a:t>
            </a:r>
          </a:p>
          <a:p>
            <a:r>
              <a:rPr lang="en-IN" sz="1100" dirty="0"/>
              <a:t>    }</a:t>
            </a:r>
          </a:p>
          <a:p>
            <a:r>
              <a:rPr lang="en-IN" sz="1100" dirty="0"/>
              <a:t>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DB99DA-F03A-F109-DFF3-DF4B13539264}"/>
              </a:ext>
            </a:extLst>
          </p:cNvPr>
          <p:cNvSpPr txBox="1"/>
          <p:nvPr/>
        </p:nvSpPr>
        <p:spPr>
          <a:xfrm>
            <a:off x="4007768" y="1556792"/>
            <a:ext cx="4536504" cy="5001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100" dirty="0"/>
              <a:t>  </a:t>
            </a:r>
            <a:r>
              <a:rPr lang="en-IN" sz="1100" dirty="0" err="1"/>
              <a:t>glEnd</a:t>
            </a:r>
            <a:r>
              <a:rPr lang="en-IN" sz="1100" dirty="0"/>
              <a:t>();</a:t>
            </a:r>
          </a:p>
          <a:p>
            <a:r>
              <a:rPr lang="en-IN" sz="1100" dirty="0"/>
              <a:t>}</a:t>
            </a:r>
          </a:p>
          <a:p>
            <a:r>
              <a:rPr lang="en-IN" sz="1100" dirty="0"/>
              <a:t>void display()</a:t>
            </a:r>
          </a:p>
          <a:p>
            <a:r>
              <a:rPr lang="en-IN" sz="1100" dirty="0"/>
              <a:t>{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glClear</a:t>
            </a:r>
            <a:r>
              <a:rPr lang="en-IN" sz="1100" dirty="0"/>
              <a:t>(GL_COLOR_BUFFER_BIT);</a:t>
            </a:r>
          </a:p>
          <a:p>
            <a:r>
              <a:rPr lang="en-IN" sz="1100" dirty="0"/>
              <a:t>    glColor3f(0.0f, 0.0f, 0.0f);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glPointSize</a:t>
            </a:r>
            <a:r>
              <a:rPr lang="en-IN" sz="1100" dirty="0"/>
              <a:t>(3.0f);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midpointCircle</a:t>
            </a:r>
            <a:r>
              <a:rPr lang="en-IN" sz="1100" dirty="0"/>
              <a:t>(250, 250, 100);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glFlush</a:t>
            </a:r>
            <a:r>
              <a:rPr lang="en-IN" sz="1100" dirty="0"/>
              <a:t>();</a:t>
            </a:r>
          </a:p>
          <a:p>
            <a:r>
              <a:rPr lang="en-IN" sz="1100" dirty="0"/>
              <a:t>}</a:t>
            </a:r>
          </a:p>
          <a:p>
            <a:r>
              <a:rPr lang="en-IN" sz="1100" dirty="0"/>
              <a:t>void </a:t>
            </a:r>
            <a:r>
              <a:rPr lang="en-IN" sz="1100" dirty="0" err="1"/>
              <a:t>init</a:t>
            </a:r>
            <a:r>
              <a:rPr lang="en-IN" sz="1100" dirty="0"/>
              <a:t>()</a:t>
            </a:r>
          </a:p>
          <a:p>
            <a:r>
              <a:rPr lang="en-IN" sz="1100" dirty="0"/>
              <a:t>{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glClearColor</a:t>
            </a:r>
            <a:r>
              <a:rPr lang="en-IN" sz="1100" dirty="0"/>
              <a:t>(1.0f, 1.0f, 1.0f, 1.0f);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glMatrixMode</a:t>
            </a:r>
            <a:r>
              <a:rPr lang="en-IN" sz="1100" dirty="0"/>
              <a:t>(GL_PROJECTION);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glLoadIdentity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glOrtho</a:t>
            </a:r>
            <a:r>
              <a:rPr lang="en-IN" sz="1100" dirty="0"/>
              <a:t>(0, 500, 0, 500, -1, 1);</a:t>
            </a:r>
          </a:p>
          <a:p>
            <a:r>
              <a:rPr lang="en-IN" sz="1100" dirty="0"/>
              <a:t>}</a:t>
            </a:r>
          </a:p>
          <a:p>
            <a:r>
              <a:rPr lang="en-IN" sz="1100" dirty="0"/>
              <a:t>int main(int </a:t>
            </a:r>
            <a:r>
              <a:rPr lang="en-IN" sz="1100" dirty="0" err="1"/>
              <a:t>argc</a:t>
            </a:r>
            <a:r>
              <a:rPr lang="en-IN" sz="1100" dirty="0"/>
              <a:t>, char** </a:t>
            </a:r>
            <a:r>
              <a:rPr lang="en-IN" sz="1100" dirty="0" err="1"/>
              <a:t>argv</a:t>
            </a:r>
            <a:r>
              <a:rPr lang="en-IN" sz="1100" dirty="0"/>
              <a:t>)</a:t>
            </a:r>
          </a:p>
          <a:p>
            <a:r>
              <a:rPr lang="en-IN" sz="1100" dirty="0"/>
              <a:t>{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glutInit</a:t>
            </a:r>
            <a:r>
              <a:rPr lang="en-IN" sz="1100" dirty="0"/>
              <a:t>(&amp;</a:t>
            </a:r>
            <a:r>
              <a:rPr lang="en-IN" sz="1100" dirty="0" err="1"/>
              <a:t>argc</a:t>
            </a:r>
            <a:r>
              <a:rPr lang="en-IN" sz="1100" dirty="0"/>
              <a:t>, </a:t>
            </a:r>
            <a:r>
              <a:rPr lang="en-IN" sz="1100" dirty="0" err="1"/>
              <a:t>argv</a:t>
            </a:r>
            <a:r>
              <a:rPr lang="en-IN" sz="1100" dirty="0"/>
              <a:t>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glutInitDisplayMode</a:t>
            </a:r>
            <a:r>
              <a:rPr lang="en-IN" sz="1100" dirty="0"/>
              <a:t>(GLUT_SINGLE | GLUT_RGB);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glutInitWindowSize</a:t>
            </a:r>
            <a:r>
              <a:rPr lang="en-IN" sz="1100" dirty="0"/>
              <a:t>(500, 500);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glutInitWindowPosition</a:t>
            </a:r>
            <a:r>
              <a:rPr lang="en-IN" sz="1100" dirty="0"/>
              <a:t>(100, 100);</a:t>
            </a:r>
            <a:br>
              <a:rPr lang="en-IN" sz="1100" dirty="0"/>
            </a:br>
            <a:r>
              <a:rPr lang="en-IN" sz="1100" dirty="0"/>
              <a:t>    </a:t>
            </a:r>
            <a:r>
              <a:rPr lang="en-IN" sz="1100" dirty="0" err="1"/>
              <a:t>glutCreateWindow</a:t>
            </a:r>
            <a:r>
              <a:rPr lang="en-IN" sz="1100" dirty="0"/>
              <a:t>("Mid-Point Circle Algorithm");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init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glutDisplayFunc</a:t>
            </a:r>
            <a:r>
              <a:rPr lang="en-IN" sz="1100" dirty="0"/>
              <a:t>(display);</a:t>
            </a:r>
          </a:p>
          <a:p>
            <a:r>
              <a:rPr lang="en-IN" sz="1100" dirty="0"/>
              <a:t>    </a:t>
            </a:r>
            <a:r>
              <a:rPr lang="en-IN" sz="1100" dirty="0" err="1"/>
              <a:t>glutMainLoop</a:t>
            </a:r>
            <a:r>
              <a:rPr lang="en-IN" sz="1100" dirty="0"/>
              <a:t>();</a:t>
            </a:r>
          </a:p>
          <a:p>
            <a:r>
              <a:rPr lang="en-IN" sz="1100" dirty="0"/>
              <a:t>    return 0;</a:t>
            </a:r>
          </a:p>
          <a:p>
            <a:r>
              <a:rPr lang="en-IN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13486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19133-7747-2C51-21FE-2293D3DB0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92AA35A-1FEB-7D74-F85F-A163C664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856" y="3314"/>
            <a:ext cx="10981220" cy="829383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- 02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86B7F-BCB4-D2F1-067D-2BA8A857C698}"/>
              </a:ext>
            </a:extLst>
          </p:cNvPr>
          <p:cNvSpPr txBox="1"/>
          <p:nvPr/>
        </p:nvSpPr>
        <p:spPr>
          <a:xfrm>
            <a:off x="298571" y="832113"/>
            <a:ext cx="1121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-02 </a:t>
            </a:r>
            <a:r>
              <a:rPr lang="en-IN" sz="2400" dirty="0">
                <a:latin typeface="Amasis MT Pro" panose="02040504050005020304" pitchFamily="18" charset="0"/>
              </a:rPr>
              <a:t>: Use Mid-point algorithm (for drawing circles) and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Algorithm (to draw lines) to draw the graphics shown below.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6DB60FF-D3A0-2F8C-DA49-6B283200FF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207364"/>
              </p:ext>
            </p:extLst>
          </p:nvPr>
        </p:nvGraphicFramePr>
        <p:xfrm>
          <a:off x="1173592" y="2133649"/>
          <a:ext cx="6368265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551">
                  <a:extLst>
                    <a:ext uri="{9D8B030D-6E8A-4147-A177-3AD203B41FA5}">
                      <a16:colId xmlns:a16="http://schemas.microsoft.com/office/drawing/2014/main" val="3718938419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5070921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79749528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186843862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815332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36128610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403672173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78860929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425708240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07426042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28253800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89887476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29884034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44979164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178331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3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4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77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95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36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1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3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8892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50A67BA-A013-FDE7-9E27-6380F7D6CF74}"/>
              </a:ext>
            </a:extLst>
          </p:cNvPr>
          <p:cNvCxnSpPr>
            <a:cxnSpLocks/>
          </p:cNvCxnSpPr>
          <p:nvPr/>
        </p:nvCxnSpPr>
        <p:spPr>
          <a:xfrm>
            <a:off x="7078248" y="5842049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1BBECE3-5F16-A3A5-CDE1-45B353BFCD26}"/>
              </a:ext>
            </a:extLst>
          </p:cNvPr>
          <p:cNvCxnSpPr/>
          <p:nvPr/>
        </p:nvCxnSpPr>
        <p:spPr>
          <a:xfrm flipV="1">
            <a:off x="1173592" y="1845617"/>
            <a:ext cx="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8F30CF-B394-358A-7975-2AAE73BF16BA}"/>
                  </a:ext>
                </a:extLst>
              </p:cNvPr>
              <p:cNvSpPr txBox="1"/>
              <p:nvPr/>
            </p:nvSpPr>
            <p:spPr>
              <a:xfrm>
                <a:off x="7978348" y="5570964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48F30CF-B394-358A-7975-2AAE73BF16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8348" y="5570964"/>
                <a:ext cx="504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E66CC-3641-F5F5-4960-E5DBB6EA3999}"/>
                  </a:ext>
                </a:extLst>
              </p:cNvPr>
              <p:cNvSpPr txBox="1"/>
              <p:nvPr/>
            </p:nvSpPr>
            <p:spPr>
              <a:xfrm>
                <a:off x="674283" y="1811186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67E66CC-3641-F5F5-4960-E5DBB6EA3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283" y="1811186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C9C13531-68B1-B8AE-A2A9-0F2DC0A62120}"/>
              </a:ext>
            </a:extLst>
          </p:cNvPr>
          <p:cNvSpPr/>
          <p:nvPr/>
        </p:nvSpPr>
        <p:spPr>
          <a:xfrm>
            <a:off x="1143190" y="5797600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99B3723-7553-51F8-CE2C-1BB577258719}"/>
              </a:ext>
            </a:extLst>
          </p:cNvPr>
          <p:cNvSpPr/>
          <p:nvPr/>
        </p:nvSpPr>
        <p:spPr>
          <a:xfrm>
            <a:off x="4289044" y="236810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1795832-B455-B019-CE01-0ED5F5F713FB}"/>
              </a:ext>
            </a:extLst>
          </p:cNvPr>
          <p:cNvSpPr/>
          <p:nvPr/>
        </p:nvSpPr>
        <p:spPr>
          <a:xfrm>
            <a:off x="3045800" y="3786203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6D06DB-5FAB-BC7E-C2F7-4C575246D108}"/>
              </a:ext>
            </a:extLst>
          </p:cNvPr>
          <p:cNvSpPr/>
          <p:nvPr/>
        </p:nvSpPr>
        <p:spPr>
          <a:xfrm>
            <a:off x="5566080" y="3786203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C75310D-37D1-C3BB-A1AF-3D7D8992E7A4}"/>
              </a:ext>
            </a:extLst>
          </p:cNvPr>
          <p:cNvSpPr/>
          <p:nvPr/>
        </p:nvSpPr>
        <p:spPr>
          <a:xfrm>
            <a:off x="3045800" y="5624626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68AF8B-B3C2-5106-7E5F-D0BB47292652}"/>
              </a:ext>
            </a:extLst>
          </p:cNvPr>
          <p:cNvSpPr/>
          <p:nvPr/>
        </p:nvSpPr>
        <p:spPr>
          <a:xfrm>
            <a:off x="5596481" y="5624626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FBE898B-6218-33AD-013D-2995F6CA08A2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3106602" y="2429571"/>
            <a:ext cx="1191346" cy="135663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AE192A9-8930-C143-ACA7-7B1A73163FB9}"/>
              </a:ext>
            </a:extLst>
          </p:cNvPr>
          <p:cNvCxnSpPr>
            <a:cxnSpLocks/>
          </p:cNvCxnSpPr>
          <p:nvPr/>
        </p:nvCxnSpPr>
        <p:spPr>
          <a:xfrm>
            <a:off x="3076201" y="3858211"/>
            <a:ext cx="0" cy="1787505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B39539-FC8A-8BAA-F984-97D1BDB301EE}"/>
              </a:ext>
            </a:extLst>
          </p:cNvPr>
          <p:cNvCxnSpPr>
            <a:stCxn id="19" idx="2"/>
            <a:endCxn id="20" idx="2"/>
          </p:cNvCxnSpPr>
          <p:nvPr/>
        </p:nvCxnSpPr>
        <p:spPr>
          <a:xfrm>
            <a:off x="3045800" y="5660630"/>
            <a:ext cx="2550681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D5B2E2A-0835-8B33-60B1-0EE513BE296E}"/>
              </a:ext>
            </a:extLst>
          </p:cNvPr>
          <p:cNvCxnSpPr>
            <a:cxnSpLocks/>
          </p:cNvCxnSpPr>
          <p:nvPr/>
        </p:nvCxnSpPr>
        <p:spPr>
          <a:xfrm>
            <a:off x="4334333" y="2432660"/>
            <a:ext cx="1246635" cy="1346086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65C42C4-95D0-89BD-9613-C6B85D47B87D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5608001" y="3823925"/>
            <a:ext cx="18881" cy="180070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F08B443-4671-22A1-3487-2BB84B2EDF03}"/>
                  </a:ext>
                </a:extLst>
              </p:cNvPr>
              <p:cNvSpPr txBox="1"/>
              <p:nvPr/>
            </p:nvSpPr>
            <p:spPr>
              <a:xfrm>
                <a:off x="2548492" y="3637540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F08B443-4671-22A1-3487-2BB84B2EDF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92" y="3637540"/>
                <a:ext cx="62919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BF6CBA-4039-C438-414C-0F98C14F32C0}"/>
                  </a:ext>
                </a:extLst>
              </p:cNvPr>
              <p:cNvSpPr txBox="1"/>
              <p:nvPr/>
            </p:nvSpPr>
            <p:spPr>
              <a:xfrm>
                <a:off x="4168855" y="2049606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9BF6CBA-4039-C438-414C-0F98C14F32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8855" y="2049606"/>
                <a:ext cx="62919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AB55BEC-6861-942C-8D3F-4EC329F56693}"/>
                  </a:ext>
                </a:extLst>
              </p:cNvPr>
              <p:cNvSpPr txBox="1"/>
              <p:nvPr/>
            </p:nvSpPr>
            <p:spPr>
              <a:xfrm>
                <a:off x="2548492" y="5428268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AB55BEC-6861-942C-8D3F-4EC329F56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492" y="5428268"/>
                <a:ext cx="62919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768FE5C-672D-8C64-0765-7C4323B1DB66}"/>
                  </a:ext>
                </a:extLst>
              </p:cNvPr>
              <p:cNvSpPr txBox="1"/>
              <p:nvPr/>
            </p:nvSpPr>
            <p:spPr>
              <a:xfrm>
                <a:off x="5517279" y="5485698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0768FE5C-672D-8C64-0765-7C4323B1DB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279" y="5485698"/>
                <a:ext cx="62919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5F8A55-4BF4-624E-188A-68B1DDC420C2}"/>
                  </a:ext>
                </a:extLst>
              </p:cNvPr>
              <p:cNvSpPr txBox="1"/>
              <p:nvPr/>
            </p:nvSpPr>
            <p:spPr>
              <a:xfrm>
                <a:off x="5484619" y="3594081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05F8A55-4BF4-624E-188A-68B1DDC420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4619" y="3594081"/>
                <a:ext cx="62919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B7E9DE4-42BC-5C5B-64E0-8617DB261058}"/>
                  </a:ext>
                </a:extLst>
              </p:cNvPr>
              <p:cNvSpPr txBox="1"/>
              <p:nvPr/>
            </p:nvSpPr>
            <p:spPr>
              <a:xfrm>
                <a:off x="7933505" y="2875898"/>
                <a:ext cx="169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1B7E9DE4-42BC-5C5B-64E0-8617DB261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3505" y="2875898"/>
                <a:ext cx="169288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05BAA1-2F51-E0D0-3DB9-ACA660AA8657}"/>
                  </a:ext>
                </a:extLst>
              </p:cNvPr>
              <p:cNvSpPr txBox="1"/>
              <p:nvPr/>
            </p:nvSpPr>
            <p:spPr>
              <a:xfrm>
                <a:off x="828595" y="5870340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AE05BAA1-2F51-E0D0-3DB9-ACA660AA8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595" y="5870340"/>
                <a:ext cx="629190" cy="369332"/>
              </a:xfrm>
              <a:prstGeom prst="rect">
                <a:avLst/>
              </a:prstGeom>
              <a:blipFill>
                <a:blip r:embed="rId10"/>
                <a:stretch>
                  <a:fillRect l="-2913" r="-11650"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3AD96F-F7C2-04AC-F66A-67730251B005}"/>
                  </a:ext>
                </a:extLst>
              </p:cNvPr>
              <p:cNvSpPr txBox="1"/>
              <p:nvPr/>
            </p:nvSpPr>
            <p:spPr>
              <a:xfrm>
                <a:off x="9852106" y="2837692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53AD96F-F7C2-04AC-F66A-67730251B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2106" y="2837692"/>
                <a:ext cx="1800396" cy="369332"/>
              </a:xfrm>
              <a:prstGeom prst="rect">
                <a:avLst/>
              </a:prstGeom>
              <a:blipFill>
                <a:blip r:embed="rId11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746105-8E03-F14E-E6D3-41A16C530BDD}"/>
                  </a:ext>
                </a:extLst>
              </p:cNvPr>
              <p:cNvSpPr txBox="1"/>
              <p:nvPr/>
            </p:nvSpPr>
            <p:spPr>
              <a:xfrm>
                <a:off x="7938781" y="3277858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7746105-8E03-F14E-E6D3-41A16C530B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781" y="3277858"/>
                <a:ext cx="1800396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3827D6-3CAF-18E8-7386-50DE3D00958A}"/>
                  </a:ext>
                </a:extLst>
              </p:cNvPr>
              <p:cNvSpPr txBox="1"/>
              <p:nvPr/>
            </p:nvSpPr>
            <p:spPr>
              <a:xfrm>
                <a:off x="9745713" y="2497182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413827D6-3CAF-18E8-7386-50DE3D0095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45713" y="2497182"/>
                <a:ext cx="180039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8C1250-2C5F-5A69-1DB4-6644D7937C2B}"/>
                  </a:ext>
                </a:extLst>
              </p:cNvPr>
              <p:cNvSpPr txBox="1"/>
              <p:nvPr/>
            </p:nvSpPr>
            <p:spPr>
              <a:xfrm>
                <a:off x="7849690" y="2492450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=(7.5, 9.2)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38C1250-2C5F-5A69-1DB4-6644D7937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690" y="2492450"/>
                <a:ext cx="1800396" cy="369332"/>
              </a:xfrm>
              <a:prstGeom prst="rect">
                <a:avLst/>
              </a:prstGeom>
              <a:blipFill>
                <a:blip r:embed="rId1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AE72E073-F028-C46C-663B-BB8B4873B853}"/>
              </a:ext>
            </a:extLst>
          </p:cNvPr>
          <p:cNvSpPr txBox="1"/>
          <p:nvPr/>
        </p:nvSpPr>
        <p:spPr>
          <a:xfrm>
            <a:off x="7871113" y="2045084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" panose="02040504050005020304" pitchFamily="18" charset="0"/>
              </a:rPr>
              <a:t>Where, 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85E658B-35E4-5E6D-1F48-E0D0DF18D0F7}"/>
              </a:ext>
            </a:extLst>
          </p:cNvPr>
          <p:cNvSpPr/>
          <p:nvPr/>
        </p:nvSpPr>
        <p:spPr>
          <a:xfrm>
            <a:off x="2502934" y="3307632"/>
            <a:ext cx="1130798" cy="108010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61F1B7-2ED0-DC94-A759-8EFF1D2C1362}"/>
                  </a:ext>
                </a:extLst>
              </p:cNvPr>
              <p:cNvSpPr txBox="1"/>
              <p:nvPr/>
            </p:nvSpPr>
            <p:spPr>
              <a:xfrm>
                <a:off x="2847402" y="3354160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E61F1B7-2ED0-DC94-A759-8EFF1D2C13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7402" y="3354160"/>
                <a:ext cx="62919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901EF7-3F6E-F128-6B8E-FB8059F28E03}"/>
                  </a:ext>
                </a:extLst>
              </p:cNvPr>
              <p:cNvSpPr txBox="1"/>
              <p:nvPr/>
            </p:nvSpPr>
            <p:spPr>
              <a:xfrm>
                <a:off x="3105149" y="295491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6901EF7-3F6E-F128-6B8E-FB8059F28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49" y="2954915"/>
                <a:ext cx="629190" cy="369332"/>
              </a:xfrm>
              <a:prstGeom prst="rect">
                <a:avLst/>
              </a:prstGeom>
              <a:blipFill>
                <a:blip r:embed="rId1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Oval 8">
            <a:extLst>
              <a:ext uri="{FF2B5EF4-FFF2-40B4-BE49-F238E27FC236}">
                <a16:creationId xmlns:a16="http://schemas.microsoft.com/office/drawing/2014/main" id="{FE512E2A-2B34-7DFD-0C8E-A391FC3D91ED}"/>
              </a:ext>
            </a:extLst>
          </p:cNvPr>
          <p:cNvSpPr/>
          <p:nvPr/>
        </p:nvSpPr>
        <p:spPr>
          <a:xfrm>
            <a:off x="3389343" y="3390516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432B5E2-A7D7-053D-6393-D83AC8A97510}"/>
              </a:ext>
            </a:extLst>
          </p:cNvPr>
          <p:cNvGrpSpPr/>
          <p:nvPr/>
        </p:nvGrpSpPr>
        <p:grpSpPr>
          <a:xfrm>
            <a:off x="4705009" y="3166448"/>
            <a:ext cx="1430288" cy="1211813"/>
            <a:chOff x="6099025" y="3597703"/>
            <a:chExt cx="1430288" cy="121181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7550B42-CEA7-8B2D-34D9-88FA6E5FB25A}"/>
                </a:ext>
              </a:extLst>
            </p:cNvPr>
            <p:cNvGrpSpPr/>
            <p:nvPr/>
          </p:nvGrpSpPr>
          <p:grpSpPr>
            <a:xfrm>
              <a:off x="6099025" y="3597703"/>
              <a:ext cx="1430288" cy="1211813"/>
              <a:chOff x="5401286" y="3907518"/>
              <a:chExt cx="1430288" cy="1211813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BC6024A-3BC5-F1A0-E01E-47E28B2462A8}"/>
                  </a:ext>
                </a:extLst>
              </p:cNvPr>
              <p:cNvSpPr/>
              <p:nvPr/>
            </p:nvSpPr>
            <p:spPr>
              <a:xfrm>
                <a:off x="5700776" y="4039229"/>
                <a:ext cx="1130798" cy="1080102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6DC76C1-BC57-8BC4-334F-E21078621AA4}"/>
                      </a:ext>
                    </a:extLst>
                  </p:cNvPr>
                  <p:cNvSpPr txBox="1"/>
                  <p:nvPr/>
                </p:nvSpPr>
                <p:spPr>
                  <a:xfrm>
                    <a:off x="5934127" y="4085385"/>
                    <a:ext cx="62919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IN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oMath>
                      </m:oMathPara>
                    </a14:m>
                    <a:endParaRPr lang="en-IN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A6DC76C1-BC57-8BC4-334F-E21078621A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34127" y="4085385"/>
                    <a:ext cx="629190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4976118-3993-7E73-B4D5-B116DA574B46}"/>
                      </a:ext>
                    </a:extLst>
                  </p:cNvPr>
                  <p:cNvSpPr txBox="1"/>
                  <p:nvPr/>
                </p:nvSpPr>
                <p:spPr>
                  <a:xfrm>
                    <a:off x="5401286" y="3907518"/>
                    <a:ext cx="629190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I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dirty="0">
                      <a:solidFill>
                        <a:srgbClr val="0070C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54976118-3993-7E73-B4D5-B116DA574B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01286" y="3907518"/>
                    <a:ext cx="629190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655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3CAD6E4-38AD-C416-576A-58646264A089}"/>
                </a:ext>
              </a:extLst>
            </p:cNvPr>
            <p:cNvSpPr/>
            <p:nvPr/>
          </p:nvSpPr>
          <p:spPr>
            <a:xfrm>
              <a:off x="6597894" y="3799341"/>
              <a:ext cx="60802" cy="7200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41C0BAE-CC46-D516-ABA8-CD127546D668}"/>
              </a:ext>
            </a:extLst>
          </p:cNvPr>
          <p:cNvGrpSpPr/>
          <p:nvPr/>
        </p:nvGrpSpPr>
        <p:grpSpPr>
          <a:xfrm>
            <a:off x="3437937" y="1933297"/>
            <a:ext cx="1442802" cy="1080102"/>
            <a:chOff x="5388772" y="4039229"/>
            <a:chExt cx="1442802" cy="1080102"/>
          </a:xfrm>
        </p:grpSpPr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36F1584-4938-E8C5-0523-913EDB226C4F}"/>
                </a:ext>
              </a:extLst>
            </p:cNvPr>
            <p:cNvSpPr/>
            <p:nvPr/>
          </p:nvSpPr>
          <p:spPr>
            <a:xfrm>
              <a:off x="5700776" y="4039229"/>
              <a:ext cx="1130798" cy="108010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D91CA1F-5DAA-8956-7B2A-1374FE779AFB}"/>
                    </a:ext>
                  </a:extLst>
                </p:cNvPr>
                <p:cNvSpPr txBox="1"/>
                <p:nvPr/>
              </p:nvSpPr>
              <p:spPr>
                <a:xfrm>
                  <a:off x="5679319" y="4466583"/>
                  <a:ext cx="62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D91CA1F-5DAA-8956-7B2A-1374FE779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9319" y="4466583"/>
                  <a:ext cx="629190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892677E-8322-B366-DB5C-D36A115FA6EE}"/>
                    </a:ext>
                  </a:extLst>
                </p:cNvPr>
                <p:cNvSpPr txBox="1"/>
                <p:nvPr/>
              </p:nvSpPr>
              <p:spPr>
                <a:xfrm>
                  <a:off x="5388772" y="4727620"/>
                  <a:ext cx="62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C892677E-8322-B366-DB5C-D36A115FA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772" y="4727620"/>
                  <a:ext cx="629190" cy="369332"/>
                </a:xfrm>
                <a:prstGeom prst="rect">
                  <a:avLst/>
                </a:prstGeom>
                <a:blipFill>
                  <a:blip r:embed="rId20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464EA011-2182-B16E-4301-7ED7FAC01F01}"/>
              </a:ext>
            </a:extLst>
          </p:cNvPr>
          <p:cNvSpPr/>
          <p:nvPr/>
        </p:nvSpPr>
        <p:spPr>
          <a:xfrm>
            <a:off x="3897842" y="2815585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E0F8788-6D8A-B846-89E7-4E96FA18215B}"/>
              </a:ext>
            </a:extLst>
          </p:cNvPr>
          <p:cNvGrpSpPr/>
          <p:nvPr/>
        </p:nvGrpSpPr>
        <p:grpSpPr>
          <a:xfrm>
            <a:off x="2529123" y="5131977"/>
            <a:ext cx="1606046" cy="1080102"/>
            <a:chOff x="5700776" y="4039229"/>
            <a:chExt cx="1606046" cy="108010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BC36C0F-9166-A3AB-2571-6D15B17833EA}"/>
                </a:ext>
              </a:extLst>
            </p:cNvPr>
            <p:cNvSpPr/>
            <p:nvPr/>
          </p:nvSpPr>
          <p:spPr>
            <a:xfrm>
              <a:off x="5700776" y="4039229"/>
              <a:ext cx="1130798" cy="108010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E946D20-020D-EF20-E860-1985580515C2}"/>
                    </a:ext>
                  </a:extLst>
                </p:cNvPr>
                <p:cNvSpPr txBox="1"/>
                <p:nvPr/>
              </p:nvSpPr>
              <p:spPr>
                <a:xfrm>
                  <a:off x="6252567" y="4468969"/>
                  <a:ext cx="62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CE946D20-020D-EF20-E860-1985580515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567" y="4468969"/>
                  <a:ext cx="629190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867DE3D-3B11-521C-E61F-3E2F5051350F}"/>
                    </a:ext>
                  </a:extLst>
                </p:cNvPr>
                <p:cNvSpPr txBox="1"/>
                <p:nvPr/>
              </p:nvSpPr>
              <p:spPr>
                <a:xfrm>
                  <a:off x="6677632" y="4468969"/>
                  <a:ext cx="62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4867DE3D-3B11-521C-E61F-3E2F505135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77632" y="4468969"/>
                  <a:ext cx="629190" cy="369332"/>
                </a:xfrm>
                <a:prstGeom prst="rect">
                  <a:avLst/>
                </a:prstGeom>
                <a:blipFill>
                  <a:blip r:embed="rId22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2" name="Oval 51">
            <a:extLst>
              <a:ext uri="{FF2B5EF4-FFF2-40B4-BE49-F238E27FC236}">
                <a16:creationId xmlns:a16="http://schemas.microsoft.com/office/drawing/2014/main" id="{2171CB2A-93F1-CCE9-2D6F-526DF9162C99}"/>
              </a:ext>
            </a:extLst>
          </p:cNvPr>
          <p:cNvSpPr/>
          <p:nvPr/>
        </p:nvSpPr>
        <p:spPr>
          <a:xfrm>
            <a:off x="3631876" y="5636024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E1FF6AD-F0BC-CA0D-A7B0-6E921B2AC514}"/>
              </a:ext>
            </a:extLst>
          </p:cNvPr>
          <p:cNvGrpSpPr/>
          <p:nvPr/>
        </p:nvGrpSpPr>
        <p:grpSpPr>
          <a:xfrm>
            <a:off x="4629989" y="5176960"/>
            <a:ext cx="1556170" cy="1080102"/>
            <a:chOff x="5275404" y="4039229"/>
            <a:chExt cx="1556170" cy="108010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261476DB-91D4-F7D5-8354-C237436F5508}"/>
                </a:ext>
              </a:extLst>
            </p:cNvPr>
            <p:cNvSpPr/>
            <p:nvPr/>
          </p:nvSpPr>
          <p:spPr>
            <a:xfrm>
              <a:off x="5700776" y="4039229"/>
              <a:ext cx="1130798" cy="1080102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79ACB5A-851C-F778-B3B9-6774BFE59899}"/>
                    </a:ext>
                  </a:extLst>
                </p:cNvPr>
                <p:cNvSpPr txBox="1"/>
                <p:nvPr/>
              </p:nvSpPr>
              <p:spPr>
                <a:xfrm>
                  <a:off x="5680684" y="4456469"/>
                  <a:ext cx="62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IN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079ACB5A-851C-F778-B3B9-6774BFE598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80684" y="4456469"/>
                  <a:ext cx="629190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9079B0E-F157-1D48-24BF-F9291EF5584D}"/>
                    </a:ext>
                  </a:extLst>
                </p:cNvPr>
                <p:cNvSpPr txBox="1"/>
                <p:nvPr/>
              </p:nvSpPr>
              <p:spPr>
                <a:xfrm>
                  <a:off x="5275404" y="4451140"/>
                  <a:ext cx="62919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IN" b="0" i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39079B0E-F157-1D48-24BF-F9291EF558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5404" y="4451140"/>
                  <a:ext cx="629190" cy="369332"/>
                </a:xfrm>
                <a:prstGeom prst="rect">
                  <a:avLst/>
                </a:prstGeom>
                <a:blipFill>
                  <a:blip r:embed="rId2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8" name="Oval 57">
            <a:extLst>
              <a:ext uri="{FF2B5EF4-FFF2-40B4-BE49-F238E27FC236}">
                <a16:creationId xmlns:a16="http://schemas.microsoft.com/office/drawing/2014/main" id="{6EED2D0E-E8C0-2048-1ECD-FADC9B8E1B25}"/>
              </a:ext>
            </a:extLst>
          </p:cNvPr>
          <p:cNvSpPr/>
          <p:nvPr/>
        </p:nvSpPr>
        <p:spPr>
          <a:xfrm>
            <a:off x="5024650" y="5636024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8382116-A68B-174B-7CE7-FD1F1C270FE9}"/>
                  </a:ext>
                </a:extLst>
              </p:cNvPr>
              <p:cNvSpPr txBox="1"/>
              <p:nvPr/>
            </p:nvSpPr>
            <p:spPr>
              <a:xfrm>
                <a:off x="4453901" y="2794452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8382116-A68B-174B-7CE7-FD1F1C270F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3901" y="2794452"/>
                <a:ext cx="629190" cy="369332"/>
              </a:xfrm>
              <a:prstGeom prst="rect">
                <a:avLst/>
              </a:prstGeom>
              <a:blipFill>
                <a:blip r:embed="rId2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35808AC-B8CE-3550-27CC-B12DFEF1CD32}"/>
                  </a:ext>
                </a:extLst>
              </p:cNvPr>
              <p:cNvSpPr txBox="1"/>
              <p:nvPr/>
            </p:nvSpPr>
            <p:spPr>
              <a:xfrm>
                <a:off x="8821854" y="3978254"/>
                <a:ext cx="2430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F35808AC-B8CE-3550-27CC-B12DFEF1CD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854" y="3978254"/>
                <a:ext cx="2430245" cy="369332"/>
              </a:xfrm>
              <a:prstGeom prst="rect">
                <a:avLst/>
              </a:prstGeom>
              <a:blipFill>
                <a:blip r:embed="rId26"/>
                <a:stretch>
                  <a:fillRect l="-1504" t="-5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4C7C4E-1776-E3B9-506C-4714EB575C40}"/>
                  </a:ext>
                </a:extLst>
              </p:cNvPr>
              <p:cNvSpPr txBox="1"/>
              <p:nvPr/>
            </p:nvSpPr>
            <p:spPr>
              <a:xfrm>
                <a:off x="8807338" y="4368433"/>
                <a:ext cx="2430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454C7C4E-1776-E3B9-506C-4714EB575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338" y="4368433"/>
                <a:ext cx="2430245" cy="369332"/>
              </a:xfrm>
              <a:prstGeom prst="rect">
                <a:avLst/>
              </a:prstGeom>
              <a:blipFill>
                <a:blip r:embed="rId27"/>
                <a:stretch>
                  <a:fillRect l="-1759" t="-5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BA165EA-F468-4F63-5C36-6E789EB6EC2F}"/>
                  </a:ext>
                </a:extLst>
              </p:cNvPr>
              <p:cNvSpPr txBox="1"/>
              <p:nvPr/>
            </p:nvSpPr>
            <p:spPr>
              <a:xfrm>
                <a:off x="8807338" y="4696401"/>
                <a:ext cx="2430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9BA165EA-F468-4F63-5C36-6E789EB6E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7338" y="4696401"/>
                <a:ext cx="2430245" cy="369332"/>
              </a:xfrm>
              <a:prstGeom prst="rect">
                <a:avLst/>
              </a:prstGeom>
              <a:blipFill>
                <a:blip r:embed="rId28"/>
                <a:stretch>
                  <a:fillRect l="-1759" t="-3279" b="-180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141BA4B-31AE-35A5-9BAB-7937B543A241}"/>
                  </a:ext>
                </a:extLst>
              </p:cNvPr>
              <p:cNvSpPr txBox="1"/>
              <p:nvPr/>
            </p:nvSpPr>
            <p:spPr>
              <a:xfrm>
                <a:off x="2578527" y="4255970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141BA4B-31AE-35A5-9BAB-7937B543A2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8527" y="4255970"/>
                <a:ext cx="629190" cy="369332"/>
              </a:xfrm>
              <a:prstGeom prst="rect">
                <a:avLst/>
              </a:prstGeom>
              <a:blipFill>
                <a:blip r:embed="rId2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64196E0-1C15-C3B2-A1AF-3A5BF0E6E077}"/>
                  </a:ext>
                </a:extLst>
              </p:cNvPr>
              <p:cNvSpPr txBox="1"/>
              <p:nvPr/>
            </p:nvSpPr>
            <p:spPr>
              <a:xfrm>
                <a:off x="5552445" y="4859171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64196E0-1C15-C3B2-A1AF-3A5BF0E6E0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445" y="4859171"/>
                <a:ext cx="629190" cy="369332"/>
              </a:xfrm>
              <a:prstGeom prst="rect">
                <a:avLst/>
              </a:prstGeom>
              <a:blipFill>
                <a:blip r:embed="rId30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5" name="Oval 64">
            <a:extLst>
              <a:ext uri="{FF2B5EF4-FFF2-40B4-BE49-F238E27FC236}">
                <a16:creationId xmlns:a16="http://schemas.microsoft.com/office/drawing/2014/main" id="{94DD6BC6-A533-F5AC-09C0-FAA0CB1BDC24}"/>
              </a:ext>
            </a:extLst>
          </p:cNvPr>
          <p:cNvSpPr/>
          <p:nvPr/>
        </p:nvSpPr>
        <p:spPr>
          <a:xfrm>
            <a:off x="4691996" y="280749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92AB4063-B633-734F-69DC-F180EABD1F54}"/>
              </a:ext>
            </a:extLst>
          </p:cNvPr>
          <p:cNvSpPr/>
          <p:nvPr/>
        </p:nvSpPr>
        <p:spPr>
          <a:xfrm>
            <a:off x="5577600" y="4347586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D580DA4A-BF90-84E9-48D9-45953C3623A8}"/>
              </a:ext>
            </a:extLst>
          </p:cNvPr>
          <p:cNvSpPr/>
          <p:nvPr/>
        </p:nvSpPr>
        <p:spPr>
          <a:xfrm>
            <a:off x="5596481" y="5150889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CD5A4175-CEAD-C1E4-ABA1-3D5A90E9970E}"/>
              </a:ext>
            </a:extLst>
          </p:cNvPr>
          <p:cNvSpPr/>
          <p:nvPr/>
        </p:nvSpPr>
        <p:spPr>
          <a:xfrm>
            <a:off x="3044347" y="4349517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BCDDE38C-0477-F2AB-EE12-A30773D09B89}"/>
              </a:ext>
            </a:extLst>
          </p:cNvPr>
          <p:cNvSpPr/>
          <p:nvPr/>
        </p:nvSpPr>
        <p:spPr>
          <a:xfrm>
            <a:off x="3044347" y="5096269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4E42C07-E8BB-344B-B8E3-090BED214A1F}"/>
                  </a:ext>
                </a:extLst>
              </p:cNvPr>
              <p:cNvSpPr txBox="1"/>
              <p:nvPr/>
            </p:nvSpPr>
            <p:spPr>
              <a:xfrm>
                <a:off x="8819514" y="5000465"/>
                <a:ext cx="24302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04E42C07-E8BB-344B-B8E3-090BED214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9514" y="5000465"/>
                <a:ext cx="2430245" cy="369332"/>
              </a:xfrm>
              <a:prstGeom prst="rect">
                <a:avLst/>
              </a:prstGeom>
              <a:blipFill>
                <a:blip r:embed="rId31"/>
                <a:stretch>
                  <a:fillRect l="-1759" t="-3279" b="-180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135EB16-DD62-9A8B-4A92-50AA57CE91F4}"/>
                  </a:ext>
                </a:extLst>
              </p:cNvPr>
              <p:cNvSpPr txBox="1"/>
              <p:nvPr/>
            </p:nvSpPr>
            <p:spPr>
              <a:xfrm>
                <a:off x="5506107" y="4272473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7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135EB16-DD62-9A8B-4A92-50AA57CE91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107" y="4272473"/>
                <a:ext cx="629190" cy="369332"/>
              </a:xfrm>
              <a:prstGeom prst="rect">
                <a:avLst/>
              </a:prstGeom>
              <a:blipFill>
                <a:blip r:embed="rId32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05A130E-CD02-829D-8DEF-B252976EB53C}"/>
                  </a:ext>
                </a:extLst>
              </p:cNvPr>
              <p:cNvSpPr txBox="1"/>
              <p:nvPr/>
            </p:nvSpPr>
            <p:spPr>
              <a:xfrm>
                <a:off x="2571895" y="481482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05A130E-CD02-829D-8DEF-B252976EB5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1895" y="4814825"/>
                <a:ext cx="629190" cy="369332"/>
              </a:xfrm>
              <a:prstGeom prst="rect">
                <a:avLst/>
              </a:prstGeom>
              <a:blipFill>
                <a:blip r:embed="rId3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2A645A6-9C5E-77E3-C31F-69789D66B9F0}"/>
                  </a:ext>
                </a:extLst>
              </p:cNvPr>
              <p:cNvSpPr txBox="1"/>
              <p:nvPr/>
            </p:nvSpPr>
            <p:spPr>
              <a:xfrm>
                <a:off x="8821854" y="5351311"/>
                <a:ext cx="27054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B2A645A6-9C5E-77E3-C31F-69789D66B9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1854" y="5351311"/>
                <a:ext cx="2705470" cy="369332"/>
              </a:xfrm>
              <a:prstGeom prst="rect">
                <a:avLst/>
              </a:prstGeom>
              <a:blipFill>
                <a:blip r:embed="rId34"/>
                <a:stretch>
                  <a:fillRect l="-1351" t="-5000" b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DB8148C-105D-2152-56EA-B6A3FFA3A51A}"/>
                  </a:ext>
                </a:extLst>
              </p:cNvPr>
              <p:cNvSpPr txBox="1"/>
              <p:nvPr/>
            </p:nvSpPr>
            <p:spPr>
              <a:xfrm>
                <a:off x="8810212" y="5692817"/>
                <a:ext cx="2705470" cy="4834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IN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FDB8148C-105D-2152-56EA-B6A3FFA3A5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0212" y="5692817"/>
                <a:ext cx="2705470" cy="483466"/>
              </a:xfrm>
              <a:prstGeom prst="rect">
                <a:avLst/>
              </a:prstGeom>
              <a:blipFill>
                <a:blip r:embed="rId35"/>
                <a:stretch>
                  <a:fillRect l="-1351" b="-379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5" name="TextBox 74">
            <a:extLst>
              <a:ext uri="{FF2B5EF4-FFF2-40B4-BE49-F238E27FC236}">
                <a16:creationId xmlns:a16="http://schemas.microsoft.com/office/drawing/2014/main" id="{6B960C6C-3FAA-F68E-07CD-A9843CB33147}"/>
              </a:ext>
            </a:extLst>
          </p:cNvPr>
          <p:cNvSpPr txBox="1"/>
          <p:nvPr/>
        </p:nvSpPr>
        <p:spPr>
          <a:xfrm>
            <a:off x="7933505" y="3768829"/>
            <a:ext cx="1290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latin typeface="Amasis MT Pro" panose="02040504050005020304" pitchFamily="18" charset="0"/>
              </a:rPr>
              <a:t>Other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732DEDE-A4EC-5E7A-0EF3-5183C7EED704}"/>
                  </a:ext>
                </a:extLst>
              </p:cNvPr>
              <p:cNvSpPr txBox="1"/>
              <p:nvPr/>
            </p:nvSpPr>
            <p:spPr>
              <a:xfrm>
                <a:off x="649925" y="6453361"/>
                <a:ext cx="109933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b="1" dirty="0">
                    <a:latin typeface="Amasis MT Pro" panose="02040504050005020304" pitchFamily="18" charset="0"/>
                  </a:rPr>
                  <a:t>Note: The value of points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IN" b="1" dirty="0">
                    <a:latin typeface="Amasis MT Pro" panose="02040504050005020304" pitchFamily="18" charset="0"/>
                  </a:rPr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1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IN" b="1" i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</m:sub>
                    </m:sSub>
                  </m:oMath>
                </a14:m>
                <a:r>
                  <a:rPr lang="en-IN" b="1" dirty="0">
                    <a:latin typeface="Amasis MT Pro" panose="02040504050005020304" pitchFamily="18" charset="0"/>
                  </a:rPr>
                  <a:t>) may chosen differently as per the suggestions of the TAs 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3732DEDE-A4EC-5E7A-0EF3-5183C7EED7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25" y="6453361"/>
                <a:ext cx="10993376" cy="369332"/>
              </a:xfrm>
              <a:prstGeom prst="rect">
                <a:avLst/>
              </a:prstGeom>
              <a:blipFill>
                <a:blip r:embed="rId36"/>
                <a:stretch>
                  <a:fillRect l="-49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068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CB59F-6720-FC9D-EB38-EB4EC6D2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662DFAD-82A3-85CC-FE30-82207D5A7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62" y="17328"/>
            <a:ext cx="10981220" cy="938242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- 03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6CF3BD7-EC9F-12D2-1626-CE74D1E72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90408"/>
              </p:ext>
            </p:extLst>
          </p:nvPr>
        </p:nvGraphicFramePr>
        <p:xfrm>
          <a:off x="2567608" y="2564904"/>
          <a:ext cx="6368265" cy="370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4551">
                  <a:extLst>
                    <a:ext uri="{9D8B030D-6E8A-4147-A177-3AD203B41FA5}">
                      <a16:colId xmlns:a16="http://schemas.microsoft.com/office/drawing/2014/main" val="3718938419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5070921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79749528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186843862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8153329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36128610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1403672173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788609297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4257082405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07426042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28253800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89887476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729884034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2449791648"/>
                    </a:ext>
                  </a:extLst>
                </a:gridCol>
                <a:gridCol w="424551">
                  <a:extLst>
                    <a:ext uri="{9D8B030D-6E8A-4147-A177-3AD203B41FA5}">
                      <a16:colId xmlns:a16="http://schemas.microsoft.com/office/drawing/2014/main" val="3178331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30392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6725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343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4770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7953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1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93608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0519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46334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5288921"/>
                  </a:ext>
                </a:extLst>
              </a:tr>
            </a:tbl>
          </a:graphicData>
        </a:graphic>
      </p:graphicFrame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F9B70B4-75D4-3792-D3E5-D5A042AA86EF}"/>
              </a:ext>
            </a:extLst>
          </p:cNvPr>
          <p:cNvCxnSpPr>
            <a:cxnSpLocks/>
          </p:cNvCxnSpPr>
          <p:nvPr/>
        </p:nvCxnSpPr>
        <p:spPr>
          <a:xfrm>
            <a:off x="8472264" y="6273304"/>
            <a:ext cx="9361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74B80A4-F1E9-F481-E5E4-0932FCB243BB}"/>
              </a:ext>
            </a:extLst>
          </p:cNvPr>
          <p:cNvCxnSpPr/>
          <p:nvPr/>
        </p:nvCxnSpPr>
        <p:spPr>
          <a:xfrm flipV="1">
            <a:off x="2567608" y="2276872"/>
            <a:ext cx="0" cy="6480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2C9598-3BD3-4674-72F2-3761276A8E25}"/>
                  </a:ext>
                </a:extLst>
              </p:cNvPr>
              <p:cNvSpPr txBox="1"/>
              <p:nvPr/>
            </p:nvSpPr>
            <p:spPr>
              <a:xfrm>
                <a:off x="9372364" y="6002219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32C9598-3BD3-4674-72F2-3761276A8E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2364" y="6002219"/>
                <a:ext cx="504056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3FD2BC-C082-699B-924B-5A21477E0D45}"/>
                  </a:ext>
                </a:extLst>
              </p:cNvPr>
              <p:cNvSpPr txBox="1"/>
              <p:nvPr/>
            </p:nvSpPr>
            <p:spPr>
              <a:xfrm>
                <a:off x="2068299" y="2242441"/>
                <a:ext cx="50405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63FD2BC-C082-699B-924B-5A21477E0D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8299" y="2242441"/>
                <a:ext cx="504056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1F8D669-EF0F-C4D7-753A-3F61CE7854AC}"/>
              </a:ext>
            </a:extLst>
          </p:cNvPr>
          <p:cNvSpPr/>
          <p:nvPr/>
        </p:nvSpPr>
        <p:spPr>
          <a:xfrm>
            <a:off x="2537206" y="6228855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D1D7CCE-3A4E-BCF3-E722-C88D18571BFE}"/>
              </a:ext>
            </a:extLst>
          </p:cNvPr>
          <p:cNvSpPr/>
          <p:nvPr/>
        </p:nvSpPr>
        <p:spPr>
          <a:xfrm>
            <a:off x="5683060" y="2799363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8B051E9-42EF-32E6-1E9B-F5CFBD588310}"/>
              </a:ext>
            </a:extLst>
          </p:cNvPr>
          <p:cNvSpPr/>
          <p:nvPr/>
        </p:nvSpPr>
        <p:spPr>
          <a:xfrm>
            <a:off x="4439816" y="421745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150572-0DC6-9830-3288-BE2BD294AE1D}"/>
              </a:ext>
            </a:extLst>
          </p:cNvPr>
          <p:cNvSpPr/>
          <p:nvPr/>
        </p:nvSpPr>
        <p:spPr>
          <a:xfrm>
            <a:off x="6960096" y="4217458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8A20C50-56EE-227C-D34C-A6A7BD01C8B4}"/>
              </a:ext>
            </a:extLst>
          </p:cNvPr>
          <p:cNvSpPr/>
          <p:nvPr/>
        </p:nvSpPr>
        <p:spPr>
          <a:xfrm>
            <a:off x="4439816" y="6055881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92AFC61-4C0E-9570-7EA6-2012C0768D3E}"/>
              </a:ext>
            </a:extLst>
          </p:cNvPr>
          <p:cNvSpPr/>
          <p:nvPr/>
        </p:nvSpPr>
        <p:spPr>
          <a:xfrm>
            <a:off x="6990497" y="6055881"/>
            <a:ext cx="60802" cy="7200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7BD666B-2930-965C-EE07-C6B9B2347EF4}"/>
              </a:ext>
            </a:extLst>
          </p:cNvPr>
          <p:cNvCxnSpPr>
            <a:cxnSpLocks/>
            <a:endCxn id="16" idx="3"/>
          </p:cNvCxnSpPr>
          <p:nvPr/>
        </p:nvCxnSpPr>
        <p:spPr>
          <a:xfrm flipV="1">
            <a:off x="4500618" y="2860826"/>
            <a:ext cx="1191346" cy="135663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0AEC360-6834-84AC-CE6E-36EE1498F4AD}"/>
              </a:ext>
            </a:extLst>
          </p:cNvPr>
          <p:cNvCxnSpPr>
            <a:cxnSpLocks/>
          </p:cNvCxnSpPr>
          <p:nvPr/>
        </p:nvCxnSpPr>
        <p:spPr>
          <a:xfrm>
            <a:off x="4470217" y="4289466"/>
            <a:ext cx="0" cy="1787505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4F644C7-5F40-15EF-0295-ED251562A16E}"/>
              </a:ext>
            </a:extLst>
          </p:cNvPr>
          <p:cNvCxnSpPr>
            <a:stCxn id="19" idx="2"/>
            <a:endCxn id="20" idx="2"/>
          </p:cNvCxnSpPr>
          <p:nvPr/>
        </p:nvCxnSpPr>
        <p:spPr>
          <a:xfrm>
            <a:off x="4439816" y="6091885"/>
            <a:ext cx="2550681" cy="0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12B53A-E45B-0800-6170-90B910FFD569}"/>
              </a:ext>
            </a:extLst>
          </p:cNvPr>
          <p:cNvCxnSpPr>
            <a:cxnSpLocks/>
          </p:cNvCxnSpPr>
          <p:nvPr/>
        </p:nvCxnSpPr>
        <p:spPr>
          <a:xfrm>
            <a:off x="5728349" y="2863915"/>
            <a:ext cx="1246635" cy="1346086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C89B333B-996F-838D-1BC7-03DF8199F006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7002017" y="4255180"/>
            <a:ext cx="18881" cy="1800701"/>
          </a:xfrm>
          <a:prstGeom prst="line">
            <a:avLst/>
          </a:prstGeom>
          <a:ln w="2222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63ED7A-9791-4093-7977-588072DFAA62}"/>
                  </a:ext>
                </a:extLst>
              </p:cNvPr>
              <p:cNvSpPr txBox="1"/>
              <p:nvPr/>
            </p:nvSpPr>
            <p:spPr>
              <a:xfrm>
                <a:off x="3942508" y="406879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F63ED7A-9791-4093-7977-588072DFAA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08" y="4068795"/>
                <a:ext cx="629190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700A6D-5445-D31B-FC59-D2C8A99C7DCD}"/>
                  </a:ext>
                </a:extLst>
              </p:cNvPr>
              <p:cNvSpPr txBox="1"/>
              <p:nvPr/>
            </p:nvSpPr>
            <p:spPr>
              <a:xfrm>
                <a:off x="5730233" y="2555612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E700A6D-5445-D31B-FC59-D2C8A99C7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0233" y="2555612"/>
                <a:ext cx="62919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72A1C1-6D60-0F92-229D-B94E40C7F9C5}"/>
                  </a:ext>
                </a:extLst>
              </p:cNvPr>
              <p:cNvSpPr txBox="1"/>
              <p:nvPr/>
            </p:nvSpPr>
            <p:spPr>
              <a:xfrm>
                <a:off x="3942508" y="5859523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7972A1C1-6D60-0F92-229D-B94E40C7F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508" y="5859523"/>
                <a:ext cx="62919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6A41D6-6038-585A-0386-67FE88285DC0}"/>
                  </a:ext>
                </a:extLst>
              </p:cNvPr>
              <p:cNvSpPr txBox="1"/>
              <p:nvPr/>
            </p:nvSpPr>
            <p:spPr>
              <a:xfrm>
                <a:off x="7034600" y="5878014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A96A41D6-6038-585A-0386-67FE88285D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34600" y="5878014"/>
                <a:ext cx="62919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5560C-E2D3-8958-CD98-E3383635C43E}"/>
                  </a:ext>
                </a:extLst>
              </p:cNvPr>
              <p:cNvSpPr txBox="1"/>
              <p:nvPr/>
            </p:nvSpPr>
            <p:spPr>
              <a:xfrm>
                <a:off x="6878635" y="4025336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DE5560C-E2D3-8958-CD98-E3383635C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635" y="4025336"/>
                <a:ext cx="629190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4AB3C2-0010-7439-0346-4B35863E1327}"/>
                  </a:ext>
                </a:extLst>
              </p:cNvPr>
              <p:cNvSpPr txBox="1"/>
              <p:nvPr/>
            </p:nvSpPr>
            <p:spPr>
              <a:xfrm>
                <a:off x="9611993" y="3819179"/>
                <a:ext cx="16928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F14AB3C2-0010-7439-0346-4B35863E1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1993" y="3819179"/>
                <a:ext cx="169288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67D8BE-CE4A-196D-42FA-DF172275CAD9}"/>
                  </a:ext>
                </a:extLst>
              </p:cNvPr>
              <p:cNvSpPr txBox="1"/>
              <p:nvPr/>
            </p:nvSpPr>
            <p:spPr>
              <a:xfrm>
                <a:off x="2222611" y="6301595"/>
                <a:ext cx="6291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8C67D8BE-CE4A-196D-42FA-DF172275C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611" y="6301595"/>
                <a:ext cx="629190" cy="369332"/>
              </a:xfrm>
              <a:prstGeom prst="rect">
                <a:avLst/>
              </a:prstGeom>
              <a:blipFill>
                <a:blip r:embed="rId10"/>
                <a:stretch>
                  <a:fillRect l="-2913" r="-11650"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8F86CF-5DE7-9A34-EB6B-43D428001D9A}"/>
                  </a:ext>
                </a:extLst>
              </p:cNvPr>
              <p:cNvSpPr txBox="1"/>
              <p:nvPr/>
            </p:nvSpPr>
            <p:spPr>
              <a:xfrm>
                <a:off x="9630750" y="4188511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0.4)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D8F86CF-5DE7-9A34-EB6B-43D428001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750" y="4188511"/>
                <a:ext cx="1800396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BAD5BD-E758-82D1-3226-B4E7353F3CF6}"/>
                  </a:ext>
                </a:extLst>
              </p:cNvPr>
              <p:cNvSpPr txBox="1"/>
              <p:nvPr/>
            </p:nvSpPr>
            <p:spPr>
              <a:xfrm>
                <a:off x="9630750" y="4605983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=(10.4,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06BAD5BD-E758-82D1-3226-B4E7353F3C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0750" y="4605983"/>
                <a:ext cx="1800396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F5C680-5204-60F6-155E-E16CB20018D1}"/>
                  </a:ext>
                </a:extLst>
              </p:cNvPr>
              <p:cNvSpPr txBox="1"/>
              <p:nvPr/>
            </p:nvSpPr>
            <p:spPr>
              <a:xfrm>
                <a:off x="9551533" y="3453687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=(4.4, 5.4)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73F5C680-5204-60F6-155E-E16CB20018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1533" y="3453687"/>
                <a:ext cx="1800396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7EAAD7-4295-522A-13FF-CC68B2285601}"/>
                  </a:ext>
                </a:extLst>
              </p:cNvPr>
              <p:cNvSpPr txBox="1"/>
              <p:nvPr/>
            </p:nvSpPr>
            <p:spPr>
              <a:xfrm>
                <a:off x="9546131" y="3059668"/>
                <a:ext cx="18003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IN" b="0" i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=(7.5, 9.2)</m:t>
                      </m:r>
                    </m:oMath>
                  </m:oMathPara>
                </a14:m>
                <a:endParaRPr lang="en-IN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B7EAAD7-4295-522A-13FF-CC68B2285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6131" y="3059668"/>
                <a:ext cx="1800396" cy="369332"/>
              </a:xfrm>
              <a:prstGeom prst="rect">
                <a:avLst/>
              </a:prstGeom>
              <a:blipFill>
                <a:blip r:embed="rId1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:a16="http://schemas.microsoft.com/office/drawing/2014/main" id="{54BD441D-A9F2-ACA0-7E39-83844D8CBD52}"/>
              </a:ext>
            </a:extLst>
          </p:cNvPr>
          <p:cNvSpPr txBox="1"/>
          <p:nvPr/>
        </p:nvSpPr>
        <p:spPr>
          <a:xfrm>
            <a:off x="9415722" y="2704600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latin typeface="Amasis MT Pro" panose="02040504050005020304" pitchFamily="18" charset="0"/>
              </a:rPr>
              <a:t>Where,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0BB067B-6C85-7F79-FD73-15D03E6601D0}"/>
              </a:ext>
            </a:extLst>
          </p:cNvPr>
          <p:cNvCxnSpPr/>
          <p:nvPr/>
        </p:nvCxnSpPr>
        <p:spPr>
          <a:xfrm flipV="1">
            <a:off x="4470217" y="4255180"/>
            <a:ext cx="2550681" cy="187270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426037-6382-1115-9F37-60A06EA7B1A8}"/>
              </a:ext>
            </a:extLst>
          </p:cNvPr>
          <p:cNvCxnSpPr>
            <a:cxnSpLocks/>
            <a:stCxn id="43" idx="1"/>
          </p:cNvCxnSpPr>
          <p:nvPr/>
        </p:nvCxnSpPr>
        <p:spPr>
          <a:xfrm flipH="1" flipV="1">
            <a:off x="4470217" y="4289466"/>
            <a:ext cx="2564383" cy="1773214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8274420-5CE4-D00D-0057-9303454BB402}"/>
              </a:ext>
            </a:extLst>
          </p:cNvPr>
          <p:cNvCxnSpPr>
            <a:cxnSpLocks/>
          </p:cNvCxnSpPr>
          <p:nvPr/>
        </p:nvCxnSpPr>
        <p:spPr>
          <a:xfrm>
            <a:off x="4456515" y="4255180"/>
            <a:ext cx="2594784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ircle: Hollow 13">
            <a:extLst>
              <a:ext uri="{FF2B5EF4-FFF2-40B4-BE49-F238E27FC236}">
                <a16:creationId xmlns:a16="http://schemas.microsoft.com/office/drawing/2014/main" id="{550D32E6-CD90-2D85-E08D-76A8C1335D8B}"/>
              </a:ext>
            </a:extLst>
          </p:cNvPr>
          <p:cNvSpPr/>
          <p:nvPr/>
        </p:nvSpPr>
        <p:spPr>
          <a:xfrm>
            <a:off x="5300364" y="4700378"/>
            <a:ext cx="914400" cy="914400"/>
          </a:xfrm>
          <a:prstGeom prst="don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BAD38D6-BF0D-6BF2-016B-12FB3BCA37A8}"/>
              </a:ext>
            </a:extLst>
          </p:cNvPr>
          <p:cNvSpPr/>
          <p:nvPr/>
        </p:nvSpPr>
        <p:spPr>
          <a:xfrm>
            <a:off x="2993210" y="4785440"/>
            <a:ext cx="2120845" cy="7225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CCD9806-4DF5-7EC9-2128-3B273D0C7BD7}"/>
              </a:ext>
            </a:extLst>
          </p:cNvPr>
          <p:cNvSpPr/>
          <p:nvPr/>
        </p:nvSpPr>
        <p:spPr>
          <a:xfrm>
            <a:off x="6386282" y="4794262"/>
            <a:ext cx="2120845" cy="72253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EDCCF8-52A2-950C-8263-9DFF7BB5D91C}"/>
              </a:ext>
            </a:extLst>
          </p:cNvPr>
          <p:cNvSpPr txBox="1"/>
          <p:nvPr/>
        </p:nvSpPr>
        <p:spPr>
          <a:xfrm>
            <a:off x="439410" y="1064131"/>
            <a:ext cx="1121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-03 </a:t>
            </a:r>
            <a:r>
              <a:rPr lang="en-IN" sz="2400" dirty="0">
                <a:latin typeface="Amasis MT Pro" panose="02040504050005020304" pitchFamily="18" charset="0"/>
              </a:rPr>
              <a:t>: Use Mid-point algorithm (for drawing circles and ellipses) and </a:t>
            </a:r>
            <a:r>
              <a:rPr lang="en-IN" sz="2400" dirty="0" err="1">
                <a:latin typeface="Amasis MT Pro" panose="02040504050005020304" pitchFamily="18" charset="0"/>
              </a:rPr>
              <a:t>Bresenham</a:t>
            </a:r>
            <a:r>
              <a:rPr lang="en-IN" sz="2400" dirty="0">
                <a:latin typeface="Amasis MT Pro" panose="02040504050005020304" pitchFamily="18" charset="0"/>
              </a:rPr>
              <a:t> Algorithm (to draw lines) to draw the graphics shown below.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27371A-AF77-B1BF-0B26-06FED91E01CF}"/>
              </a:ext>
            </a:extLst>
          </p:cNvPr>
          <p:cNvSpPr txBox="1"/>
          <p:nvPr/>
        </p:nvSpPr>
        <p:spPr>
          <a:xfrm>
            <a:off x="14941685" y="6031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9429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11919-3FDE-27A2-8B98-DC1753913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4E4381-73FA-FD5C-CFF3-AB8E80253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66" y="1"/>
            <a:ext cx="10981220" cy="836712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- 03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29E7E-A321-D16A-0800-7CE331A59BA4}"/>
              </a:ext>
            </a:extLst>
          </p:cNvPr>
          <p:cNvSpPr txBox="1"/>
          <p:nvPr/>
        </p:nvSpPr>
        <p:spPr>
          <a:xfrm>
            <a:off x="274558" y="885105"/>
            <a:ext cx="112108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-03 </a:t>
            </a:r>
            <a:r>
              <a:rPr lang="en-IN" sz="2400" dirty="0">
                <a:latin typeface="Amasis MT Pro" panose="02040504050005020304" pitchFamily="18" charset="0"/>
              </a:rPr>
              <a:t>: Draw the below graphics (final home). Colouring is not required.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73062C-7A66-9126-CC33-D59C03765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1346770"/>
            <a:ext cx="9793088" cy="500999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4BF1923-604E-5EE7-D10A-6E44D2B6EA08}"/>
              </a:ext>
            </a:extLst>
          </p:cNvPr>
          <p:cNvSpPr txBox="1"/>
          <p:nvPr/>
        </p:nvSpPr>
        <p:spPr>
          <a:xfrm>
            <a:off x="6816080" y="6537543"/>
            <a:ext cx="53285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>
                <a:latin typeface="Amasis MT Pro" panose="02040504050005020304" pitchFamily="18" charset="0"/>
                <a:hlinkClick r:id="rId3"/>
              </a:rPr>
              <a:t>https://www.easyartstart.com/how-to-draw-a-house-step-by-step/</a:t>
            </a:r>
            <a:endParaRPr lang="en-IN" sz="1400" dirty="0">
              <a:latin typeface="Amasis MT Pro" panose="020405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331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DA827-51E0-C756-6538-59C2A848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7391A03-F713-63E7-A8C8-6064D6DF5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366" y="1"/>
            <a:ext cx="10981220" cy="836712"/>
          </a:xfrm>
        </p:spPr>
        <p:txBody>
          <a:bodyPr>
            <a:normAutofit fontScale="90000"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Assignment - 04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5BD3E-1959-DBA5-2AC3-F8343B33B365}"/>
              </a:ext>
            </a:extLst>
          </p:cNvPr>
          <p:cNvSpPr txBox="1"/>
          <p:nvPr/>
        </p:nvSpPr>
        <p:spPr>
          <a:xfrm>
            <a:off x="331952" y="1015167"/>
            <a:ext cx="112108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400" b="1" dirty="0">
                <a:latin typeface="Amasis MT Pro" panose="02040504050005020304" pitchFamily="18" charset="0"/>
              </a:rPr>
              <a:t>Question -04 </a:t>
            </a:r>
            <a:r>
              <a:rPr lang="en-IN" sz="2400" dirty="0">
                <a:latin typeface="Amasis MT Pro" panose="02040504050005020304" pitchFamily="18" charset="0"/>
              </a:rPr>
              <a:t>: Approximate any one of the following using lines and curve and draw it.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9A4C73E-ED0C-A859-9D57-78F256EBD980}"/>
              </a:ext>
            </a:extLst>
          </p:cNvPr>
          <p:cNvGrpSpPr/>
          <p:nvPr/>
        </p:nvGrpSpPr>
        <p:grpSpPr>
          <a:xfrm>
            <a:off x="274558" y="2023838"/>
            <a:ext cx="11623117" cy="3958177"/>
            <a:chOff x="35501" y="2031273"/>
            <a:chExt cx="11623117" cy="395817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007B8C7-772F-6285-CE6C-55C7E01683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501" y="2492896"/>
              <a:ext cx="3475947" cy="257699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0003FFC-556C-3FA4-825F-7BD59E66A6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3793" y="2257301"/>
              <a:ext cx="3169193" cy="281778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3BF0D48-371F-B913-DED0-4756D63A7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68208" y="2031273"/>
              <a:ext cx="3690410" cy="311580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1B4760F-74E3-627D-8423-A5EE8648ED3E}"/>
                </a:ext>
              </a:extLst>
            </p:cNvPr>
            <p:cNvSpPr txBox="1"/>
            <p:nvPr/>
          </p:nvSpPr>
          <p:spPr>
            <a:xfrm>
              <a:off x="1349921" y="5620118"/>
              <a:ext cx="4363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(a)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B90345C-1019-A2E8-24EA-59D54670DB46}"/>
                </a:ext>
              </a:extLst>
            </p:cNvPr>
            <p:cNvSpPr txBox="1"/>
            <p:nvPr/>
          </p:nvSpPr>
          <p:spPr>
            <a:xfrm>
              <a:off x="5443638" y="5616285"/>
              <a:ext cx="447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(b)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CDE50E3-B610-E9F4-2104-7D30D91417CC}"/>
                </a:ext>
              </a:extLst>
            </p:cNvPr>
            <p:cNvSpPr txBox="1"/>
            <p:nvPr/>
          </p:nvSpPr>
          <p:spPr>
            <a:xfrm>
              <a:off x="10056440" y="5616285"/>
              <a:ext cx="4331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Amasis MT Pro" panose="02040504050005020304" pitchFamily="18" charset="0"/>
                </a:rPr>
                <a:t>(c)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92010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9288-850A-A649-67D3-7E81FABA2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414038-8B27-9D3F-2C68-1608A179A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456" y="2889667"/>
            <a:ext cx="9289032" cy="1078665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Amasis MT Pro" panose="02040504050005020304" pitchFamily="18" charset="0"/>
                <a:cs typeface="Times New Roman" panose="02020603050405020304" pitchFamily="18" charset="0"/>
              </a:rPr>
              <a:t>Thank you !</a:t>
            </a:r>
            <a:endParaRPr lang="en-IN" sz="2700" dirty="0">
              <a:latin typeface="Amasis MT Pro" panose="020405040500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2846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8661</TotalTime>
  <Words>799</Words>
  <Application>Microsoft Office PowerPoint</Application>
  <PresentationFormat>Widescreen</PresentationFormat>
  <Paragraphs>140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Amasis MT Pro</vt:lpstr>
      <vt:lpstr>Arial</vt:lpstr>
      <vt:lpstr>Calibri</vt:lpstr>
      <vt:lpstr>Cambria Math</vt:lpstr>
      <vt:lpstr>Wingdings</vt:lpstr>
      <vt:lpstr>Office Theme</vt:lpstr>
      <vt:lpstr>PowerPoint Presentation</vt:lpstr>
      <vt:lpstr>Objective of this lab</vt:lpstr>
      <vt:lpstr>Demo Assignment - 01</vt:lpstr>
      <vt:lpstr>Assignment - 02</vt:lpstr>
      <vt:lpstr>Assignment - 03</vt:lpstr>
      <vt:lpstr>Assignment - 03</vt:lpstr>
      <vt:lpstr>Assignment - 04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and Autonomous Systems</dc:title>
  <dc:creator>Dell</dc:creator>
  <cp:lastModifiedBy>Nayaab Aman</cp:lastModifiedBy>
  <cp:revision>287</cp:revision>
  <dcterms:created xsi:type="dcterms:W3CDTF">2019-07-26T07:10:10Z</dcterms:created>
  <dcterms:modified xsi:type="dcterms:W3CDTF">2026-08-30T06:08:57Z</dcterms:modified>
</cp:coreProperties>
</file>