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90" r:id="rId2"/>
    <p:sldId id="392" r:id="rId3"/>
    <p:sldId id="393" r:id="rId4"/>
    <p:sldId id="396" r:id="rId5"/>
    <p:sldId id="404" r:id="rId6"/>
    <p:sldId id="405" r:id="rId7"/>
    <p:sldId id="403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F81BD"/>
    <a:srgbClr val="25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6323" autoAdjust="0"/>
  </p:normalViewPr>
  <p:slideViewPr>
    <p:cSldViewPr>
      <p:cViewPr varScale="1">
        <p:scale>
          <a:sx n="63" d="100"/>
          <a:sy n="63" d="100"/>
        </p:scale>
        <p:origin x="916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24A1-837C-427E-A09E-F69BE28790E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20EA-AEA3-4928-999E-F2B4A3EAE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A8F8-2F5C-1739-7C6E-9DC31B1C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A815-896A-0E39-6ABB-8C7D9461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A313-15FC-4883-CAC9-A00F5852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6EF5E-4409-D843-55F1-430F51231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F5C-E4D2-4B32-ACFC-7F4BB6D354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7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3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59CC-92EB-41BE-8A78-21811B536BE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5989-633D-423F-BC88-6C5916D4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E26F4-3F9F-44D3-CC67-1987E8B26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C24924-1FBF-A688-9802-3B462389E627}"/>
              </a:ext>
            </a:extLst>
          </p:cNvPr>
          <p:cNvSpPr txBox="1">
            <a:spLocks/>
          </p:cNvSpPr>
          <p:nvPr/>
        </p:nvSpPr>
        <p:spPr>
          <a:xfrm>
            <a:off x="755092" y="63213"/>
            <a:ext cx="11287000" cy="118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n-IN" sz="3200" dirty="0">
                <a:latin typeface="Amasis MT Pro" panose="02040504050005020304" pitchFamily="18" charset="0"/>
              </a:rPr>
              <a:t>Atal Bihari Vajpayee</a:t>
            </a:r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ts val="3800"/>
              </a:lnSpc>
            </a:pPr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Indian Institute of Information Technology and Management Gwalior</a:t>
            </a:r>
            <a:endParaRPr lang="en-IN" sz="2400" dirty="0">
              <a:solidFill>
                <a:srgbClr val="00206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274C5-6B84-C83C-4FF4-C5E58FBC7A29}"/>
              </a:ext>
            </a:extLst>
          </p:cNvPr>
          <p:cNvSpPr txBox="1">
            <a:spLocks/>
          </p:cNvSpPr>
          <p:nvPr/>
        </p:nvSpPr>
        <p:spPr>
          <a:xfrm>
            <a:off x="77319" y="3982819"/>
            <a:ext cx="11584217" cy="904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Instructor – Dr. Sunil Kumar</a:t>
            </a:r>
          </a:p>
          <a:p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Assistant Professor @ Dept. of Information Technology, ABV-IIITM Gwalior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2E2BD-7408-EBD3-0654-F31C8B4A920D}"/>
              </a:ext>
            </a:extLst>
          </p:cNvPr>
          <p:cNvSpPr txBox="1"/>
          <p:nvPr/>
        </p:nvSpPr>
        <p:spPr>
          <a:xfrm>
            <a:off x="3337698" y="1860689"/>
            <a:ext cx="5216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Computer Graphics Lab </a:t>
            </a:r>
            <a:r>
              <a:rPr lang="en-IN" sz="3200">
                <a:solidFill>
                  <a:srgbClr val="FF000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: 07 </a:t>
            </a:r>
            <a:endParaRPr lang="en-IN" sz="3200" dirty="0">
              <a:solidFill>
                <a:srgbClr val="FF000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4E02E7-BC8E-682A-CFDF-F90BB0E57D57}"/>
              </a:ext>
            </a:extLst>
          </p:cNvPr>
          <p:cNvSpPr txBox="1">
            <a:spLocks/>
          </p:cNvSpPr>
          <p:nvPr/>
        </p:nvSpPr>
        <p:spPr>
          <a:xfrm>
            <a:off x="119332" y="2353458"/>
            <a:ext cx="11653219" cy="131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Spline-based Object Representation</a:t>
            </a:r>
            <a:endParaRPr lang="en-IN" sz="66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5651A-21A4-C99E-CAA4-C4200504666B}"/>
              </a:ext>
            </a:extLst>
          </p:cNvPr>
          <p:cNvSpPr txBox="1"/>
          <p:nvPr/>
        </p:nvSpPr>
        <p:spPr>
          <a:xfrm>
            <a:off x="4079776" y="5072395"/>
            <a:ext cx="3333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masis MT Pro" panose="02040504050005020304" pitchFamily="18" charset="0"/>
              </a:rPr>
              <a:t>Teaching Assistants (TAs)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56F29B-05AE-A956-F5E2-9B12B9459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256102"/>
              </p:ext>
            </p:extLst>
          </p:nvPr>
        </p:nvGraphicFramePr>
        <p:xfrm>
          <a:off x="1118815" y="5517232"/>
          <a:ext cx="980172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77561">
                  <a:extLst>
                    <a:ext uri="{9D8B030D-6E8A-4147-A177-3AD203B41FA5}">
                      <a16:colId xmlns:a16="http://schemas.microsoft.com/office/drawing/2014/main" val="1573689763"/>
                    </a:ext>
                  </a:extLst>
                </a:gridCol>
                <a:gridCol w="2724160">
                  <a:extLst>
                    <a:ext uri="{9D8B030D-6E8A-4147-A177-3AD203B41FA5}">
                      <a16:colId xmlns:a16="http://schemas.microsoft.com/office/drawing/2014/main" val="259263770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Mehr Aliah, Sheel Patel, Aditya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Group-02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6418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Anushka Agarwal, Abhishek Shrivastav, Radhika Gupta, Pranav 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Group-01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71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F1E8-DCE4-BEE6-DFAB-914C981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59F738-7F80-DEA7-1E96-CE9D17B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Objective of this lab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C9E49-F404-61F5-1919-0D92173B30B4}"/>
              </a:ext>
            </a:extLst>
          </p:cNvPr>
          <p:cNvSpPr txBox="1"/>
          <p:nvPr/>
        </p:nvSpPr>
        <p:spPr>
          <a:xfrm>
            <a:off x="1415480" y="1700808"/>
            <a:ext cx="92890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 objective of this lab is to represent and approximate 2D object boundaries using spline curves. The lab involves selecting control points and studying first-order, second-order, and third-order splines for smooth and accurate object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17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32DF-BC1C-2F17-6310-E9917EA6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6162F0-F306-727E-B582-2DD0A030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00B05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Demo</a:t>
            </a:r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 Assignment – 01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DEA07-8C83-398C-5BFA-BA60B69CE90F}"/>
              </a:ext>
            </a:extLst>
          </p:cNvPr>
          <p:cNvSpPr txBox="1"/>
          <p:nvPr/>
        </p:nvSpPr>
        <p:spPr>
          <a:xfrm>
            <a:off x="191344" y="926185"/>
            <a:ext cx="1217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Draw a cubic </a:t>
            </a:r>
            <a:r>
              <a:rPr lang="en-IN" dirty="0" err="1"/>
              <a:t>Bézier</a:t>
            </a:r>
            <a:r>
              <a:rPr lang="en-IN" dirty="0"/>
              <a:t> spline curve using four control points and display the resulting curve on the computer screen using OpenGL.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FE05E-9E6A-A9CA-980E-B8A27A1EB13A}"/>
              </a:ext>
            </a:extLst>
          </p:cNvPr>
          <p:cNvSpPr txBox="1"/>
          <p:nvPr/>
        </p:nvSpPr>
        <p:spPr>
          <a:xfrm>
            <a:off x="551384" y="1772816"/>
            <a:ext cx="288032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#include &lt;GL/</a:t>
            </a:r>
            <a:r>
              <a:rPr lang="en-IN" sz="1200" dirty="0" err="1"/>
              <a:t>freeglut.h</a:t>
            </a:r>
            <a:r>
              <a:rPr lang="en-IN" sz="1200" dirty="0"/>
              <a:t>&gt;</a:t>
            </a:r>
          </a:p>
          <a:p>
            <a:r>
              <a:rPr lang="en-IN" sz="1200" dirty="0"/>
              <a:t>void display()</a:t>
            </a:r>
          </a:p>
          <a:p>
            <a:r>
              <a:rPr lang="en-IN" sz="1200" dirty="0"/>
              <a:t>{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glClear</a:t>
            </a:r>
            <a:r>
              <a:rPr lang="en-IN" sz="1200" dirty="0"/>
              <a:t>(GL_COLOR_BUFFER_BIT);</a:t>
            </a:r>
          </a:p>
          <a:p>
            <a:endParaRPr lang="en-IN" sz="1200" dirty="0"/>
          </a:p>
          <a:p>
            <a:r>
              <a:rPr lang="en-IN" sz="1200" dirty="0"/>
              <a:t>    float x0 = 1.0f, y0 = 2.0f;</a:t>
            </a:r>
          </a:p>
          <a:p>
            <a:r>
              <a:rPr lang="en-IN" sz="1200" dirty="0"/>
              <a:t>    float x1 = 3.0f, y1 = 8.0f;</a:t>
            </a:r>
          </a:p>
          <a:p>
            <a:r>
              <a:rPr lang="en-IN" sz="1200" dirty="0"/>
              <a:t>    float x2 = 6.0f, y2 = 8.0f;</a:t>
            </a:r>
          </a:p>
          <a:p>
            <a:r>
              <a:rPr lang="en-IN" sz="1200" dirty="0"/>
              <a:t>    float x3 = 8.0f, y3 = 2.0f;</a:t>
            </a:r>
          </a:p>
          <a:p>
            <a:r>
              <a:rPr lang="en-IN" sz="1200" dirty="0"/>
              <a:t>    // Control polygon</a:t>
            </a:r>
          </a:p>
          <a:p>
            <a:r>
              <a:rPr lang="en-IN" sz="1200" dirty="0"/>
              <a:t>    glColor3f(0.6f, 0.6f, 0.6f);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glBegin</a:t>
            </a:r>
            <a:r>
              <a:rPr lang="en-IN" sz="1200" dirty="0"/>
              <a:t>(GL_LINE_STRIP);</a:t>
            </a:r>
          </a:p>
          <a:p>
            <a:r>
              <a:rPr lang="en-IN" sz="1200" dirty="0"/>
              <a:t>        glVertex2f(x0, y0);</a:t>
            </a:r>
          </a:p>
          <a:p>
            <a:r>
              <a:rPr lang="en-IN" sz="1200" dirty="0"/>
              <a:t>        glVertex2f(x1, y1);</a:t>
            </a:r>
          </a:p>
          <a:p>
            <a:r>
              <a:rPr lang="en-IN" sz="1200" dirty="0"/>
              <a:t>        glVertex2f(x2, y2);</a:t>
            </a:r>
          </a:p>
          <a:p>
            <a:r>
              <a:rPr lang="en-IN" sz="1200" dirty="0"/>
              <a:t>        glVertex2f(x3, y3);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glEnd</a:t>
            </a:r>
            <a:r>
              <a:rPr lang="en-IN" sz="1200" dirty="0"/>
              <a:t>();</a:t>
            </a:r>
          </a:p>
          <a:p>
            <a:r>
              <a:rPr lang="en-IN" sz="1200" dirty="0"/>
              <a:t>  // Cubic Bezier curve</a:t>
            </a:r>
          </a:p>
          <a:p>
            <a:r>
              <a:rPr lang="en-IN" sz="1200" dirty="0"/>
              <a:t>    glColor3f(0.0f, 0.0f, 1.0f);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glLineWidth</a:t>
            </a:r>
            <a:r>
              <a:rPr lang="en-IN" sz="1200" dirty="0"/>
              <a:t>(3.0f);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glBegin</a:t>
            </a:r>
            <a:r>
              <a:rPr lang="en-IN" sz="1200" dirty="0"/>
              <a:t>(GL_LINE_STRIP);</a:t>
            </a:r>
          </a:p>
          <a:p>
            <a:r>
              <a:rPr lang="en-IN" sz="1200" dirty="0"/>
              <a:t>    for (int </a:t>
            </a:r>
            <a:r>
              <a:rPr lang="en-IN" sz="1200" dirty="0" err="1"/>
              <a:t>i</a:t>
            </a:r>
            <a:r>
              <a:rPr lang="en-IN" sz="1200" dirty="0"/>
              <a:t> = 0; </a:t>
            </a:r>
            <a:r>
              <a:rPr lang="en-IN" sz="1200" dirty="0" err="1"/>
              <a:t>i</a:t>
            </a:r>
            <a:r>
              <a:rPr lang="en-IN" sz="1200" dirty="0"/>
              <a:t> &lt;= 100; </a:t>
            </a:r>
            <a:r>
              <a:rPr lang="en-IN" sz="1200" dirty="0" err="1"/>
              <a:t>i</a:t>
            </a:r>
            <a:r>
              <a:rPr lang="en-IN" sz="1200" dirty="0"/>
              <a:t>++)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DC701-A843-2BA6-5F3C-01F07F970A84}"/>
              </a:ext>
            </a:extLst>
          </p:cNvPr>
          <p:cNvSpPr txBox="1"/>
          <p:nvPr/>
        </p:nvSpPr>
        <p:spPr>
          <a:xfrm>
            <a:off x="3071664" y="1844824"/>
            <a:ext cx="223224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    {</a:t>
            </a:r>
          </a:p>
          <a:p>
            <a:r>
              <a:rPr lang="en-IN" sz="1200" dirty="0"/>
              <a:t>        float t = </a:t>
            </a:r>
            <a:r>
              <a:rPr lang="en-IN" sz="1200" dirty="0" err="1"/>
              <a:t>i</a:t>
            </a:r>
            <a:r>
              <a:rPr lang="en-IN" sz="1200" dirty="0"/>
              <a:t> / 100.0f;</a:t>
            </a:r>
          </a:p>
          <a:p>
            <a:r>
              <a:rPr lang="en-IN" sz="1200" dirty="0"/>
              <a:t>        float u = 1.0f - t;</a:t>
            </a:r>
          </a:p>
          <a:p>
            <a:r>
              <a:rPr lang="en-IN" sz="1200" dirty="0"/>
              <a:t>        float x = u*u*u*x0</a:t>
            </a:r>
          </a:p>
          <a:p>
            <a:r>
              <a:rPr lang="en-IN" sz="1200" dirty="0"/>
              <a:t>                + 3*u*u*t*x1</a:t>
            </a:r>
          </a:p>
          <a:p>
            <a:r>
              <a:rPr lang="en-IN" sz="1200" dirty="0"/>
              <a:t>                + 3*u*t*t*x2</a:t>
            </a:r>
          </a:p>
          <a:p>
            <a:r>
              <a:rPr lang="en-IN" sz="1200" dirty="0"/>
              <a:t>                + t*t*t*x3;</a:t>
            </a:r>
          </a:p>
          <a:p>
            <a:r>
              <a:rPr lang="en-IN" sz="1200" dirty="0"/>
              <a:t>        float y = u*u*u*y0</a:t>
            </a:r>
          </a:p>
          <a:p>
            <a:r>
              <a:rPr lang="en-IN" sz="1200" dirty="0"/>
              <a:t>                + 3*u*u*t*y1</a:t>
            </a:r>
          </a:p>
          <a:p>
            <a:r>
              <a:rPr lang="en-IN" sz="1200" dirty="0"/>
              <a:t>                + 3*u*t*t*y2</a:t>
            </a:r>
          </a:p>
          <a:p>
            <a:r>
              <a:rPr lang="en-IN" sz="1200" dirty="0"/>
              <a:t>                + t*t*t*y3;</a:t>
            </a:r>
          </a:p>
          <a:p>
            <a:r>
              <a:rPr lang="en-IN" sz="1200" dirty="0"/>
              <a:t>        glVertex2f(x, y);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glEnd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glFlush</a:t>
            </a:r>
            <a:r>
              <a:rPr lang="en-IN" sz="1200" dirty="0"/>
              <a:t>();</a:t>
            </a:r>
          </a:p>
          <a:p>
            <a:r>
              <a:rPr lang="en-IN" sz="1200" dirty="0"/>
              <a:t>}</a:t>
            </a:r>
          </a:p>
          <a:p>
            <a:r>
              <a:rPr lang="en-IN" sz="1200" dirty="0"/>
              <a:t>void </a:t>
            </a:r>
            <a:r>
              <a:rPr lang="en-IN" sz="1200" dirty="0" err="1"/>
              <a:t>init</a:t>
            </a:r>
            <a:r>
              <a:rPr lang="en-IN" sz="1200" dirty="0"/>
              <a:t>()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13F6E-47D2-7339-D744-D057006EA673}"/>
              </a:ext>
            </a:extLst>
          </p:cNvPr>
          <p:cNvSpPr txBox="1"/>
          <p:nvPr/>
        </p:nvSpPr>
        <p:spPr>
          <a:xfrm>
            <a:off x="5447928" y="1772816"/>
            <a:ext cx="3390928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{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glClearColor</a:t>
            </a:r>
            <a:r>
              <a:rPr lang="en-IN" sz="1200" dirty="0"/>
              <a:t>(1.0f, 1.0f, 1.0f, 1.0f);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glMatrixMode</a:t>
            </a:r>
            <a:r>
              <a:rPr lang="en-IN" sz="1200" dirty="0"/>
              <a:t>(GL_PROJECTION);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glLoadIdentity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glOrtho</a:t>
            </a:r>
            <a:r>
              <a:rPr lang="en-IN" sz="1200" dirty="0"/>
              <a:t>(0, 10, 0, 10, -1, 1);</a:t>
            </a:r>
          </a:p>
          <a:p>
            <a:r>
              <a:rPr lang="en-IN" sz="1200" dirty="0"/>
              <a:t>}</a:t>
            </a:r>
          </a:p>
          <a:p>
            <a:r>
              <a:rPr lang="en-IN" sz="1200" dirty="0"/>
              <a:t>int main(int </a:t>
            </a:r>
            <a:r>
              <a:rPr lang="en-IN" sz="1200" dirty="0" err="1"/>
              <a:t>argc</a:t>
            </a:r>
            <a:r>
              <a:rPr lang="en-IN" sz="1200" dirty="0"/>
              <a:t>, char** </a:t>
            </a:r>
            <a:r>
              <a:rPr lang="en-IN" sz="1200" dirty="0" err="1"/>
              <a:t>argv</a:t>
            </a:r>
            <a:r>
              <a:rPr lang="en-IN" sz="1200" dirty="0"/>
              <a:t>)</a:t>
            </a:r>
          </a:p>
          <a:p>
            <a:r>
              <a:rPr lang="en-IN" sz="1200" dirty="0"/>
              <a:t>{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glutInit</a:t>
            </a:r>
            <a:r>
              <a:rPr lang="en-IN" sz="1200" dirty="0"/>
              <a:t>(&amp;</a:t>
            </a:r>
            <a:r>
              <a:rPr lang="en-IN" sz="1200" dirty="0" err="1"/>
              <a:t>argc</a:t>
            </a:r>
            <a:r>
              <a:rPr lang="en-IN" sz="1200" dirty="0"/>
              <a:t>, </a:t>
            </a:r>
            <a:r>
              <a:rPr lang="en-IN" sz="1200" dirty="0" err="1"/>
              <a:t>argv</a:t>
            </a:r>
            <a:r>
              <a:rPr lang="en-IN" sz="1200" dirty="0"/>
              <a:t>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glutInitDisplayMode</a:t>
            </a:r>
            <a:r>
              <a:rPr lang="en-IN" sz="1200" dirty="0"/>
              <a:t>(GLUT_SINGLE | GLUT_RGB);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glutInitWindowSize</a:t>
            </a:r>
            <a:r>
              <a:rPr lang="en-IN" sz="1200" dirty="0"/>
              <a:t>(600, 600);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glutCreateWindow</a:t>
            </a:r>
            <a:r>
              <a:rPr lang="en-IN" sz="1200" dirty="0"/>
              <a:t>("Cubic Bezier Spline Demo");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init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glutDisplayFunc</a:t>
            </a:r>
            <a:r>
              <a:rPr lang="en-IN" sz="1200" dirty="0"/>
              <a:t>(display);</a:t>
            </a:r>
          </a:p>
          <a:p>
            <a:r>
              <a:rPr lang="en-IN" sz="1200" dirty="0"/>
              <a:t>    </a:t>
            </a:r>
            <a:r>
              <a:rPr lang="en-IN" sz="1200" dirty="0" err="1"/>
              <a:t>glutMainLoop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return 0;</a:t>
            </a:r>
          </a:p>
          <a:p>
            <a:r>
              <a:rPr lang="en-IN" sz="1200" dirty="0"/>
              <a:t>}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03C245-03D2-A631-5685-CADB54061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872" y="3212976"/>
            <a:ext cx="3089792" cy="350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8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9133-7747-2C51-21FE-2293D3DB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2AA35A-1FEB-7D74-F85F-A163C664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331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- 02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86B7F-BCB4-D2F1-067D-2BA8A857C698}"/>
              </a:ext>
            </a:extLst>
          </p:cNvPr>
          <p:cNvSpPr txBox="1"/>
          <p:nvPr/>
        </p:nvSpPr>
        <p:spPr>
          <a:xfrm>
            <a:off x="298571" y="832113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-02 </a:t>
            </a:r>
            <a:r>
              <a:rPr lang="en-IN" sz="2400" dirty="0">
                <a:latin typeface="Amasis MT Pro" panose="02040504050005020304" pitchFamily="18" charset="0"/>
              </a:rPr>
              <a:t>: Using OpenGL, localize 3D control points on the object shown below.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3E6653-9373-DAD9-D2AF-764E963F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378" y="1844824"/>
            <a:ext cx="6734175" cy="434340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7780E87-A957-1BB6-6B3B-A95862151CEC}"/>
              </a:ext>
            </a:extLst>
          </p:cNvPr>
          <p:cNvSpPr/>
          <p:nvPr/>
        </p:nvSpPr>
        <p:spPr>
          <a:xfrm>
            <a:off x="4263766" y="2683043"/>
            <a:ext cx="4718528" cy="3517732"/>
          </a:xfrm>
          <a:custGeom>
            <a:avLst/>
            <a:gdLst>
              <a:gd name="connsiteX0" fmla="*/ 79634 w 4718528"/>
              <a:gd name="connsiteY0" fmla="*/ 3031957 h 3517732"/>
              <a:gd name="connsiteX1" fmla="*/ 641609 w 4718528"/>
              <a:gd name="connsiteY1" fmla="*/ 2889082 h 3517732"/>
              <a:gd name="connsiteX2" fmla="*/ 1251209 w 4718528"/>
              <a:gd name="connsiteY2" fmla="*/ 2298532 h 3517732"/>
              <a:gd name="connsiteX3" fmla="*/ 2365634 w 4718528"/>
              <a:gd name="connsiteY3" fmla="*/ 1269832 h 3517732"/>
              <a:gd name="connsiteX4" fmla="*/ 3603884 w 4718528"/>
              <a:gd name="connsiteY4" fmla="*/ 584032 h 3517732"/>
              <a:gd name="connsiteX5" fmla="*/ 4356359 w 4718528"/>
              <a:gd name="connsiteY5" fmla="*/ 507832 h 3517732"/>
              <a:gd name="connsiteX6" fmla="*/ 4556384 w 4718528"/>
              <a:gd name="connsiteY6" fmla="*/ 384007 h 3517732"/>
              <a:gd name="connsiteX7" fmla="*/ 4489709 w 4718528"/>
              <a:gd name="connsiteY7" fmla="*/ 3007 h 3517732"/>
              <a:gd name="connsiteX8" fmla="*/ 4718309 w 4718528"/>
              <a:gd name="connsiteY8" fmla="*/ 612607 h 3517732"/>
              <a:gd name="connsiteX9" fmla="*/ 4442084 w 4718528"/>
              <a:gd name="connsiteY9" fmla="*/ 1593682 h 3517732"/>
              <a:gd name="connsiteX10" fmla="*/ 3899159 w 4718528"/>
              <a:gd name="connsiteY10" fmla="*/ 2165182 h 3517732"/>
              <a:gd name="connsiteX11" fmla="*/ 3289559 w 4718528"/>
              <a:gd name="connsiteY11" fmla="*/ 2384257 h 3517732"/>
              <a:gd name="connsiteX12" fmla="*/ 2603759 w 4718528"/>
              <a:gd name="connsiteY12" fmla="*/ 2622382 h 3517732"/>
              <a:gd name="connsiteX13" fmla="*/ 1832234 w 4718528"/>
              <a:gd name="connsiteY13" fmla="*/ 3012907 h 3517732"/>
              <a:gd name="connsiteX14" fmla="*/ 1146434 w 4718528"/>
              <a:gd name="connsiteY14" fmla="*/ 3384382 h 3517732"/>
              <a:gd name="connsiteX15" fmla="*/ 632084 w 4718528"/>
              <a:gd name="connsiteY15" fmla="*/ 3517732 h 3517732"/>
              <a:gd name="connsiteX16" fmla="*/ 60584 w 4718528"/>
              <a:gd name="connsiteY16" fmla="*/ 3470107 h 3517732"/>
              <a:gd name="connsiteX17" fmla="*/ 79634 w 4718528"/>
              <a:gd name="connsiteY17" fmla="*/ 3031957 h 351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18528" h="3517732">
                <a:moveTo>
                  <a:pt x="79634" y="3031957"/>
                </a:moveTo>
                <a:cubicBezTo>
                  <a:pt x="176471" y="2935120"/>
                  <a:pt x="446347" y="3011319"/>
                  <a:pt x="641609" y="2889082"/>
                </a:cubicBezTo>
                <a:cubicBezTo>
                  <a:pt x="836872" y="2766844"/>
                  <a:pt x="963872" y="2568407"/>
                  <a:pt x="1251209" y="2298532"/>
                </a:cubicBezTo>
                <a:cubicBezTo>
                  <a:pt x="1538546" y="2028657"/>
                  <a:pt x="1973522" y="1555582"/>
                  <a:pt x="2365634" y="1269832"/>
                </a:cubicBezTo>
                <a:cubicBezTo>
                  <a:pt x="2757747" y="984082"/>
                  <a:pt x="3272097" y="711032"/>
                  <a:pt x="3603884" y="584032"/>
                </a:cubicBezTo>
                <a:cubicBezTo>
                  <a:pt x="3935671" y="457032"/>
                  <a:pt x="4197609" y="541169"/>
                  <a:pt x="4356359" y="507832"/>
                </a:cubicBezTo>
                <a:cubicBezTo>
                  <a:pt x="4515109" y="474495"/>
                  <a:pt x="4534159" y="468144"/>
                  <a:pt x="4556384" y="384007"/>
                </a:cubicBezTo>
                <a:cubicBezTo>
                  <a:pt x="4578609" y="299869"/>
                  <a:pt x="4462722" y="-35093"/>
                  <a:pt x="4489709" y="3007"/>
                </a:cubicBezTo>
                <a:cubicBezTo>
                  <a:pt x="4516696" y="41107"/>
                  <a:pt x="4726246" y="347495"/>
                  <a:pt x="4718309" y="612607"/>
                </a:cubicBezTo>
                <a:cubicBezTo>
                  <a:pt x="4710372" y="877719"/>
                  <a:pt x="4578609" y="1334920"/>
                  <a:pt x="4442084" y="1593682"/>
                </a:cubicBezTo>
                <a:cubicBezTo>
                  <a:pt x="4305559" y="1852444"/>
                  <a:pt x="4091247" y="2033419"/>
                  <a:pt x="3899159" y="2165182"/>
                </a:cubicBezTo>
                <a:cubicBezTo>
                  <a:pt x="3707072" y="2296944"/>
                  <a:pt x="3289559" y="2384257"/>
                  <a:pt x="3289559" y="2384257"/>
                </a:cubicBezTo>
                <a:cubicBezTo>
                  <a:pt x="3073659" y="2460457"/>
                  <a:pt x="2846646" y="2517607"/>
                  <a:pt x="2603759" y="2622382"/>
                </a:cubicBezTo>
                <a:cubicBezTo>
                  <a:pt x="2360872" y="2727157"/>
                  <a:pt x="2075121" y="2885907"/>
                  <a:pt x="1832234" y="3012907"/>
                </a:cubicBezTo>
                <a:cubicBezTo>
                  <a:pt x="1589347" y="3139907"/>
                  <a:pt x="1346459" y="3300245"/>
                  <a:pt x="1146434" y="3384382"/>
                </a:cubicBezTo>
                <a:cubicBezTo>
                  <a:pt x="946409" y="3468519"/>
                  <a:pt x="813059" y="3503445"/>
                  <a:pt x="632084" y="3517732"/>
                </a:cubicBezTo>
                <a:lnTo>
                  <a:pt x="60584" y="3470107"/>
                </a:lnTo>
                <a:cubicBezTo>
                  <a:pt x="-28316" y="3385970"/>
                  <a:pt x="-17203" y="3128794"/>
                  <a:pt x="79634" y="3031957"/>
                </a:cubicBezTo>
                <a:close/>
              </a:path>
            </a:pathLst>
          </a:custGeom>
          <a:solidFill>
            <a:srgbClr val="3366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2A9D2C-908B-31BF-D788-EBF577A80D19}"/>
              </a:ext>
            </a:extLst>
          </p:cNvPr>
          <p:cNvSpPr/>
          <p:nvPr/>
        </p:nvSpPr>
        <p:spPr>
          <a:xfrm>
            <a:off x="4799856" y="5445224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A8FBD6-48E4-C74D-AC08-1F651C17709B}"/>
              </a:ext>
            </a:extLst>
          </p:cNvPr>
          <p:cNvSpPr/>
          <p:nvPr/>
        </p:nvSpPr>
        <p:spPr>
          <a:xfrm>
            <a:off x="6623030" y="3800500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B65EDB-1FA3-675A-B028-B0114046D459}"/>
              </a:ext>
            </a:extLst>
          </p:cNvPr>
          <p:cNvSpPr/>
          <p:nvPr/>
        </p:nvSpPr>
        <p:spPr>
          <a:xfrm>
            <a:off x="8256240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493C62-CA7E-58CD-0528-109F37E918A9}"/>
              </a:ext>
            </a:extLst>
          </p:cNvPr>
          <p:cNvSpPr/>
          <p:nvPr/>
        </p:nvSpPr>
        <p:spPr>
          <a:xfrm>
            <a:off x="8616280" y="2575031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BD2B21-4284-614E-63FA-D3D1C1B3A89B}"/>
              </a:ext>
            </a:extLst>
          </p:cNvPr>
          <p:cNvSpPr/>
          <p:nvPr/>
        </p:nvSpPr>
        <p:spPr>
          <a:xfrm>
            <a:off x="8766270" y="3692488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82D93E-7B27-5F5F-1150-A731C1139DC9}"/>
              </a:ext>
            </a:extLst>
          </p:cNvPr>
          <p:cNvSpPr/>
          <p:nvPr/>
        </p:nvSpPr>
        <p:spPr>
          <a:xfrm>
            <a:off x="8159236" y="4628592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4B5AE9-EA3E-9270-7F4E-BED6425EF6C4}"/>
              </a:ext>
            </a:extLst>
          </p:cNvPr>
          <p:cNvSpPr/>
          <p:nvPr/>
        </p:nvSpPr>
        <p:spPr>
          <a:xfrm>
            <a:off x="6839054" y="5133981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F6D6E5-341F-775F-A364-EF7C3E0D164F}"/>
              </a:ext>
            </a:extLst>
          </p:cNvPr>
          <p:cNvSpPr/>
          <p:nvPr/>
        </p:nvSpPr>
        <p:spPr>
          <a:xfrm>
            <a:off x="4907868" y="6005279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06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0AAE-01E2-1693-FC54-D121463D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FAEF3A9-DDEA-E326-9CF6-4B0BD722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331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- 03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68354-8641-6C3E-C257-9E166E4AC782}"/>
              </a:ext>
            </a:extLst>
          </p:cNvPr>
          <p:cNvSpPr txBox="1"/>
          <p:nvPr/>
        </p:nvSpPr>
        <p:spPr>
          <a:xfrm>
            <a:off x="386856" y="1034639"/>
            <a:ext cx="112108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-03 </a:t>
            </a:r>
            <a:r>
              <a:rPr lang="en-IN" sz="2400" dirty="0">
                <a:latin typeface="Amasis MT Pro" panose="02040504050005020304" pitchFamily="18" charset="0"/>
              </a:rPr>
              <a:t>: Approximate the boundary using: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 First order spline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2</a:t>
            </a:r>
            <a:r>
              <a:rPr lang="en-IN" sz="2400" baseline="30000" dirty="0">
                <a:latin typeface="Amasis MT Pro" panose="02040504050005020304" pitchFamily="18" charset="0"/>
              </a:rPr>
              <a:t>nd</a:t>
            </a:r>
            <a:r>
              <a:rPr lang="en-IN" sz="2400" dirty="0">
                <a:latin typeface="Amasis MT Pro" panose="02040504050005020304" pitchFamily="18" charset="0"/>
              </a:rPr>
              <a:t> Order spline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3</a:t>
            </a:r>
            <a:r>
              <a:rPr lang="en-IN" sz="2400" baseline="30000" dirty="0">
                <a:latin typeface="Amasis MT Pro" panose="02040504050005020304" pitchFamily="18" charset="0"/>
              </a:rPr>
              <a:t>rd</a:t>
            </a:r>
            <a:r>
              <a:rPr lang="en-IN" sz="2400" dirty="0">
                <a:latin typeface="Amasis MT Pro" panose="02040504050005020304" pitchFamily="18" charset="0"/>
              </a:rPr>
              <a:t> order spline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B00DF1-87DA-4E1B-E3E4-ACA38EBACE2F}"/>
              </a:ext>
            </a:extLst>
          </p:cNvPr>
          <p:cNvGrpSpPr/>
          <p:nvPr/>
        </p:nvGrpSpPr>
        <p:grpSpPr>
          <a:xfrm>
            <a:off x="6168008" y="3080945"/>
            <a:ext cx="4953774" cy="2980735"/>
            <a:chOff x="2510378" y="1844824"/>
            <a:chExt cx="6734175" cy="4376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A7B1DA-A9EF-3741-E7E6-E0F5DAD3C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0378" y="1844824"/>
              <a:ext cx="6734175" cy="4343400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5AC7A3-7EDF-9C04-FBBA-5E76D9A8D951}"/>
                </a:ext>
              </a:extLst>
            </p:cNvPr>
            <p:cNvSpPr/>
            <p:nvPr/>
          </p:nvSpPr>
          <p:spPr>
            <a:xfrm>
              <a:off x="4263766" y="2683043"/>
              <a:ext cx="4718528" cy="3517732"/>
            </a:xfrm>
            <a:custGeom>
              <a:avLst/>
              <a:gdLst>
                <a:gd name="connsiteX0" fmla="*/ 79634 w 4718528"/>
                <a:gd name="connsiteY0" fmla="*/ 3031957 h 3517732"/>
                <a:gd name="connsiteX1" fmla="*/ 641609 w 4718528"/>
                <a:gd name="connsiteY1" fmla="*/ 2889082 h 3517732"/>
                <a:gd name="connsiteX2" fmla="*/ 1251209 w 4718528"/>
                <a:gd name="connsiteY2" fmla="*/ 2298532 h 3517732"/>
                <a:gd name="connsiteX3" fmla="*/ 2365634 w 4718528"/>
                <a:gd name="connsiteY3" fmla="*/ 1269832 h 3517732"/>
                <a:gd name="connsiteX4" fmla="*/ 3603884 w 4718528"/>
                <a:gd name="connsiteY4" fmla="*/ 584032 h 3517732"/>
                <a:gd name="connsiteX5" fmla="*/ 4356359 w 4718528"/>
                <a:gd name="connsiteY5" fmla="*/ 507832 h 3517732"/>
                <a:gd name="connsiteX6" fmla="*/ 4556384 w 4718528"/>
                <a:gd name="connsiteY6" fmla="*/ 384007 h 3517732"/>
                <a:gd name="connsiteX7" fmla="*/ 4489709 w 4718528"/>
                <a:gd name="connsiteY7" fmla="*/ 3007 h 3517732"/>
                <a:gd name="connsiteX8" fmla="*/ 4718309 w 4718528"/>
                <a:gd name="connsiteY8" fmla="*/ 612607 h 3517732"/>
                <a:gd name="connsiteX9" fmla="*/ 4442084 w 4718528"/>
                <a:gd name="connsiteY9" fmla="*/ 1593682 h 3517732"/>
                <a:gd name="connsiteX10" fmla="*/ 3899159 w 4718528"/>
                <a:gd name="connsiteY10" fmla="*/ 2165182 h 3517732"/>
                <a:gd name="connsiteX11" fmla="*/ 3289559 w 4718528"/>
                <a:gd name="connsiteY11" fmla="*/ 2384257 h 3517732"/>
                <a:gd name="connsiteX12" fmla="*/ 2603759 w 4718528"/>
                <a:gd name="connsiteY12" fmla="*/ 2622382 h 3517732"/>
                <a:gd name="connsiteX13" fmla="*/ 1832234 w 4718528"/>
                <a:gd name="connsiteY13" fmla="*/ 3012907 h 3517732"/>
                <a:gd name="connsiteX14" fmla="*/ 1146434 w 4718528"/>
                <a:gd name="connsiteY14" fmla="*/ 3384382 h 3517732"/>
                <a:gd name="connsiteX15" fmla="*/ 632084 w 4718528"/>
                <a:gd name="connsiteY15" fmla="*/ 3517732 h 3517732"/>
                <a:gd name="connsiteX16" fmla="*/ 60584 w 4718528"/>
                <a:gd name="connsiteY16" fmla="*/ 3470107 h 3517732"/>
                <a:gd name="connsiteX17" fmla="*/ 79634 w 4718528"/>
                <a:gd name="connsiteY17" fmla="*/ 3031957 h 3517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18528" h="3517732">
                  <a:moveTo>
                    <a:pt x="79634" y="3031957"/>
                  </a:moveTo>
                  <a:cubicBezTo>
                    <a:pt x="176471" y="2935120"/>
                    <a:pt x="446347" y="3011319"/>
                    <a:pt x="641609" y="2889082"/>
                  </a:cubicBezTo>
                  <a:cubicBezTo>
                    <a:pt x="836872" y="2766844"/>
                    <a:pt x="963872" y="2568407"/>
                    <a:pt x="1251209" y="2298532"/>
                  </a:cubicBezTo>
                  <a:cubicBezTo>
                    <a:pt x="1538546" y="2028657"/>
                    <a:pt x="1973522" y="1555582"/>
                    <a:pt x="2365634" y="1269832"/>
                  </a:cubicBezTo>
                  <a:cubicBezTo>
                    <a:pt x="2757747" y="984082"/>
                    <a:pt x="3272097" y="711032"/>
                    <a:pt x="3603884" y="584032"/>
                  </a:cubicBezTo>
                  <a:cubicBezTo>
                    <a:pt x="3935671" y="457032"/>
                    <a:pt x="4197609" y="541169"/>
                    <a:pt x="4356359" y="507832"/>
                  </a:cubicBezTo>
                  <a:cubicBezTo>
                    <a:pt x="4515109" y="474495"/>
                    <a:pt x="4534159" y="468144"/>
                    <a:pt x="4556384" y="384007"/>
                  </a:cubicBezTo>
                  <a:cubicBezTo>
                    <a:pt x="4578609" y="299869"/>
                    <a:pt x="4462722" y="-35093"/>
                    <a:pt x="4489709" y="3007"/>
                  </a:cubicBezTo>
                  <a:cubicBezTo>
                    <a:pt x="4516696" y="41107"/>
                    <a:pt x="4726246" y="347495"/>
                    <a:pt x="4718309" y="612607"/>
                  </a:cubicBezTo>
                  <a:cubicBezTo>
                    <a:pt x="4710372" y="877719"/>
                    <a:pt x="4578609" y="1334920"/>
                    <a:pt x="4442084" y="1593682"/>
                  </a:cubicBezTo>
                  <a:cubicBezTo>
                    <a:pt x="4305559" y="1852444"/>
                    <a:pt x="4091247" y="2033419"/>
                    <a:pt x="3899159" y="2165182"/>
                  </a:cubicBezTo>
                  <a:cubicBezTo>
                    <a:pt x="3707072" y="2296944"/>
                    <a:pt x="3289559" y="2384257"/>
                    <a:pt x="3289559" y="2384257"/>
                  </a:cubicBezTo>
                  <a:cubicBezTo>
                    <a:pt x="3073659" y="2460457"/>
                    <a:pt x="2846646" y="2517607"/>
                    <a:pt x="2603759" y="2622382"/>
                  </a:cubicBezTo>
                  <a:cubicBezTo>
                    <a:pt x="2360872" y="2727157"/>
                    <a:pt x="2075121" y="2885907"/>
                    <a:pt x="1832234" y="3012907"/>
                  </a:cubicBezTo>
                  <a:cubicBezTo>
                    <a:pt x="1589347" y="3139907"/>
                    <a:pt x="1346459" y="3300245"/>
                    <a:pt x="1146434" y="3384382"/>
                  </a:cubicBezTo>
                  <a:cubicBezTo>
                    <a:pt x="946409" y="3468519"/>
                    <a:pt x="813059" y="3503445"/>
                    <a:pt x="632084" y="3517732"/>
                  </a:cubicBezTo>
                  <a:lnTo>
                    <a:pt x="60584" y="3470107"/>
                  </a:lnTo>
                  <a:cubicBezTo>
                    <a:pt x="-28316" y="3385970"/>
                    <a:pt x="-17203" y="3128794"/>
                    <a:pt x="79634" y="3031957"/>
                  </a:cubicBezTo>
                  <a:close/>
                </a:path>
              </a:pathLst>
            </a:custGeom>
            <a:solidFill>
              <a:srgbClr val="3366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E29DD7-BA08-AF58-A803-A86717F0F9DF}"/>
                </a:ext>
              </a:extLst>
            </p:cNvPr>
            <p:cNvSpPr/>
            <p:nvPr/>
          </p:nvSpPr>
          <p:spPr>
            <a:xfrm>
              <a:off x="4799856" y="544522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A7159D-B2F9-E5CF-2474-05BF8D509DFE}"/>
                </a:ext>
              </a:extLst>
            </p:cNvPr>
            <p:cNvSpPr/>
            <p:nvPr/>
          </p:nvSpPr>
          <p:spPr>
            <a:xfrm>
              <a:off x="6623030" y="38005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C8EC207-9D3F-D2BE-56B9-425732551909}"/>
                </a:ext>
              </a:extLst>
            </p:cNvPr>
            <p:cNvSpPr/>
            <p:nvPr/>
          </p:nvSpPr>
          <p:spPr>
            <a:xfrm>
              <a:off x="8256240" y="306896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7B6EF5A-1C5A-3BFF-3A6B-7294BC4CA9AE}"/>
                </a:ext>
              </a:extLst>
            </p:cNvPr>
            <p:cNvSpPr/>
            <p:nvPr/>
          </p:nvSpPr>
          <p:spPr>
            <a:xfrm>
              <a:off x="8616280" y="2575031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81FBAF-1682-0452-F844-FFE993F6F8F7}"/>
                </a:ext>
              </a:extLst>
            </p:cNvPr>
            <p:cNvSpPr/>
            <p:nvPr/>
          </p:nvSpPr>
          <p:spPr>
            <a:xfrm>
              <a:off x="8766270" y="369248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2698A2-1FEA-2D62-34BB-789B53A75C8E}"/>
                </a:ext>
              </a:extLst>
            </p:cNvPr>
            <p:cNvSpPr/>
            <p:nvPr/>
          </p:nvSpPr>
          <p:spPr>
            <a:xfrm>
              <a:off x="8159236" y="462859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F9ED14-21FE-81B3-B333-E97671EF351B}"/>
                </a:ext>
              </a:extLst>
            </p:cNvPr>
            <p:cNvSpPr/>
            <p:nvPr/>
          </p:nvSpPr>
          <p:spPr>
            <a:xfrm>
              <a:off x="6839054" y="5133981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5F8237-2739-507B-7A02-ECC1C039163A}"/>
                </a:ext>
              </a:extLst>
            </p:cNvPr>
            <p:cNvSpPr/>
            <p:nvPr/>
          </p:nvSpPr>
          <p:spPr>
            <a:xfrm>
              <a:off x="4907868" y="6005279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0619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7838-37F0-8659-5641-B4E630DD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BB95DB-04C9-B497-1833-FB1AE27C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331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- 04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FAF25-C8C7-CB4E-C308-4EDA721DB0C3}"/>
              </a:ext>
            </a:extLst>
          </p:cNvPr>
          <p:cNvSpPr txBox="1"/>
          <p:nvPr/>
        </p:nvSpPr>
        <p:spPr>
          <a:xfrm>
            <a:off x="386856" y="1034639"/>
            <a:ext cx="112108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-04 </a:t>
            </a:r>
            <a:r>
              <a:rPr lang="en-IN" sz="2400" dirty="0">
                <a:latin typeface="Amasis MT Pro" panose="02040504050005020304" pitchFamily="18" charset="0"/>
              </a:rPr>
              <a:t>: Generate 1000 control points and draw the boundary again using: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 First order spline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2</a:t>
            </a:r>
            <a:r>
              <a:rPr lang="en-IN" sz="2400" baseline="30000" dirty="0">
                <a:latin typeface="Amasis MT Pro" panose="02040504050005020304" pitchFamily="18" charset="0"/>
              </a:rPr>
              <a:t>nd</a:t>
            </a:r>
            <a:r>
              <a:rPr lang="en-IN" sz="2400" dirty="0">
                <a:latin typeface="Amasis MT Pro" panose="02040504050005020304" pitchFamily="18" charset="0"/>
              </a:rPr>
              <a:t> Order spline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" panose="02040504050005020304" pitchFamily="18" charset="0"/>
              </a:rPr>
              <a:t>3</a:t>
            </a:r>
            <a:r>
              <a:rPr lang="en-IN" sz="2400" baseline="30000" dirty="0">
                <a:latin typeface="Amasis MT Pro" panose="02040504050005020304" pitchFamily="18" charset="0"/>
              </a:rPr>
              <a:t>rd</a:t>
            </a:r>
            <a:r>
              <a:rPr lang="en-IN" sz="2400" dirty="0">
                <a:latin typeface="Amasis MT Pro" panose="02040504050005020304" pitchFamily="18" charset="0"/>
              </a:rPr>
              <a:t> order spline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BADABF-A8B9-A9BB-C069-6D8A60821916}"/>
              </a:ext>
            </a:extLst>
          </p:cNvPr>
          <p:cNvGrpSpPr/>
          <p:nvPr/>
        </p:nvGrpSpPr>
        <p:grpSpPr>
          <a:xfrm>
            <a:off x="6168008" y="3080945"/>
            <a:ext cx="4953774" cy="2980735"/>
            <a:chOff x="2510378" y="1844824"/>
            <a:chExt cx="6734175" cy="4376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EC53D2-EFD2-F5A9-B909-1FBD7F47A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0378" y="1844824"/>
              <a:ext cx="6734175" cy="4343400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C0650A2-06D0-A611-A328-700D39935150}"/>
                </a:ext>
              </a:extLst>
            </p:cNvPr>
            <p:cNvSpPr/>
            <p:nvPr/>
          </p:nvSpPr>
          <p:spPr>
            <a:xfrm>
              <a:off x="4263766" y="2683043"/>
              <a:ext cx="4718528" cy="3517732"/>
            </a:xfrm>
            <a:custGeom>
              <a:avLst/>
              <a:gdLst>
                <a:gd name="connsiteX0" fmla="*/ 79634 w 4718528"/>
                <a:gd name="connsiteY0" fmla="*/ 3031957 h 3517732"/>
                <a:gd name="connsiteX1" fmla="*/ 641609 w 4718528"/>
                <a:gd name="connsiteY1" fmla="*/ 2889082 h 3517732"/>
                <a:gd name="connsiteX2" fmla="*/ 1251209 w 4718528"/>
                <a:gd name="connsiteY2" fmla="*/ 2298532 h 3517732"/>
                <a:gd name="connsiteX3" fmla="*/ 2365634 w 4718528"/>
                <a:gd name="connsiteY3" fmla="*/ 1269832 h 3517732"/>
                <a:gd name="connsiteX4" fmla="*/ 3603884 w 4718528"/>
                <a:gd name="connsiteY4" fmla="*/ 584032 h 3517732"/>
                <a:gd name="connsiteX5" fmla="*/ 4356359 w 4718528"/>
                <a:gd name="connsiteY5" fmla="*/ 507832 h 3517732"/>
                <a:gd name="connsiteX6" fmla="*/ 4556384 w 4718528"/>
                <a:gd name="connsiteY6" fmla="*/ 384007 h 3517732"/>
                <a:gd name="connsiteX7" fmla="*/ 4489709 w 4718528"/>
                <a:gd name="connsiteY7" fmla="*/ 3007 h 3517732"/>
                <a:gd name="connsiteX8" fmla="*/ 4718309 w 4718528"/>
                <a:gd name="connsiteY8" fmla="*/ 612607 h 3517732"/>
                <a:gd name="connsiteX9" fmla="*/ 4442084 w 4718528"/>
                <a:gd name="connsiteY9" fmla="*/ 1593682 h 3517732"/>
                <a:gd name="connsiteX10" fmla="*/ 3899159 w 4718528"/>
                <a:gd name="connsiteY10" fmla="*/ 2165182 h 3517732"/>
                <a:gd name="connsiteX11" fmla="*/ 3289559 w 4718528"/>
                <a:gd name="connsiteY11" fmla="*/ 2384257 h 3517732"/>
                <a:gd name="connsiteX12" fmla="*/ 2603759 w 4718528"/>
                <a:gd name="connsiteY12" fmla="*/ 2622382 h 3517732"/>
                <a:gd name="connsiteX13" fmla="*/ 1832234 w 4718528"/>
                <a:gd name="connsiteY13" fmla="*/ 3012907 h 3517732"/>
                <a:gd name="connsiteX14" fmla="*/ 1146434 w 4718528"/>
                <a:gd name="connsiteY14" fmla="*/ 3384382 h 3517732"/>
                <a:gd name="connsiteX15" fmla="*/ 632084 w 4718528"/>
                <a:gd name="connsiteY15" fmla="*/ 3517732 h 3517732"/>
                <a:gd name="connsiteX16" fmla="*/ 60584 w 4718528"/>
                <a:gd name="connsiteY16" fmla="*/ 3470107 h 3517732"/>
                <a:gd name="connsiteX17" fmla="*/ 79634 w 4718528"/>
                <a:gd name="connsiteY17" fmla="*/ 3031957 h 3517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18528" h="3517732">
                  <a:moveTo>
                    <a:pt x="79634" y="3031957"/>
                  </a:moveTo>
                  <a:cubicBezTo>
                    <a:pt x="176471" y="2935120"/>
                    <a:pt x="446347" y="3011319"/>
                    <a:pt x="641609" y="2889082"/>
                  </a:cubicBezTo>
                  <a:cubicBezTo>
                    <a:pt x="836872" y="2766844"/>
                    <a:pt x="963872" y="2568407"/>
                    <a:pt x="1251209" y="2298532"/>
                  </a:cubicBezTo>
                  <a:cubicBezTo>
                    <a:pt x="1538546" y="2028657"/>
                    <a:pt x="1973522" y="1555582"/>
                    <a:pt x="2365634" y="1269832"/>
                  </a:cubicBezTo>
                  <a:cubicBezTo>
                    <a:pt x="2757747" y="984082"/>
                    <a:pt x="3272097" y="711032"/>
                    <a:pt x="3603884" y="584032"/>
                  </a:cubicBezTo>
                  <a:cubicBezTo>
                    <a:pt x="3935671" y="457032"/>
                    <a:pt x="4197609" y="541169"/>
                    <a:pt x="4356359" y="507832"/>
                  </a:cubicBezTo>
                  <a:cubicBezTo>
                    <a:pt x="4515109" y="474495"/>
                    <a:pt x="4534159" y="468144"/>
                    <a:pt x="4556384" y="384007"/>
                  </a:cubicBezTo>
                  <a:cubicBezTo>
                    <a:pt x="4578609" y="299869"/>
                    <a:pt x="4462722" y="-35093"/>
                    <a:pt x="4489709" y="3007"/>
                  </a:cubicBezTo>
                  <a:cubicBezTo>
                    <a:pt x="4516696" y="41107"/>
                    <a:pt x="4726246" y="347495"/>
                    <a:pt x="4718309" y="612607"/>
                  </a:cubicBezTo>
                  <a:cubicBezTo>
                    <a:pt x="4710372" y="877719"/>
                    <a:pt x="4578609" y="1334920"/>
                    <a:pt x="4442084" y="1593682"/>
                  </a:cubicBezTo>
                  <a:cubicBezTo>
                    <a:pt x="4305559" y="1852444"/>
                    <a:pt x="4091247" y="2033419"/>
                    <a:pt x="3899159" y="2165182"/>
                  </a:cubicBezTo>
                  <a:cubicBezTo>
                    <a:pt x="3707072" y="2296944"/>
                    <a:pt x="3289559" y="2384257"/>
                    <a:pt x="3289559" y="2384257"/>
                  </a:cubicBezTo>
                  <a:cubicBezTo>
                    <a:pt x="3073659" y="2460457"/>
                    <a:pt x="2846646" y="2517607"/>
                    <a:pt x="2603759" y="2622382"/>
                  </a:cubicBezTo>
                  <a:cubicBezTo>
                    <a:pt x="2360872" y="2727157"/>
                    <a:pt x="2075121" y="2885907"/>
                    <a:pt x="1832234" y="3012907"/>
                  </a:cubicBezTo>
                  <a:cubicBezTo>
                    <a:pt x="1589347" y="3139907"/>
                    <a:pt x="1346459" y="3300245"/>
                    <a:pt x="1146434" y="3384382"/>
                  </a:cubicBezTo>
                  <a:cubicBezTo>
                    <a:pt x="946409" y="3468519"/>
                    <a:pt x="813059" y="3503445"/>
                    <a:pt x="632084" y="3517732"/>
                  </a:cubicBezTo>
                  <a:lnTo>
                    <a:pt x="60584" y="3470107"/>
                  </a:lnTo>
                  <a:cubicBezTo>
                    <a:pt x="-28316" y="3385970"/>
                    <a:pt x="-17203" y="3128794"/>
                    <a:pt x="79634" y="3031957"/>
                  </a:cubicBezTo>
                  <a:close/>
                </a:path>
              </a:pathLst>
            </a:custGeom>
            <a:solidFill>
              <a:srgbClr val="3366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4ABDC7-0A4B-4512-1A11-A1E494414C27}"/>
                </a:ext>
              </a:extLst>
            </p:cNvPr>
            <p:cNvSpPr/>
            <p:nvPr/>
          </p:nvSpPr>
          <p:spPr>
            <a:xfrm>
              <a:off x="4799856" y="544522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FBA8702-41FD-F35F-6D1B-76EAA1AAB46F}"/>
                </a:ext>
              </a:extLst>
            </p:cNvPr>
            <p:cNvSpPr/>
            <p:nvPr/>
          </p:nvSpPr>
          <p:spPr>
            <a:xfrm>
              <a:off x="6623030" y="38005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0B0CC5-288B-C783-E2D1-CE49790B60C8}"/>
                </a:ext>
              </a:extLst>
            </p:cNvPr>
            <p:cNvSpPr/>
            <p:nvPr/>
          </p:nvSpPr>
          <p:spPr>
            <a:xfrm>
              <a:off x="8256240" y="306896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4912168-E4A2-DD63-65A3-19FB91B1F6DE}"/>
                </a:ext>
              </a:extLst>
            </p:cNvPr>
            <p:cNvSpPr/>
            <p:nvPr/>
          </p:nvSpPr>
          <p:spPr>
            <a:xfrm>
              <a:off x="8616280" y="2575031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09D961-C7B9-B4C8-CA74-C185A5AD109E}"/>
                </a:ext>
              </a:extLst>
            </p:cNvPr>
            <p:cNvSpPr/>
            <p:nvPr/>
          </p:nvSpPr>
          <p:spPr>
            <a:xfrm>
              <a:off x="8766270" y="369248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379BEC-F5BE-5116-8550-E602008EA593}"/>
                </a:ext>
              </a:extLst>
            </p:cNvPr>
            <p:cNvSpPr/>
            <p:nvPr/>
          </p:nvSpPr>
          <p:spPr>
            <a:xfrm>
              <a:off x="8159236" y="462859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0E074F-77A7-8B04-4D8A-B34A443A9BA4}"/>
                </a:ext>
              </a:extLst>
            </p:cNvPr>
            <p:cNvSpPr/>
            <p:nvPr/>
          </p:nvSpPr>
          <p:spPr>
            <a:xfrm>
              <a:off x="6839054" y="5133981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1F3B9B-BC45-BCC8-5728-31ECCD88B4B6}"/>
                </a:ext>
              </a:extLst>
            </p:cNvPr>
            <p:cNvSpPr/>
            <p:nvPr/>
          </p:nvSpPr>
          <p:spPr>
            <a:xfrm>
              <a:off x="4907868" y="6005279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7501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B7B0-EAF8-7FDA-FAA2-34EE378A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818B4F-C49D-650E-1092-11571693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66" y="1"/>
            <a:ext cx="10981220" cy="836712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- 05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949FF-9839-FFAA-4177-B7B71F50C722}"/>
              </a:ext>
            </a:extLst>
          </p:cNvPr>
          <p:cNvSpPr txBox="1"/>
          <p:nvPr/>
        </p:nvSpPr>
        <p:spPr>
          <a:xfrm>
            <a:off x="284441" y="980728"/>
            <a:ext cx="11524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-05 </a:t>
            </a:r>
            <a:r>
              <a:rPr lang="en-IN" sz="2400" dirty="0">
                <a:latin typeface="Amasis MT Pro" panose="02040504050005020304" pitchFamily="18" charset="0"/>
              </a:rPr>
              <a:t>: Indicate suitable (set of control points) no. of control points (say N) on below objects and approximate them using 3</a:t>
            </a:r>
            <a:r>
              <a:rPr lang="en-IN" sz="2400" baseline="30000" dirty="0">
                <a:latin typeface="Amasis MT Pro" panose="02040504050005020304" pitchFamily="18" charset="0"/>
              </a:rPr>
              <a:t>rd</a:t>
            </a:r>
            <a:r>
              <a:rPr lang="en-IN" sz="2400" dirty="0">
                <a:latin typeface="Amasis MT Pro" panose="02040504050005020304" pitchFamily="18" charset="0"/>
              </a:rPr>
              <a:t> order spline.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-06: </a:t>
            </a:r>
            <a:r>
              <a:rPr lang="en-IN" sz="2400" dirty="0">
                <a:latin typeface="Amasis MT Pro" panose="02040504050005020304" pitchFamily="18" charset="0"/>
              </a:rPr>
              <a:t>Generate another N no of control points and repeat the experiment.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E2D594-5F07-4F36-DED2-DF803DF6560B}"/>
              </a:ext>
            </a:extLst>
          </p:cNvPr>
          <p:cNvGrpSpPr/>
          <p:nvPr/>
        </p:nvGrpSpPr>
        <p:grpSpPr>
          <a:xfrm>
            <a:off x="284441" y="2393950"/>
            <a:ext cx="11623117" cy="3958177"/>
            <a:chOff x="35501" y="2031273"/>
            <a:chExt cx="11623117" cy="39581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646A87-5EFF-69C3-135B-DBB67A4C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01" y="2492896"/>
              <a:ext cx="3475947" cy="25769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830270-0927-F955-071E-717662599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3793" y="2257301"/>
              <a:ext cx="3169193" cy="281778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0D7C98-E1FF-2341-5573-AFA010F30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8208" y="2031273"/>
              <a:ext cx="3690410" cy="311580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93F308-E97D-4624-3B61-9783EDF2311D}"/>
                </a:ext>
              </a:extLst>
            </p:cNvPr>
            <p:cNvSpPr txBox="1"/>
            <p:nvPr/>
          </p:nvSpPr>
          <p:spPr>
            <a:xfrm>
              <a:off x="1349921" y="5620118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(a)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1FA8A1-B57B-97AD-10CD-2C446B0DC393}"/>
                </a:ext>
              </a:extLst>
            </p:cNvPr>
            <p:cNvSpPr txBox="1"/>
            <p:nvPr/>
          </p:nvSpPr>
          <p:spPr>
            <a:xfrm>
              <a:off x="5443638" y="5616285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(b)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1A50F3-3063-2F96-EB69-A9D58FE86C58}"/>
                </a:ext>
              </a:extLst>
            </p:cNvPr>
            <p:cNvSpPr txBox="1"/>
            <p:nvPr/>
          </p:nvSpPr>
          <p:spPr>
            <a:xfrm>
              <a:off x="10056440" y="5616285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42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9288-850A-A649-67D3-7E81FABA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414038-8B27-9D3F-2C68-1608A17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889667"/>
            <a:ext cx="9289032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Thank you !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4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8455</TotalTime>
  <Words>646</Words>
  <Application>Microsoft Office PowerPoint</Application>
  <PresentationFormat>Widescreen</PresentationFormat>
  <Paragraphs>91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Amasis MT Pro</vt:lpstr>
      <vt:lpstr>Arial</vt:lpstr>
      <vt:lpstr>Calibri</vt:lpstr>
      <vt:lpstr>Wingdings</vt:lpstr>
      <vt:lpstr>Office Theme</vt:lpstr>
      <vt:lpstr>PowerPoint Presentation</vt:lpstr>
      <vt:lpstr>Objective of this lab</vt:lpstr>
      <vt:lpstr>Demo Assignment – 01 </vt:lpstr>
      <vt:lpstr>Assignment - 02</vt:lpstr>
      <vt:lpstr>Assignment - 03</vt:lpstr>
      <vt:lpstr>Assignment - 04</vt:lpstr>
      <vt:lpstr>Assignment - 05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Autonomous Systems</dc:title>
  <dc:creator>Dell</dc:creator>
  <cp:lastModifiedBy>Nayaab Aman</cp:lastModifiedBy>
  <cp:revision>289</cp:revision>
  <dcterms:created xsi:type="dcterms:W3CDTF">2019-07-26T07:10:10Z</dcterms:created>
  <dcterms:modified xsi:type="dcterms:W3CDTF">2026-09-28T06:03:06Z</dcterms:modified>
</cp:coreProperties>
</file>