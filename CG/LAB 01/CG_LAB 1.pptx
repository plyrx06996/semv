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2000"/>
  <p:notesSz cx="6858000" cy="9144000"/>
  <p:embeddedFontLst>
    <p:embeddedFont>
      <p:font typeface="Inter SemiBold"/>
      <p:regular r:id="rId45"/>
      <p:bold r:id="rId46"/>
      <p:italic r:id="rId47"/>
      <p:boldItalic r:id="rId48"/>
    </p:embeddedFont>
    <p:embeddedFont>
      <p:font typeface="Inter"/>
      <p:regular r:id="rId49"/>
      <p:bold r:id="rId50"/>
      <p:italic r:id="rId51"/>
      <p:boldItalic r:id="rId52"/>
    </p:embeddedFont>
    <p:embeddedFont>
      <p:font typeface="Inter ExtraBold"/>
      <p:bold r:id="rId53"/>
      <p:boldItalic r:id="rId54"/>
    </p:embeddedFont>
    <p:embeddedFont>
      <p:font typeface="Roboto Mono"/>
      <p:regular r:id="rId55"/>
      <p:bold r:id="rId56"/>
      <p:italic r:id="rId57"/>
      <p:boldItalic r:id="rId58"/>
    </p:embeddedFont>
    <p:embeddedFont>
      <p:font typeface="Inter Medium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jhjGXNDGLM1hlmNwVwJlyte+Ue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InterSemiBold-bold.fntdata"/><Relationship Id="rId45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SemiBold-boldItalic.fntdata"/><Relationship Id="rId47" Type="http://schemas.openxmlformats.org/officeDocument/2006/relationships/font" Target="fonts/InterSemiBold-italic.fntdata"/><Relationship Id="rId49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nterMedium-boldItalic.fntdata"/><Relationship Id="rId61" Type="http://schemas.openxmlformats.org/officeDocument/2006/relationships/font" Target="fonts/InterMedium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InterMedium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-italic.fntdata"/><Relationship Id="rId50" Type="http://schemas.openxmlformats.org/officeDocument/2006/relationships/font" Target="fonts/Inter-bold.fntdata"/><Relationship Id="rId53" Type="http://schemas.openxmlformats.org/officeDocument/2006/relationships/font" Target="fonts/InterExtraBold-bold.fntdata"/><Relationship Id="rId52" Type="http://schemas.openxmlformats.org/officeDocument/2006/relationships/font" Target="fonts/Inter-boldItalic.fntdata"/><Relationship Id="rId11" Type="http://schemas.openxmlformats.org/officeDocument/2006/relationships/slide" Target="slides/slide6.xml"/><Relationship Id="rId55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54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57" Type="http://schemas.openxmlformats.org/officeDocument/2006/relationships/font" Target="fonts/RobotoMono-italic.fntdata"/><Relationship Id="rId12" Type="http://schemas.openxmlformats.org/officeDocument/2006/relationships/slide" Target="slides/slide7.xml"/><Relationship Id="rId56" Type="http://schemas.openxmlformats.org/officeDocument/2006/relationships/font" Target="fonts/RobotoMono-bold.fntdata"/><Relationship Id="rId15" Type="http://schemas.openxmlformats.org/officeDocument/2006/relationships/slide" Target="slides/slide10.xml"/><Relationship Id="rId59" Type="http://schemas.openxmlformats.org/officeDocument/2006/relationships/font" Target="fonts/InterMedium-regular.fntdata"/><Relationship Id="rId14" Type="http://schemas.openxmlformats.org/officeDocument/2006/relationships/slide" Target="slides/slide9.xml"/><Relationship Id="rId58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2b341f7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62b341f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2b341f7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62b341f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62b341f7e_0_5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62b341f7e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2b341f7e_0_7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62b341f7e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62b341f7e_0_9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62b341f7e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2b341f7e_0_10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62b341f7e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62b341f7e_0_1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62b341f7e_0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62b341f7e_0_1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62b341f7e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62b341f7e_0_16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62b341f7e_0_1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62b341f7e_0_2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62b341f7e_0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62b341f7e_0_2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62b341f7e_0_2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62b341f7e_0_2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62b341f7e_0_2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62b341f7e_0_28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62b341f7e_0_2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62b341f7e_0_3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62b341f7e_0_3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62b341f7e_0_3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62b341f7e_0_3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62b341f7e_0_33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62b341f7e_0_3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62b341f7e_0_35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f62b341f7e_0_3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62b341f7e_0_3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62b341f7e_0_3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62b341f7e_0_39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f62b341f7e_0_3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62b341f7e_0_4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f62b341f7e_0_4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62b341f7e_0_45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62b341f7e_0_4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62b341f7e_0_47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62b341f7e_0_4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62b341f7e_0_48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f62b341f7e_0_4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62b341f7e_0_50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f62b341f7e_0_5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62b341f7e_0_5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f62b341f7e_0_5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62b341f7e_0_5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f62b341f7e_0_5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62b341f7e_0_56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f62b341f7e_0_5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62b341f7e_0_58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f62b341f7e_0_5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msys2.or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gen.glad.sh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://www.codeblocks.org/download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s://visualstudio.microsoft.com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glfw.org/download.html" TargetMode="External"/><Relationship Id="rId4" Type="http://schemas.openxmlformats.org/officeDocument/2006/relationships/hyperlink" Target="https://gen.glad.sh/" TargetMode="External"/><Relationship Id="rId5" Type="http://schemas.openxmlformats.org/officeDocument/2006/relationships/hyperlink" Target="https://github.com/g-truc/glm/release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hyperlink" Target="https://gen.glad.sh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8392" y="36894"/>
            <a:ext cx="1160678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sz="5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OpenGL: Entering into Graphics World</a:t>
            </a:r>
            <a:endParaRPr/>
          </a:p>
        </p:txBody>
      </p:sp>
      <p:pic>
        <p:nvPicPr>
          <p:cNvPr id="85" name="Google Shape;85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900" y="1804425"/>
            <a:ext cx="7037400" cy="43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2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91" name="Google Shape;91;p2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Introduction to OpenGL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3" name="Google Shape;93;p2"/>
          <p:cNvGrpSpPr/>
          <p:nvPr/>
        </p:nvGrpSpPr>
        <p:grpSpPr>
          <a:xfrm>
            <a:off x="762000" y="1524000"/>
            <a:ext cx="5143500" cy="2190900"/>
            <a:chOff x="0" y="0"/>
            <a:chExt cx="5143500" cy="2190900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695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285750" y="238125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Cross-Platform API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cross-platform, cross-language API designed for rendering professional 2D and 3D vector graphics.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6286500" y="1524000"/>
            <a:ext cx="5143500" cy="2190900"/>
            <a:chOff x="0" y="0"/>
            <a:chExt cx="5143500" cy="2190900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6956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285750" y="238125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Managed by Khronos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Maintained and managed by the Khronos Group, an open consortium of leading technology companies.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762000" y="4000500"/>
            <a:ext cx="5143500" cy="2190900"/>
            <a:chOff x="0" y="0"/>
            <a:chExt cx="5143500" cy="2190900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695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285750" y="238125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sports_esports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Industry Staple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essential standard powering high-performance video games, CAD software, and advanced scientific visualizations.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6286500" y="4000500"/>
            <a:ext cx="5143500" cy="2190900"/>
            <a:chOff x="0" y="0"/>
            <a:chExt cx="5143500" cy="2190900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6956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285750" y="238125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Hardware-Accelerated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Interacts directly with graphics hardware (GPU) to deliver highly efficient, accelerated rendering performance.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762000" y="4762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A) Installing on Windows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11" name="Google Shape;111;p3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112" name="Google Shape;112;p3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01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Install &amp; Setup MSYS2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1. Download the Installer</a:t>
              </a:r>
              <a:endParaRPr b="1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Visit the official website to get the MSYS2 setup file: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https://www.msys2.org/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2. Run Setup</a:t>
              </a:r>
              <a:endParaRPr b="1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Launch the downloaded installer and follow the instructions to set up the environment on your system.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3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115" name="Google Shape;115;p3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Features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Why MSYS2?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Linux-like Environment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Provides a native, Unix-like terminal and development environment shell directly on Windows systems.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Pacman Package Manager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Includes the powerful </a:t>
              </a:r>
              <a:r>
                <a:rPr b="1" lang="en-US" sz="12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Pacman</a:t>
              </a:r>
              <a:r>
                <a:rPr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manager to effortlessly install, update, and manage open-source tools and libraries.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2b341f7e_0_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62b341f7e_0_9"/>
          <p:cNvSpPr txBox="1"/>
          <p:nvPr>
            <p:ph type="title"/>
          </p:nvPr>
        </p:nvSpPr>
        <p:spPr>
          <a:xfrm>
            <a:off x="762000" y="4762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A) Installing on Windows</a:t>
            </a:r>
            <a:endParaRPr b="0" i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3" name="Google Shape;123;g3f62b341f7e_0_9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124" name="Google Shape;124;g3f62b341f7e_0_9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" name="Google Shape;125;g3f62b341f7e_0_9"/>
            <p:cNvGrpSpPr/>
            <p:nvPr/>
          </p:nvGrpSpPr>
          <p:grpSpPr>
            <a:xfrm>
              <a:off x="381000" y="381000"/>
              <a:ext cx="4381500" cy="3810000"/>
              <a:chOff x="0" y="0"/>
              <a:chExt cx="4381500" cy="3810000"/>
            </a:xfrm>
          </p:grpSpPr>
          <p:sp>
            <p:nvSpPr>
              <p:cNvPr id="126" name="Google Shape;126;g3f62b341f7e_0_9"/>
              <p:cNvSpPr/>
              <p:nvPr/>
            </p:nvSpPr>
            <p:spPr>
              <a:xfrm>
                <a:off x="0" y="0"/>
                <a:ext cx="4381500" cy="3810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g3f62b341f7e_0_9"/>
              <p:cNvSpPr txBox="1"/>
              <p:nvPr/>
            </p:nvSpPr>
            <p:spPr>
              <a:xfrm>
                <a:off x="0" y="0"/>
                <a:ext cx="4381500" cy="38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Step 02</a:t>
                </a:r>
                <a:endParaRPr b="1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Open MSYS2</a:t>
                </a:r>
                <a:endParaRPr b="0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1. Launch the Application</a:t>
                </a:r>
                <a:endParaRPr b="1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Search </a:t>
                </a: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"MSYS2 MinGW 64-bit"</a:t>
                </a: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(or </a:t>
                </a: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UCRT64</a:t>
                </a: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) in the Windows Start Menu and launch it.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2. Terminal Window</a:t>
                </a:r>
                <a:endParaRPr b="1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You'll see a Bash-like terminal window open, indicating that the environment is ready for commands.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8" name="Google Shape;128;g3f62b341f7e_0_9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129" name="Google Shape;129;g3f62b341f7e_0_9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0" name="Google Shape;130;g3f62b341f7e_0_9"/>
            <p:cNvGrpSpPr/>
            <p:nvPr/>
          </p:nvGrpSpPr>
          <p:grpSpPr>
            <a:xfrm>
              <a:off x="381000" y="381000"/>
              <a:ext cx="4381500" cy="3810000"/>
              <a:chOff x="0" y="0"/>
              <a:chExt cx="4381500" cy="3810000"/>
            </a:xfrm>
          </p:grpSpPr>
          <p:sp>
            <p:nvSpPr>
              <p:cNvPr id="131" name="Google Shape;131;g3f62b341f7e_0_9"/>
              <p:cNvSpPr/>
              <p:nvPr/>
            </p:nvSpPr>
            <p:spPr>
              <a:xfrm>
                <a:off x="0" y="0"/>
                <a:ext cx="4381500" cy="3810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g3f62b341f7e_0_9"/>
              <p:cNvSpPr txBox="1"/>
              <p:nvPr/>
            </p:nvSpPr>
            <p:spPr>
              <a:xfrm>
                <a:off x="0" y="0"/>
                <a:ext cx="4381500" cy="38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Core Features</a:t>
                </a:r>
                <a:endParaRPr b="1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Why MSYS2?</a:t>
                </a:r>
                <a:endParaRPr b="0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2400"/>
                  </a:spcBef>
                  <a:spcAft>
                    <a:spcPts val="0"/>
                  </a:spcAft>
                  <a:buNone/>
                </a:pPr>
                <a:r>
                  <a:rPr b="0" lang="en-US" sz="2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endParaRPr b="0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Linux-like Environment</a:t>
                </a:r>
                <a:endParaRPr b="1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Provides a native, Unix-like terminal and development environment shell directly on Windows systems.</a:t>
                </a:r>
                <a:endParaRPr b="0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100"/>
                  </a:spcBef>
                  <a:spcAft>
                    <a:spcPts val="0"/>
                  </a:spcAft>
                  <a:buNone/>
                </a:pPr>
                <a:r>
                  <a:rPr b="0" lang="en-US" sz="2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settings_suggest</a:t>
                </a:r>
                <a:endParaRPr b="0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Pacman Package Manager</a:t>
                </a:r>
                <a:endParaRPr b="1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Used to easily install compilers, development tools, and libraries through the </a:t>
                </a:r>
                <a:r>
                  <a:rPr b="1" lang="en-US" sz="12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Pacman</a:t>
                </a:r>
                <a:r>
                  <a:rPr b="0" lang="en-US" sz="12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manager.</a:t>
                </a:r>
                <a:endParaRPr b="0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f62b341f7e_0_4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138" name="Google Shape;138;g3f62b341f7e_0_4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g3f62b341f7e_0_4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A) Installing on Windows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40" name="Google Shape;140;g3f62b341f7e_0_4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141" name="Google Shape;141;g3f62b341f7e_0_4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3f62b341f7e_0_4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03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Update MSYS2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$ pacman -Syu</a:t>
              </a:r>
              <a:endParaRPr b="1" sz="1100">
                <a:solidFill>
                  <a:srgbClr val="38BDF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This updates MSYS2 itself and its package database.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Key Benefits:</a:t>
              </a:r>
              <a:endParaRPr b="1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Downloads the latest package information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Updates already installed packages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Prevents dependency &amp; compatibility issues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" name="Google Shape;143;g3f62b341f7e_0_4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144" name="Google Shape;144;g3f62b341f7e_0_4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g3f62b341f7e_0_4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04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Install Toolchain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$ pacman -S mingw-w64-x86_64-toolchain</a:t>
              </a:r>
              <a:endParaRPr b="1" sz="1050">
                <a:solidFill>
                  <a:srgbClr val="38BDF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Provides: </a:t>
              </a: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gcc, g++, make, gdb, linker, &amp; runtime libraries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Primary Uses:</a:t>
              </a:r>
              <a:endParaRPr b="1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Compiles C/C++ programs natively on Windows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Builds standard executable (.exe) files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Required to compile OpenGL applications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g3f62b341f7e_0_536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151" name="Google Shape;151;g3f62b341f7e_0_536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g3f62b341f7e_0_536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A) Installing on Windows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53" name="Google Shape;153;g3f62b341f7e_0_536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154" name="Google Shape;154;g3f62b341f7e_0_536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" name="Google Shape;155;g3f62b341f7e_0_536"/>
            <p:cNvGrpSpPr/>
            <p:nvPr/>
          </p:nvGrpSpPr>
          <p:grpSpPr>
            <a:xfrm>
              <a:off x="381000" y="381000"/>
              <a:ext cx="4381500" cy="3810000"/>
              <a:chOff x="0" y="0"/>
              <a:chExt cx="4381500" cy="3810000"/>
            </a:xfrm>
          </p:grpSpPr>
          <p:sp>
            <p:nvSpPr>
              <p:cNvPr id="156" name="Google Shape;156;g3f62b341f7e_0_536"/>
              <p:cNvSpPr/>
              <p:nvPr/>
            </p:nvSpPr>
            <p:spPr>
              <a:xfrm>
                <a:off x="0" y="0"/>
                <a:ext cx="4381500" cy="3810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3f62b341f7e_0_536"/>
              <p:cNvSpPr txBox="1"/>
              <p:nvPr/>
            </p:nvSpPr>
            <p:spPr>
              <a:xfrm>
                <a:off x="0" y="0"/>
                <a:ext cx="4381500" cy="38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Step 05</a:t>
                </a:r>
                <a:endParaRPr b="1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Install GLFW</a:t>
                </a:r>
                <a:endParaRPr b="0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38BDF8"/>
                    </a:solidFill>
                    <a:highlight>
                      <a:srgbClr val="0F172A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$ pacman -S mingw-w64-x86_64-glfw</a:t>
                </a:r>
                <a:endParaRPr b="1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The GLFW library provides essential windowing and context API support.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Key Capabilities:</a:t>
                </a:r>
                <a:endParaRPr b="1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1100"/>
                  <a:buFont typeface="Inter"/>
                  <a:buChar char="●"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Window creation and management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1100"/>
                  <a:buFont typeface="Inter"/>
                  <a:buChar char="●"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OpenGL Context initialization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1100"/>
                  <a:buFont typeface="Inter"/>
                  <a:buChar char="●"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Keyboard and Mouse input tracking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1100"/>
                  <a:buFont typeface="Inter"/>
                  <a:buChar char="●"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System event handling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8" name="Google Shape;158;g3f62b341f7e_0_536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159" name="Google Shape;159;g3f62b341f7e_0_536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0" name="Google Shape;160;g3f62b341f7e_0_536"/>
            <p:cNvGrpSpPr/>
            <p:nvPr/>
          </p:nvGrpSpPr>
          <p:grpSpPr>
            <a:xfrm>
              <a:off x="381000" y="381000"/>
              <a:ext cx="4381500" cy="3810000"/>
              <a:chOff x="0" y="0"/>
              <a:chExt cx="4381500" cy="3810000"/>
            </a:xfrm>
          </p:grpSpPr>
          <p:sp>
            <p:nvSpPr>
              <p:cNvPr id="161" name="Google Shape;161;g3f62b341f7e_0_536"/>
              <p:cNvSpPr/>
              <p:nvPr/>
            </p:nvSpPr>
            <p:spPr>
              <a:xfrm>
                <a:off x="0" y="0"/>
                <a:ext cx="4381500" cy="3810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g3f62b341f7e_0_536"/>
              <p:cNvSpPr txBox="1"/>
              <p:nvPr/>
            </p:nvSpPr>
            <p:spPr>
              <a:xfrm>
                <a:off x="0" y="0"/>
                <a:ext cx="4381500" cy="38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Core Purpose</a:t>
                </a:r>
                <a:endParaRPr b="1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Why GLFW?</a:t>
                </a:r>
                <a:endParaRPr b="0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-US" sz="2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widgets</a:t>
                </a:r>
                <a:endParaRPr b="0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OpenGL is Only for Graphics</a:t>
                </a:r>
                <a:endParaRPr b="1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OpenGL only handles drawing and rendering graphics. It does not have built-in capabilities to create windows or listen to user inputs.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-US" sz="2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aspect_ratio</a:t>
                </a:r>
                <a:endParaRPr b="0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GLFW Bridges the Gap</a:t>
                </a:r>
                <a:endParaRPr b="1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GLFW provides the required operating system window so OpenGL can render graphics, while simultaneously enabling direct user interaction.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g3f62b341f7e_0_723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168" name="Google Shape;168;g3f62b341f7e_0_723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g3f62b341f7e_0_723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Download and Add GLAD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70" name="Google Shape;170;g3f62b341f7e_0_723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171" name="Google Shape;171;g3f62b341f7e_0_723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g3f62b341f7e_0_723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06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Configure GLAD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Visit </a:t>
              </a:r>
              <a:r>
                <a:rPr b="1" lang="en-US" sz="1150">
                  <a:solidFill>
                    <a:srgbClr val="38BDF8"/>
                  </a:solidFill>
                  <a:highlight>
                    <a:srgbClr val="0F172A"/>
                  </a:highlight>
                  <a:uFill>
                    <a:noFill/>
                  </a:uFill>
                  <a:latin typeface="Courier New"/>
                  <a:ea typeface="Courier New"/>
                  <a:cs typeface="Courier New"/>
                  <a:sym typeface="Courier New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https://gen.glad.sh/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Generate the OpenGL Loader with these settings: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Language:</a:t>
              </a: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C/C++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Specification:</a:t>
              </a: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OpenGL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API Version:</a:t>
              </a: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OpenGL 4.6 or 3.3 Core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Profile:</a:t>
              </a: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Core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Download the generated files and add them directly to your project structure.</a:t>
              </a:r>
              <a:endParaRPr b="0" sz="11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3" name="Google Shape;173;g3f62b341f7e_0_723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174" name="Google Shape;174;g3f62b341f7e_0_723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g3f62b341f7e_0_723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Purpose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Why GLAD?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Runtime Function Loading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GLAD dynamically queries and loads modern OpenGL function pointers at runtime from the graphics driver.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Without GLAD, these functions cannot be accessed:</a:t>
              </a:r>
              <a:endParaRPr b="1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ourier New"/>
                <a:buChar char="●"/>
              </a:pPr>
              <a:r>
                <a:rPr b="1" lang="en-US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glCreateShader()</a:t>
              </a:r>
              <a:endParaRPr b="1"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ourier New"/>
                <a:buChar char="●"/>
              </a:pPr>
              <a:r>
                <a:rPr b="1" lang="en-US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glBindVertexArray()</a:t>
              </a:r>
              <a:endParaRPr b="1"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ourier New"/>
                <a:buChar char="●"/>
              </a:pPr>
              <a:r>
                <a:rPr b="1" lang="en-US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glGenBuffers()</a:t>
              </a:r>
              <a:endParaRPr b="1"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g3f62b341f7e_0_902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181" name="Google Shape;181;g3f62b341f7e_0_902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g3f62b341f7e_0_902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A) Installing on Windows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83" name="Google Shape;183;g3f62b341f7e_0_902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184" name="Google Shape;184;g3f62b341f7e_0_902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g3f62b341f7e_0_902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07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Download Code::Blocks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Go to the official downloads page: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highlight>
                    <a:srgbClr val="0F172A"/>
                  </a:highlight>
                  <a:uFill>
                    <a:noFill/>
                  </a:uFill>
                  <a:latin typeface="Courier New"/>
                  <a:ea typeface="Courier New"/>
                  <a:cs typeface="Courier New"/>
                  <a:sym typeface="Courier New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http://www.codeblocks.org/downloads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90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Download the binary release </a:t>
              </a: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without bundled MinGW</a:t>
              </a: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, since MSYS2 already provides the compiler on your system.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g3f62b341f7e_0_902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187" name="Google Shape;187;g3f62b341f7e_0_902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g3f62b341f7e_0_902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Purpose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Why Code::Blocks?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Code::Blocks is an extensible, open-source Integrated Development Environment (IDE) built specifically for C++ development.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Key Features Provided:</a:t>
              </a:r>
              <a:endParaRPr b="1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</a:t>
              </a: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Code editor with syntax highlighting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play_circle_outline</a:t>
              </a: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Build button for compiler integration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Interactive debugger interface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Robust project management system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g3f62b341f7e_0_1081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194" name="Google Shape;194;g3f62b341f7e_0_1081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g3f62b341f7e_0_1081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A) Installing on Windows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96" name="Google Shape;196;g3f62b341f7e_0_1081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197" name="Google Shape;197;g3f62b341f7e_0_1081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g3f62b341f7e_0_1081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08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Configure Compiler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Navigate through the menus in Code::Blocks:</a:t>
              </a:r>
              <a:endParaRPr b="0" sz="12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1.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Settings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2.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Compiler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3.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Global Compiler Settings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4.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Toolchain Executables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9" name="Google Shape;199;g3f62b341f7e_0_1081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200" name="Google Shape;200;g3f62b341f7e_0_1081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g3f62b341f7e_0_1081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Purpose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Path &amp; Toolchain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Compiler Installation Directory:</a:t>
              </a:r>
              <a:endParaRPr b="1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C:\msys64\mingw64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b="0" sz="2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Why configure this?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Tells Code::Blocks where GCC/G++ is installed so it can locate the toolchain and successfully compile your programs.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f62b341f7e_0_12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g3f62b341f7e_0_1260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208" name="Google Shape;208;g3f62b341f7e_0_1260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g3f62b341f7e_0_1260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A) Installing on Windows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10" name="Google Shape;210;g3f62b341f7e_0_1260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211" name="Google Shape;211;g3f62b341f7e_0_1260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g3f62b341f7e_0_1260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09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Configure Linker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Switch to </a:t>
              </a: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Linker Settings</a:t>
              </a: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add under </a:t>
              </a: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Other Linker Options</a:t>
              </a: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-lglfw3</a:t>
              </a:r>
              <a:br>
                <a:rPr b="1" lang="en-US" sz="13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3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-lopengl32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using GLAD:</a:t>
              </a:r>
              <a:endParaRPr b="1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Add </a:t>
              </a:r>
              <a:r>
                <a:rPr b="1" lang="en-US" sz="1150">
                  <a:solidFill>
                    <a:srgbClr val="0F172A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glad.c</a:t>
              </a:r>
              <a:r>
                <a:rPr b="0" lang="en-US" sz="11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to your project source files.</a:t>
              </a:r>
              <a:endParaRPr b="0" sz="11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g3f62b341f7e_0_1260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214" name="Google Shape;214;g3f62b341f7e_0_1260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g3f62b341f7e_0_1260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Purpose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Library Roles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glfw3</a:t>
              </a:r>
              <a:b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Handles window creation, system context initialization, and user input.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opengl32</a:t>
              </a:r>
              <a:b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native Windows implementation library for the core OpenGL graphics APIs.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glad.c</a:t>
              </a:r>
              <a:b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Loads modern OpenGL function pointers dynamically at runtime.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g3f62b341f7e_0_1441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221" name="Google Shape;221;g3f62b341f7e_0_1441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g3f62b341f7e_0_1441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Create a New OpenGL Project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3" name="Google Shape;223;g3f62b341f7e_0_1441"/>
          <p:cNvGrpSpPr/>
          <p:nvPr/>
        </p:nvGrpSpPr>
        <p:grpSpPr>
          <a:xfrm>
            <a:off x="762000" y="1524000"/>
            <a:ext cx="5143500" cy="4572000"/>
            <a:chOff x="0" y="0"/>
            <a:chExt cx="5143500" cy="4572000"/>
          </a:xfrm>
        </p:grpSpPr>
        <p:sp>
          <p:nvSpPr>
            <p:cNvPr id="224" name="Google Shape;224;g3f62b341f7e_0_1441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g3f62b341f7e_0_1441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Navigation path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Project Setup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1.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File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2.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New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3.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Project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4.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Console Application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5.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C++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6" name="Google Shape;226;g3f62b341f7e_0_1441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227" name="Google Shape;227;g3f62b341f7e_0_1441"/>
            <p:cNvSpPr/>
            <p:nvPr/>
          </p:nvSpPr>
          <p:spPr>
            <a:xfrm>
              <a:off x="0" y="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g3f62b341f7e_0_1441"/>
            <p:cNvSpPr txBox="1"/>
            <p:nvPr/>
          </p:nvSpPr>
          <p:spPr>
            <a:xfrm>
              <a:off x="381000" y="381000"/>
              <a:ext cx="4381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Next steps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Build &amp; Run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Replace main.cpp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Replace the generated </a:t>
              </a:r>
              <a:r>
                <a:rPr b="1" lang="en-US" sz="1150">
                  <a:solidFill>
                    <a:srgbClr val="334155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main.cpp</a:t>
              </a: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with your OpenGL sample program.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Execute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Build and Run the project configuration.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2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Verification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Once the OpenGL window appears successfully, your development environment is ready.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62b341f7e_0_1620"/>
          <p:cNvSpPr txBox="1"/>
          <p:nvPr/>
        </p:nvSpPr>
        <p:spPr>
          <a:xfrm>
            <a:off x="762000" y="5715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OpenGL Stack &amp; Execution Flow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34" name="Google Shape;234;g3f62b341f7e_0_1620"/>
          <p:cNvGrpSpPr/>
          <p:nvPr/>
        </p:nvGrpSpPr>
        <p:grpSpPr>
          <a:xfrm>
            <a:off x="857250" y="1714500"/>
            <a:ext cx="10496700" cy="3810000"/>
            <a:chOff x="857250" y="1714500"/>
            <a:chExt cx="10496700" cy="3810000"/>
          </a:xfrm>
        </p:grpSpPr>
        <p:grpSp>
          <p:nvGrpSpPr>
            <p:cNvPr id="235" name="Google Shape;235;g3f62b341f7e_0_1620"/>
            <p:cNvGrpSpPr/>
            <p:nvPr/>
          </p:nvGrpSpPr>
          <p:grpSpPr>
            <a:xfrm>
              <a:off x="857250" y="1714500"/>
              <a:ext cx="1352700" cy="3810000"/>
              <a:chOff x="0" y="0"/>
              <a:chExt cx="1352700" cy="3810000"/>
            </a:xfrm>
          </p:grpSpPr>
          <p:sp>
            <p:nvSpPr>
              <p:cNvPr id="236" name="Google Shape;236;g3f62b341f7e_0_1620"/>
              <p:cNvSpPr/>
              <p:nvPr/>
            </p:nvSpPr>
            <p:spPr>
              <a:xfrm>
                <a:off x="0" y="0"/>
                <a:ext cx="1352700" cy="3810000"/>
              </a:xfrm>
              <a:prstGeom prst="roundRect">
                <a:avLst>
                  <a:gd fmla="val 11267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f62b341f7e_0_1620"/>
              <p:cNvSpPr txBox="1"/>
              <p:nvPr/>
            </p:nvSpPr>
            <p:spPr>
              <a:xfrm>
                <a:off x="152400" y="228600"/>
                <a:ext cx="10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</a:t>
                </a:r>
                <a:endParaRPr b="0" sz="16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Your Program</a:t>
                </a:r>
                <a:endParaRPr b="1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C++ source code containing your application logic and graphics calls.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38" name="Google Shape;238;g3f62b341f7e_0_1620"/>
            <p:cNvSpPr txBox="1"/>
            <p:nvPr/>
          </p:nvSpPr>
          <p:spPr>
            <a:xfrm>
              <a:off x="2209800" y="3499993"/>
              <a:ext cx="171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navigate_next</a:t>
              </a:r>
              <a:endParaRPr sz="148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239" name="Google Shape;239;g3f62b341f7e_0_1620"/>
            <p:cNvGrpSpPr/>
            <p:nvPr/>
          </p:nvGrpSpPr>
          <p:grpSpPr>
            <a:xfrm>
              <a:off x="2381250" y="1714500"/>
              <a:ext cx="1352700" cy="3810000"/>
              <a:chOff x="0" y="0"/>
              <a:chExt cx="1352700" cy="3810000"/>
            </a:xfrm>
          </p:grpSpPr>
          <p:sp>
            <p:nvSpPr>
              <p:cNvPr id="240" name="Google Shape;240;g3f62b341f7e_0_1620"/>
              <p:cNvSpPr/>
              <p:nvPr/>
            </p:nvSpPr>
            <p:spPr>
              <a:xfrm>
                <a:off x="0" y="0"/>
                <a:ext cx="1352700" cy="3810000"/>
              </a:xfrm>
              <a:prstGeom prst="roundRect">
                <a:avLst>
                  <a:gd fmla="val 11267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f62b341f7e_0_1620"/>
              <p:cNvSpPr txBox="1"/>
              <p:nvPr/>
            </p:nvSpPr>
            <p:spPr>
              <a:xfrm>
                <a:off x="152400" y="228600"/>
                <a:ext cx="10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8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</a:t>
                </a:r>
                <a:endParaRPr b="0" sz="148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1203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Code::Blocks</a:t>
                </a:r>
                <a:endParaRPr b="1" sz="120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018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Integrated Development Environment (IDE) to write and manage code.</a:t>
                </a:r>
                <a:endParaRPr b="0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42" name="Google Shape;242;g3f62b341f7e_0_1620"/>
            <p:cNvSpPr txBox="1"/>
            <p:nvPr/>
          </p:nvSpPr>
          <p:spPr>
            <a:xfrm>
              <a:off x="3733800" y="3499993"/>
              <a:ext cx="171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navigate_next</a:t>
              </a:r>
              <a:endParaRPr sz="148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243" name="Google Shape;243;g3f62b341f7e_0_1620"/>
            <p:cNvGrpSpPr/>
            <p:nvPr/>
          </p:nvGrpSpPr>
          <p:grpSpPr>
            <a:xfrm>
              <a:off x="3905250" y="1714500"/>
              <a:ext cx="1352700" cy="3810000"/>
              <a:chOff x="0" y="0"/>
              <a:chExt cx="1352700" cy="3810000"/>
            </a:xfrm>
          </p:grpSpPr>
          <p:sp>
            <p:nvSpPr>
              <p:cNvPr id="244" name="Google Shape;244;g3f62b341f7e_0_1620"/>
              <p:cNvSpPr/>
              <p:nvPr/>
            </p:nvSpPr>
            <p:spPr>
              <a:xfrm>
                <a:off x="0" y="0"/>
                <a:ext cx="1352700" cy="3810000"/>
              </a:xfrm>
              <a:prstGeom prst="roundRect">
                <a:avLst>
                  <a:gd fmla="val 11267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f62b341f7e_0_1620"/>
              <p:cNvSpPr txBox="1"/>
              <p:nvPr/>
            </p:nvSpPr>
            <p:spPr>
              <a:xfrm>
                <a:off x="152400" y="228600"/>
                <a:ext cx="10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03</a:t>
                </a:r>
                <a:endParaRPr b="0" sz="16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GCC Compiler</a:t>
                </a:r>
                <a:endParaRPr b="1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MinGW-w64 compiler toolchain translating C++ into executable binaries.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46" name="Google Shape;246;g3f62b341f7e_0_1620"/>
            <p:cNvSpPr txBox="1"/>
            <p:nvPr/>
          </p:nvSpPr>
          <p:spPr>
            <a:xfrm>
              <a:off x="5257800" y="3499993"/>
              <a:ext cx="171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navigate_next</a:t>
              </a:r>
              <a:endParaRPr sz="148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247" name="Google Shape;247;g3f62b341f7e_0_1620"/>
            <p:cNvGrpSpPr/>
            <p:nvPr/>
          </p:nvGrpSpPr>
          <p:grpSpPr>
            <a:xfrm>
              <a:off x="5429250" y="1714500"/>
              <a:ext cx="1352700" cy="3810000"/>
              <a:chOff x="0" y="0"/>
              <a:chExt cx="1352700" cy="3810000"/>
            </a:xfrm>
          </p:grpSpPr>
          <p:sp>
            <p:nvSpPr>
              <p:cNvPr id="248" name="Google Shape;248;g3f62b341f7e_0_1620"/>
              <p:cNvSpPr/>
              <p:nvPr/>
            </p:nvSpPr>
            <p:spPr>
              <a:xfrm>
                <a:off x="0" y="0"/>
                <a:ext cx="1352700" cy="3810000"/>
              </a:xfrm>
              <a:prstGeom prst="roundRect">
                <a:avLst>
                  <a:gd fmla="val 11267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g3f62b341f7e_0_1620"/>
              <p:cNvSpPr txBox="1"/>
              <p:nvPr/>
            </p:nvSpPr>
            <p:spPr>
              <a:xfrm>
                <a:off x="152400" y="228600"/>
                <a:ext cx="10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8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04</a:t>
                </a:r>
                <a:endParaRPr b="0" sz="148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1203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GLFW</a:t>
                </a:r>
                <a:endParaRPr b="1" sz="120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018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Utility library managing window creation, screen context, and user keyboard/mouse input.</a:t>
                </a:r>
                <a:endParaRPr b="0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50" name="Google Shape;250;g3f62b341f7e_0_1620"/>
            <p:cNvSpPr txBox="1"/>
            <p:nvPr/>
          </p:nvSpPr>
          <p:spPr>
            <a:xfrm>
              <a:off x="6781800" y="3499993"/>
              <a:ext cx="171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navigate_next</a:t>
              </a:r>
              <a:endParaRPr sz="148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251" name="Google Shape;251;g3f62b341f7e_0_1620"/>
            <p:cNvGrpSpPr/>
            <p:nvPr/>
          </p:nvGrpSpPr>
          <p:grpSpPr>
            <a:xfrm>
              <a:off x="6953250" y="1714500"/>
              <a:ext cx="1352700" cy="3810000"/>
              <a:chOff x="0" y="0"/>
              <a:chExt cx="1352700" cy="3810000"/>
            </a:xfrm>
          </p:grpSpPr>
          <p:sp>
            <p:nvSpPr>
              <p:cNvPr id="252" name="Google Shape;252;g3f62b341f7e_0_1620"/>
              <p:cNvSpPr/>
              <p:nvPr/>
            </p:nvSpPr>
            <p:spPr>
              <a:xfrm>
                <a:off x="0" y="0"/>
                <a:ext cx="1352700" cy="3810000"/>
              </a:xfrm>
              <a:prstGeom prst="roundRect">
                <a:avLst>
                  <a:gd fmla="val 11267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g3f62b341f7e_0_1620"/>
              <p:cNvSpPr txBox="1"/>
              <p:nvPr/>
            </p:nvSpPr>
            <p:spPr>
              <a:xfrm>
                <a:off x="152400" y="228600"/>
                <a:ext cx="10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05</a:t>
                </a:r>
                <a:endParaRPr b="0" sz="16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GLAD</a:t>
                </a:r>
                <a:endParaRPr b="1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Loads modern OpenGL function pointers dynamically at runtime.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54" name="Google Shape;254;g3f62b341f7e_0_1620"/>
            <p:cNvSpPr txBox="1"/>
            <p:nvPr/>
          </p:nvSpPr>
          <p:spPr>
            <a:xfrm>
              <a:off x="8305800" y="3499993"/>
              <a:ext cx="171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navigate_next</a:t>
              </a:r>
              <a:endParaRPr sz="148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255" name="Google Shape;255;g3f62b341f7e_0_1620"/>
            <p:cNvGrpSpPr/>
            <p:nvPr/>
          </p:nvGrpSpPr>
          <p:grpSpPr>
            <a:xfrm>
              <a:off x="8477250" y="1714500"/>
              <a:ext cx="1352700" cy="3810000"/>
              <a:chOff x="0" y="0"/>
              <a:chExt cx="1352700" cy="3810000"/>
            </a:xfrm>
          </p:grpSpPr>
          <p:sp>
            <p:nvSpPr>
              <p:cNvPr id="256" name="Google Shape;256;g3f62b341f7e_0_1620"/>
              <p:cNvSpPr/>
              <p:nvPr/>
            </p:nvSpPr>
            <p:spPr>
              <a:xfrm>
                <a:off x="0" y="0"/>
                <a:ext cx="1352700" cy="3810000"/>
              </a:xfrm>
              <a:prstGeom prst="roundRect">
                <a:avLst>
                  <a:gd fmla="val 11267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f62b341f7e_0_1620"/>
              <p:cNvSpPr txBox="1"/>
              <p:nvPr/>
            </p:nvSpPr>
            <p:spPr>
              <a:xfrm>
                <a:off x="152400" y="228600"/>
                <a:ext cx="10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6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06</a:t>
                </a:r>
                <a:endParaRPr b="0" sz="136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1105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OpenGL Driver</a:t>
                </a:r>
                <a:endParaRPr b="1" sz="110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93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Translates API calls into hardware-specific commands for the GPU.</a:t>
                </a:r>
                <a:endParaRPr b="0" sz="93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58" name="Google Shape;258;g3f62b341f7e_0_1620"/>
            <p:cNvSpPr txBox="1"/>
            <p:nvPr/>
          </p:nvSpPr>
          <p:spPr>
            <a:xfrm>
              <a:off x="9829800" y="3499993"/>
              <a:ext cx="171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navigate_next</a:t>
              </a:r>
              <a:endParaRPr sz="148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259" name="Google Shape;259;g3f62b341f7e_0_1620"/>
            <p:cNvGrpSpPr/>
            <p:nvPr/>
          </p:nvGrpSpPr>
          <p:grpSpPr>
            <a:xfrm>
              <a:off x="10001250" y="1714500"/>
              <a:ext cx="1352700" cy="3810000"/>
              <a:chOff x="0" y="0"/>
              <a:chExt cx="1352700" cy="3810000"/>
            </a:xfrm>
          </p:grpSpPr>
          <p:sp>
            <p:nvSpPr>
              <p:cNvPr id="260" name="Google Shape;260;g3f62b341f7e_0_1620"/>
              <p:cNvSpPr/>
              <p:nvPr/>
            </p:nvSpPr>
            <p:spPr>
              <a:xfrm>
                <a:off x="0" y="0"/>
                <a:ext cx="1352700" cy="3810000"/>
              </a:xfrm>
              <a:prstGeom prst="roundRect">
                <a:avLst>
                  <a:gd fmla="val 11267" name="adj"/>
                </a:avLst>
              </a:prstGeom>
              <a:solidFill>
                <a:srgbClr val="F0F9FF"/>
              </a:solidFill>
              <a:ln cap="flat" cmpd="sng" w="19050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g3f62b341f7e_0_1620"/>
              <p:cNvSpPr txBox="1"/>
              <p:nvPr/>
            </p:nvSpPr>
            <p:spPr>
              <a:xfrm>
                <a:off x="152400" y="228600"/>
                <a:ext cx="10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07</a:t>
                </a:r>
                <a:endParaRPr b="0" sz="1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GPU</a:t>
                </a:r>
                <a:endParaRPr b="1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Graphics Processing Unit that executes operations and renders pixels.</a:t>
                </a:r>
                <a:endParaRPr b="0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 txBox="1"/>
          <p:nvPr>
            <p:ph type="title"/>
          </p:nvPr>
        </p:nvSpPr>
        <p:spPr>
          <a:xfrm>
            <a:off x="762000" y="4762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Prerequisites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67" name="Google Shape;267;p6"/>
          <p:cNvGrpSpPr/>
          <p:nvPr/>
        </p:nvGrpSpPr>
        <p:grpSpPr>
          <a:xfrm>
            <a:off x="762000" y="1714500"/>
            <a:ext cx="3333900" cy="4191000"/>
            <a:chOff x="0" y="0"/>
            <a:chExt cx="3333900" cy="4191000"/>
          </a:xfrm>
        </p:grpSpPr>
        <p:sp>
          <p:nvSpPr>
            <p:cNvPr id="268" name="Google Shape;268;p6"/>
            <p:cNvSpPr/>
            <p:nvPr/>
          </p:nvSpPr>
          <p:spPr>
            <a:xfrm>
              <a:off x="0" y="0"/>
              <a:ext cx="3333900" cy="41910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6"/>
            <p:cNvSpPr txBox="1"/>
            <p:nvPr/>
          </p:nvSpPr>
          <p:spPr>
            <a:xfrm>
              <a:off x="228600" y="228600"/>
              <a:ext cx="2876700" cy="37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Development Tools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C++ Compiler &amp; IDE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Recommended Environment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Visual Studio Community 2022 </a:t>
              </a: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(Windows)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Core Purpose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Write, build, and debug C++ programs. Includes the MSVC compiler.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0" name="Google Shape;270;p6"/>
          <p:cNvGrpSpPr/>
          <p:nvPr/>
        </p:nvGrpSpPr>
        <p:grpSpPr>
          <a:xfrm>
            <a:off x="4429125" y="1714500"/>
            <a:ext cx="3333900" cy="4191000"/>
            <a:chOff x="0" y="0"/>
            <a:chExt cx="3333900" cy="4191000"/>
          </a:xfrm>
        </p:grpSpPr>
        <p:sp>
          <p:nvSpPr>
            <p:cNvPr id="271" name="Google Shape;271;p6"/>
            <p:cNvSpPr/>
            <p:nvPr/>
          </p:nvSpPr>
          <p:spPr>
            <a:xfrm>
              <a:off x="0" y="0"/>
              <a:ext cx="3333900" cy="41910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6"/>
            <p:cNvSpPr txBox="1"/>
            <p:nvPr/>
          </p:nvSpPr>
          <p:spPr>
            <a:xfrm>
              <a:off x="228600" y="228600"/>
              <a:ext cx="2876700" cy="37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Command Line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Terminal Skills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Required Proficiency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Basic Terminal &amp; Command Prompt skills.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Core Purpose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Essential for verifying development environment installations and executing build commands.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3" name="Google Shape;273;p6"/>
          <p:cNvGrpSpPr/>
          <p:nvPr/>
        </p:nvGrpSpPr>
        <p:grpSpPr>
          <a:xfrm>
            <a:off x="8096250" y="1714500"/>
            <a:ext cx="3333900" cy="4191000"/>
            <a:chOff x="0" y="0"/>
            <a:chExt cx="3333900" cy="4191000"/>
          </a:xfrm>
        </p:grpSpPr>
        <p:sp>
          <p:nvSpPr>
            <p:cNvPr id="274" name="Google Shape;274;p6"/>
            <p:cNvSpPr/>
            <p:nvPr/>
          </p:nvSpPr>
          <p:spPr>
            <a:xfrm>
              <a:off x="0" y="0"/>
              <a:ext cx="3333900" cy="4191000"/>
            </a:xfrm>
            <a:prstGeom prst="roundRect">
              <a:avLst>
                <a:gd fmla="val 4571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6"/>
            <p:cNvSpPr txBox="1"/>
            <p:nvPr/>
          </p:nvSpPr>
          <p:spPr>
            <a:xfrm>
              <a:off x="228600" y="228600"/>
              <a:ext cx="2876700" cy="37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3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System Access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Administrator Rights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Required For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Installing Visual Studio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Setting Env Variables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Installing SDKs &amp; libraries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7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281" name="Google Shape;281;p7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7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Installing on Windows (Approach B)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83" name="Google Shape;283;p7"/>
          <p:cNvGrpSpPr/>
          <p:nvPr/>
        </p:nvGrpSpPr>
        <p:grpSpPr>
          <a:xfrm>
            <a:off x="762000" y="1524000"/>
            <a:ext cx="5048400" cy="4476900"/>
            <a:chOff x="0" y="0"/>
            <a:chExt cx="5048400" cy="4476900"/>
          </a:xfrm>
        </p:grpSpPr>
        <p:sp>
          <p:nvSpPr>
            <p:cNvPr id="284" name="Google Shape;284;p7"/>
            <p:cNvSpPr/>
            <p:nvPr/>
          </p:nvSpPr>
          <p:spPr>
            <a:xfrm>
              <a:off x="0" y="0"/>
              <a:ext cx="5048400" cy="44769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7"/>
            <p:cNvSpPr txBox="1"/>
            <p:nvPr/>
          </p:nvSpPr>
          <p:spPr>
            <a:xfrm>
              <a:off x="285750" y="285750"/>
              <a:ext cx="4476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b="1" sz="1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Install Visual Studio 2022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Download Link</a:t>
              </a:r>
              <a:endParaRPr b="1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 u="sng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visualstudio.microsoft.com</a:t>
              </a:r>
              <a:endParaRPr sz="12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Required Workload Selection</a:t>
              </a:r>
              <a:endParaRPr b="1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Desktop Development with C++</a:t>
              </a:r>
              <a:endParaRPr b="1" sz="1400">
                <a:solidFill>
                  <a:srgbClr val="0F172A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Package Installs:</a:t>
              </a:r>
              <a:endParaRPr b="1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MSVC Compiler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Windows SDK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-US" sz="1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Debugger &amp; Build Tools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6" name="Google Shape;286;p7"/>
          <p:cNvGrpSpPr/>
          <p:nvPr/>
        </p:nvGrpSpPr>
        <p:grpSpPr>
          <a:xfrm>
            <a:off x="6381750" y="1524000"/>
            <a:ext cx="5048400" cy="4476900"/>
            <a:chOff x="0" y="0"/>
            <a:chExt cx="5048400" cy="4476900"/>
          </a:xfrm>
        </p:grpSpPr>
        <p:sp>
          <p:nvSpPr>
            <p:cNvPr id="287" name="Google Shape;287;p7"/>
            <p:cNvSpPr/>
            <p:nvPr/>
          </p:nvSpPr>
          <p:spPr>
            <a:xfrm>
              <a:off x="0" y="0"/>
              <a:ext cx="5048400" cy="4476900"/>
            </a:xfrm>
            <a:prstGeom prst="roundRect">
              <a:avLst>
                <a:gd fmla="val 3404" name="adj"/>
              </a:avLst>
            </a:prstGeom>
            <a:solidFill>
              <a:srgbClr val="F0F9FF"/>
            </a:solidFill>
            <a:ln cap="flat" cmpd="sng" w="14300">
              <a:solidFill>
                <a:srgbClr val="B0E0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7"/>
            <p:cNvSpPr txBox="1"/>
            <p:nvPr/>
          </p:nvSpPr>
          <p:spPr>
            <a:xfrm>
              <a:off x="285750" y="285750"/>
              <a:ext cx="4476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ENVIRONMENT USE</a:t>
              </a:r>
              <a:endParaRPr b="1" sz="14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Visual Studio Provides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An all-in-one integrated environment natively configured for C++ development.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edit_note</a:t>
              </a:r>
              <a:r>
                <a:rPr b="0" lang="en-US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Code Editor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settings_applications</a:t>
              </a:r>
              <a:r>
                <a:rPr b="0" lang="en-US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Built-in Compiler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r>
                <a:rPr b="0" lang="en-US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Integrated Debugger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r>
                <a:rPr b="0" lang="en-US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Manager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369A1"/>
                  </a:solidFill>
                  <a:highlight>
                    <a:srgbClr val="E0F2FE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r>
                <a:rPr b="1" lang="en-US" sz="1300">
                  <a:solidFill>
                    <a:srgbClr val="0369A1"/>
                  </a:solidFill>
                  <a:highlight>
                    <a:srgbClr val="E0F2FE"/>
                  </a:highlight>
                  <a:latin typeface="Inter"/>
                  <a:ea typeface="Inter"/>
                  <a:cs typeface="Inter"/>
                  <a:sym typeface="Inter"/>
                </a:rPr>
                <a:t>No separate compiler (MinGW) is required.</a:t>
              </a:r>
              <a:endParaRPr b="1" sz="1300">
                <a:solidFill>
                  <a:srgbClr val="0369A1"/>
                </a:solidFill>
                <a:highlight>
                  <a:srgbClr val="E0F2FE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62b341f7e_0_2193"/>
          <p:cNvSpPr txBox="1"/>
          <p:nvPr/>
        </p:nvSpPr>
        <p:spPr>
          <a:xfrm>
            <a:off x="762000" y="4762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Download OpenGL Libraries</a:t>
            </a:r>
            <a:endParaRPr b="0" i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94" name="Google Shape;294;g3f62b341f7e_0_2193"/>
          <p:cNvGrpSpPr/>
          <p:nvPr/>
        </p:nvGrpSpPr>
        <p:grpSpPr>
          <a:xfrm>
            <a:off x="762000" y="1714500"/>
            <a:ext cx="3333900" cy="4381500"/>
            <a:chOff x="0" y="0"/>
            <a:chExt cx="3333900" cy="4381500"/>
          </a:xfrm>
        </p:grpSpPr>
        <p:sp>
          <p:nvSpPr>
            <p:cNvPr id="295" name="Google Shape;295;g3f62b341f7e_0_2193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g3f62b341f7e_0_2193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download</a:t>
              </a:r>
              <a:endParaRPr b="0"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WINDOW CREATION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GLFW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Download Link</a:t>
              </a:r>
              <a:b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100" u="sng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glfw.org/download.html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Required Package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Pre-compiled Windows Binaries</a:t>
              </a:r>
              <a:endParaRPr b="1" sz="1300">
                <a:solidFill>
                  <a:srgbClr val="0F172A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Provides a multi-platform library for OpenGL context creation, window management, and input handling.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7" name="Google Shape;297;g3f62b341f7e_0_2193"/>
          <p:cNvGrpSpPr/>
          <p:nvPr/>
        </p:nvGrpSpPr>
        <p:grpSpPr>
          <a:xfrm>
            <a:off x="4429125" y="1714500"/>
            <a:ext cx="3333900" cy="4381500"/>
            <a:chOff x="0" y="0"/>
            <a:chExt cx="3333900" cy="4381500"/>
          </a:xfrm>
        </p:grpSpPr>
        <p:sp>
          <p:nvSpPr>
            <p:cNvPr id="298" name="Google Shape;298;g3f62b341f7e_0_2193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g3f62b341f7e_0_2193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settings_applications</a:t>
              </a:r>
              <a:endParaRPr b="0"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EXTENSION LOADER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GLAD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Service Link</a:t>
              </a:r>
              <a:b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100" u="sng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gen.glad.sh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Generator Settings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• Language:</a:t>
              </a:r>
              <a:r>
                <a:rPr b="0" lang="en-US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C/C++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• Spec:</a:t>
              </a:r>
              <a:r>
                <a:rPr b="0" lang="en-US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OpenGL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• Version:</a:t>
              </a:r>
              <a:r>
                <a:rPr b="0" lang="en-US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4.6 (or lab)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• Profile:</a:t>
              </a:r>
              <a:r>
                <a:rPr b="0" lang="en-US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Core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zip</a:t>
              </a:r>
              <a:r>
                <a:rPr b="0" lang="en-US" sz="11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Download the generated ZIP</a:t>
              </a:r>
              <a:endParaRPr b="0" sz="115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00" name="Google Shape;300;g3f62b341f7e_0_2193"/>
          <p:cNvGrpSpPr/>
          <p:nvPr/>
        </p:nvGrpSpPr>
        <p:grpSpPr>
          <a:xfrm>
            <a:off x="8096250" y="1714500"/>
            <a:ext cx="3333900" cy="4381500"/>
            <a:chOff x="0" y="0"/>
            <a:chExt cx="3333900" cy="4381500"/>
          </a:xfrm>
        </p:grpSpPr>
        <p:sp>
          <p:nvSpPr>
            <p:cNvPr id="301" name="Google Shape;301;g3f62b341f7e_0_2193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4571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g3f62b341f7e_0_2193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</a:t>
              </a:r>
              <a:endParaRPr b="0" sz="3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MATHEMATICS LIBRARY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GLM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Release Link</a:t>
              </a:r>
              <a:b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100" u="sng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[suspicious link removed]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Required Package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highlight>
                    <a:srgbClr val="E0F2FE"/>
                  </a:highlight>
                  <a:latin typeface="Inter"/>
                  <a:ea typeface="Inter"/>
                  <a:cs typeface="Inter"/>
                  <a:sym typeface="Inter"/>
                </a:rPr>
                <a:t>Download the Latest Release</a:t>
              </a:r>
              <a:endParaRPr b="1" sz="1300">
                <a:solidFill>
                  <a:srgbClr val="0F172A"/>
                </a:solidFill>
                <a:highlight>
                  <a:srgbClr val="E0F2FE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header-only C++ mathematics library for graphics software based on the OpenGL Shading Language specifications.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g3f62b341f7e_0_2393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308" name="Google Shape;308;g3f62b341f7e_0_2393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g3f62b341f7e_0_2393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Use of Libraries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10" name="Google Shape;310;g3f62b341f7e_0_2393"/>
          <p:cNvGrpSpPr/>
          <p:nvPr/>
        </p:nvGrpSpPr>
        <p:grpSpPr>
          <a:xfrm>
            <a:off x="762000" y="1714500"/>
            <a:ext cx="3333900" cy="4381500"/>
            <a:chOff x="0" y="0"/>
            <a:chExt cx="3333900" cy="4381500"/>
          </a:xfrm>
        </p:grpSpPr>
        <p:sp>
          <p:nvSpPr>
            <p:cNvPr id="311" name="Google Shape;311;g3f62b341f7e_0_2393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g3f62b341f7e_0_2393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aspect_ratio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Window &amp; Input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GLFW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Core window management and input handling.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Creates application window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Configures OpenGL Context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Handles keyboard &amp; mouse inputs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3" name="Google Shape;313;g3f62b341f7e_0_2393"/>
          <p:cNvGrpSpPr/>
          <p:nvPr/>
        </p:nvGrpSpPr>
        <p:grpSpPr>
          <a:xfrm>
            <a:off x="4429125" y="1714500"/>
            <a:ext cx="3333900" cy="4381500"/>
            <a:chOff x="0" y="0"/>
            <a:chExt cx="3333900" cy="4381500"/>
          </a:xfrm>
        </p:grpSpPr>
        <p:sp>
          <p:nvSpPr>
            <p:cNvPr id="314" name="Google Shape;314;g3f62b341f7e_0_2393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g3f62b341f7e_0_2393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Extension Loader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GLAD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Dynamic pointer loader for library functions.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Loads Modern OpenGL Functions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Retrieves API driver functions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Handles version-specific capabilities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6" name="Google Shape;316;g3f62b341f7e_0_2393"/>
          <p:cNvGrpSpPr/>
          <p:nvPr/>
        </p:nvGrpSpPr>
        <p:grpSpPr>
          <a:xfrm>
            <a:off x="8096250" y="1714500"/>
            <a:ext cx="3333900" cy="4381500"/>
            <a:chOff x="0" y="0"/>
            <a:chExt cx="3333900" cy="4381500"/>
          </a:xfrm>
        </p:grpSpPr>
        <p:sp>
          <p:nvSpPr>
            <p:cNvPr id="317" name="Google Shape;317;g3f62b341f7e_0_2393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4571" name="adj"/>
              </a:avLst>
            </a:prstGeom>
            <a:solidFill>
              <a:srgbClr val="F0F9FF"/>
            </a:solidFill>
            <a:ln cap="flat" cmpd="sng" w="14300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g3f62b341f7e_0_2393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</a:t>
              </a:r>
              <a:endParaRPr sz="3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Mathematics Library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GLM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Header-only library based on GLSL specifications.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Vector &amp; Matrix operations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3D coordinate transformations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Perspective &amp; view projections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g3f62b341f7e_0_2594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324" name="Google Shape;324;g3f62b341f7e_0_2594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g3f62b341f7e_0_2594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Organize OpenGL Libraries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26" name="Google Shape;326;g3f62b341f7e_0_2594"/>
          <p:cNvGrpSpPr/>
          <p:nvPr/>
        </p:nvGrpSpPr>
        <p:grpSpPr>
          <a:xfrm>
            <a:off x="762000" y="1524000"/>
            <a:ext cx="4953000" cy="4667400"/>
            <a:chOff x="0" y="0"/>
            <a:chExt cx="4953000" cy="4667400"/>
          </a:xfrm>
        </p:grpSpPr>
        <p:sp>
          <p:nvSpPr>
            <p:cNvPr id="327" name="Google Shape;327;g3f62b341f7e_0_2594"/>
            <p:cNvSpPr/>
            <p:nvPr/>
          </p:nvSpPr>
          <p:spPr>
            <a:xfrm>
              <a:off x="0" y="0"/>
              <a:ext cx="49530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g3f62b341f7e_0_2594"/>
            <p:cNvSpPr txBox="1"/>
            <p:nvPr/>
          </p:nvSpPr>
          <p:spPr>
            <a:xfrm>
              <a:off x="304800" y="304800"/>
              <a:ext cx="4343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create_new_folder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Create OpenGL Directory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Establish a dedicated directory structure on your local drive to organize OpenGL assets systematically.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C:\OpenGL</a:t>
              </a:r>
              <a:endParaRPr b="1" sz="14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include</a:t>
              </a:r>
              <a:endParaRPr b="0" sz="14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lib</a:t>
              </a:r>
              <a:endParaRPr b="0" sz="14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└── bin</a:t>
              </a:r>
              <a:endParaRPr b="0" sz="14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Create these three subfolders inside </a:t>
              </a: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C:\OpenGL</a:t>
              </a:r>
              <a:r>
                <a:rPr b="0" lang="en-US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to host headers, compiled libraries, and dynamic binaries respectively.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29" name="Google Shape;329;g3f62b341f7e_0_2594"/>
          <p:cNvGrpSpPr/>
          <p:nvPr/>
        </p:nvGrpSpPr>
        <p:grpSpPr>
          <a:xfrm>
            <a:off x="6096000" y="1524000"/>
            <a:ext cx="5334000" cy="4667400"/>
            <a:chOff x="0" y="0"/>
            <a:chExt cx="5334000" cy="4667400"/>
          </a:xfrm>
        </p:grpSpPr>
        <p:sp>
          <p:nvSpPr>
            <p:cNvPr id="330" name="Google Shape;330;g3f62b341f7e_0_2594"/>
            <p:cNvSpPr/>
            <p:nvPr/>
          </p:nvSpPr>
          <p:spPr>
            <a:xfrm>
              <a:off x="0" y="0"/>
              <a:ext cx="53340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g3f62b341f7e_0_2594"/>
            <p:cNvSpPr txBox="1"/>
            <p:nvPr/>
          </p:nvSpPr>
          <p:spPr>
            <a:xfrm>
              <a:off x="304800" y="304800"/>
              <a:ext cx="4724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content_copy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Copy GLFW Files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Include folder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contents to: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lang="en-US" sz="115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C:\OpenGL\include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Lib folder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contents to: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lang="en-US" sz="115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C:\OpenGL\lib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Required DLL files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to: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lang="en-US" sz="115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C:\OpenGL\bin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GLFW Purpose &amp; Usage: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Provides system window creation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Creates and manages the OpenGL Context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Handles continuous keyboard and mouse user input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3f62b341f7e_0_28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g3f62b341f7e_0_2839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338" name="Google Shape;338;g3f62b341f7e_0_2839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g3f62b341f7e_0_2839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Copy GLAD Files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40" name="Google Shape;340;g3f62b341f7e_0_2839"/>
          <p:cNvGrpSpPr/>
          <p:nvPr/>
        </p:nvGrpSpPr>
        <p:grpSpPr>
          <a:xfrm>
            <a:off x="762000" y="1524000"/>
            <a:ext cx="4953000" cy="4667400"/>
            <a:chOff x="0" y="0"/>
            <a:chExt cx="4953000" cy="4667400"/>
          </a:xfrm>
        </p:grpSpPr>
        <p:sp>
          <p:nvSpPr>
            <p:cNvPr id="341" name="Google Shape;341;g3f62b341f7e_0_2839"/>
            <p:cNvSpPr/>
            <p:nvPr/>
          </p:nvSpPr>
          <p:spPr>
            <a:xfrm>
              <a:off x="0" y="0"/>
              <a:ext cx="49530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g3f62b341f7e_0_2839"/>
            <p:cNvSpPr txBox="1"/>
            <p:nvPr/>
          </p:nvSpPr>
          <p:spPr>
            <a:xfrm>
              <a:off x="304800" y="304800"/>
              <a:ext cx="4343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content_copy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3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Copy GLAD Headers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Copy the following directories from the generated GLAD files: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</a:t>
              </a:r>
              <a:r>
                <a:rPr b="1" lang="en-US" sz="14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include/glad</a:t>
              </a:r>
              <a:endParaRPr b="1" sz="14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└── </a:t>
              </a:r>
              <a:r>
                <a:rPr b="1" lang="en-US" sz="14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include/KHR</a:t>
              </a:r>
              <a:endParaRPr b="1" sz="14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Destination Directory: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C:\OpenGL\include</a:t>
              </a:r>
              <a:endParaRPr b="1" sz="14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43" name="Google Shape;343;g3f62b341f7e_0_2839"/>
          <p:cNvGrpSpPr/>
          <p:nvPr/>
        </p:nvGrpSpPr>
        <p:grpSpPr>
          <a:xfrm>
            <a:off x="6096000" y="1524000"/>
            <a:ext cx="5334000" cy="4667400"/>
            <a:chOff x="0" y="0"/>
            <a:chExt cx="5334000" cy="4667400"/>
          </a:xfrm>
        </p:grpSpPr>
        <p:sp>
          <p:nvSpPr>
            <p:cNvPr id="344" name="Google Shape;344;g3f62b341f7e_0_2839"/>
            <p:cNvSpPr/>
            <p:nvPr/>
          </p:nvSpPr>
          <p:spPr>
            <a:xfrm>
              <a:off x="0" y="0"/>
              <a:ext cx="53340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g3f62b341f7e_0_2839"/>
            <p:cNvSpPr txBox="1"/>
            <p:nvPr/>
          </p:nvSpPr>
          <p:spPr>
            <a:xfrm>
              <a:off x="304800" y="304800"/>
              <a:ext cx="4724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4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Add glad.c to Project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Add the source file directly into your IDE / build system: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glad.c</a:t>
              </a:r>
              <a:endParaRPr b="1" sz="14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GLAD Purpose &amp; Usage: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Loads modern OpenGL function pointers at runtime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Required for dynamic API driver retrieval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g3f62b341f7e_0_30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g3f62b341f7e_0_3020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352" name="Google Shape;352;g3f62b341f7e_0_3020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g3f62b341f7e_0_3020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Copy GLM Files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54" name="Google Shape;354;g3f62b341f7e_0_3020"/>
          <p:cNvGrpSpPr/>
          <p:nvPr/>
        </p:nvGrpSpPr>
        <p:grpSpPr>
          <a:xfrm>
            <a:off x="762000" y="1524000"/>
            <a:ext cx="4953000" cy="4667400"/>
            <a:chOff x="0" y="0"/>
            <a:chExt cx="4953000" cy="4667400"/>
          </a:xfrm>
        </p:grpSpPr>
        <p:sp>
          <p:nvSpPr>
            <p:cNvPr id="355" name="Google Shape;355;g3f62b341f7e_0_3020"/>
            <p:cNvSpPr/>
            <p:nvPr/>
          </p:nvSpPr>
          <p:spPr>
            <a:xfrm>
              <a:off x="0" y="0"/>
              <a:ext cx="49530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g3f62b341f7e_0_3020"/>
            <p:cNvSpPr txBox="1"/>
            <p:nvPr/>
          </p:nvSpPr>
          <p:spPr>
            <a:xfrm>
              <a:off x="304800" y="304800"/>
              <a:ext cx="4343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folder_copy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5</a:t>
              </a:r>
              <a:endParaRPr sz="11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Copy GLM Folder</a:t>
              </a:r>
              <a:endParaRPr sz="2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Copy the entire glm directory into your local OpenGL include folder:</a:t>
              </a:r>
              <a:endParaRPr sz="1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Destination Directory:</a:t>
              </a:r>
              <a:endParaRPr sz="11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C:\OpenGL\include</a:t>
              </a:r>
              <a:endParaRPr sz="1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57" name="Google Shape;357;g3f62b341f7e_0_3020"/>
          <p:cNvGrpSpPr/>
          <p:nvPr/>
        </p:nvGrpSpPr>
        <p:grpSpPr>
          <a:xfrm>
            <a:off x="6096000" y="1524000"/>
            <a:ext cx="5334000" cy="4667400"/>
            <a:chOff x="0" y="0"/>
            <a:chExt cx="5334000" cy="4667400"/>
          </a:xfrm>
        </p:grpSpPr>
        <p:sp>
          <p:nvSpPr>
            <p:cNvPr id="358" name="Google Shape;358;g3f62b341f7e_0_3020"/>
            <p:cNvSpPr/>
            <p:nvPr/>
          </p:nvSpPr>
          <p:spPr>
            <a:xfrm>
              <a:off x="0" y="0"/>
              <a:ext cx="53340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g3f62b341f7e_0_3020"/>
            <p:cNvSpPr txBox="1"/>
            <p:nvPr/>
          </p:nvSpPr>
          <p:spPr>
            <a:xfrm>
              <a:off x="304800" y="304800"/>
              <a:ext cx="4724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GLM Usage</a:t>
              </a:r>
              <a:endParaRPr sz="11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Purpose &amp; Organization</a:t>
              </a:r>
              <a:endParaRPr sz="2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Features:</a:t>
              </a:r>
              <a:endParaRPr sz="11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431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B82F6"/>
                </a:buClr>
                <a:buSzPts val="3200"/>
                <a:buFont typeface="Material Icons"/>
                <a:buChar char="●"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Provides vector and matrix mathematics.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431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B82F6"/>
                </a:buClr>
                <a:buSzPts val="3200"/>
                <a:buFont typeface="Material Icons"/>
                <a:buChar char="●"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Used for transformations, camera, lighting, and 3D calculations.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Why Organize Libraries?</a:t>
              </a:r>
              <a:endParaRPr sz="11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Keeping all OpenGL libraries inside a single directory makes project configuration easier and keeps all dependencies in one place.</a:t>
              </a:r>
              <a:endParaRPr sz="11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g3f62b341f7e_0_3202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365" name="Google Shape;365;g3f62b341f7e_0_3202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g3f62b341f7e_0_3202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Set Environment Variable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67" name="Google Shape;367;g3f62b341f7e_0_3202"/>
          <p:cNvGrpSpPr/>
          <p:nvPr/>
        </p:nvGrpSpPr>
        <p:grpSpPr>
          <a:xfrm>
            <a:off x="762000" y="1524000"/>
            <a:ext cx="3429000" cy="4667400"/>
            <a:chOff x="0" y="0"/>
            <a:chExt cx="3429000" cy="4667400"/>
          </a:xfrm>
        </p:grpSpPr>
        <p:sp>
          <p:nvSpPr>
            <p:cNvPr id="368" name="Google Shape;368;g3f62b341f7e_0_3202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g3f62b341f7e_0_3202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add_circle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Create Variable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Open: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Env Variables → System → New</a:t>
              </a:r>
              <a:endParaRPr b="1" sz="105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Variable Name: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OPENGL_DIR</a:t>
              </a:r>
              <a:endParaRPr b="1" sz="12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Variable Value: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C:\OpenGL</a:t>
              </a:r>
              <a:endParaRPr b="1" sz="12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0" name="Google Shape;370;g3f62b341f7e_0_3202"/>
          <p:cNvGrpSpPr/>
          <p:nvPr/>
        </p:nvGrpSpPr>
        <p:grpSpPr>
          <a:xfrm>
            <a:off x="4381500" y="1524000"/>
            <a:ext cx="3429000" cy="4667400"/>
            <a:chOff x="0" y="0"/>
            <a:chExt cx="3429000" cy="4667400"/>
          </a:xfrm>
        </p:grpSpPr>
        <p:sp>
          <p:nvSpPr>
            <p:cNvPr id="371" name="Google Shape;371;g3f62b341f7e_0_3202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g3f62b341f7e_0_3202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Update PATH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Edit the existing </a:t>
              </a: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Path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system variable to append the OpenGL binary directory.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Add to Path: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%OPENGL_DIR%\bin</a:t>
              </a:r>
              <a:endParaRPr b="1" sz="12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3" name="Google Shape;373;g3f62b341f7e_0_3202"/>
          <p:cNvGrpSpPr/>
          <p:nvPr/>
        </p:nvGrpSpPr>
        <p:grpSpPr>
          <a:xfrm>
            <a:off x="8001000" y="1524000"/>
            <a:ext cx="3429000" cy="4667400"/>
            <a:chOff x="0" y="0"/>
            <a:chExt cx="3429000" cy="4667400"/>
          </a:xfrm>
        </p:grpSpPr>
        <p:sp>
          <p:nvSpPr>
            <p:cNvPr id="374" name="Google Shape;374;g3f62b341f7e_0_3202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g3f62b341f7e_0_3202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Benefits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How It Is Used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This configuration allows Windows to: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Locate required DLL files automatically.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Locate OpenGL libraries without repeatedly copying DLL files into every project.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g3f62b341f7e_0_3387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381" name="Google Shape;381;g3f62b341f7e_0_3387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g3f62b341f7e_0_3387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Configure Visual Studio Project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83" name="Google Shape;383;g3f62b341f7e_0_3387"/>
          <p:cNvGrpSpPr/>
          <p:nvPr/>
        </p:nvGrpSpPr>
        <p:grpSpPr>
          <a:xfrm>
            <a:off x="762000" y="1524000"/>
            <a:ext cx="2476500" cy="4667400"/>
            <a:chOff x="0" y="0"/>
            <a:chExt cx="2476500" cy="4667400"/>
          </a:xfrm>
        </p:grpSpPr>
        <p:sp>
          <p:nvSpPr>
            <p:cNvPr id="384" name="Google Shape;384;g3f62b341f7e_0_3387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g3f62b341f7e_0_3387"/>
            <p:cNvSpPr txBox="1"/>
            <p:nvPr/>
          </p:nvSpPr>
          <p:spPr>
            <a:xfrm>
              <a:off x="228600" y="228600"/>
              <a:ext cx="2019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create_new_folder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New Project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Create a new </a:t>
              </a: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Empty C++ Project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to begin setting up your workspace.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6" name="Google Shape;386;g3f62b341f7e_0_3387"/>
          <p:cNvGrpSpPr/>
          <p:nvPr/>
        </p:nvGrpSpPr>
        <p:grpSpPr>
          <a:xfrm>
            <a:off x="3486150" y="1524000"/>
            <a:ext cx="2476500" cy="4667400"/>
            <a:chOff x="0" y="0"/>
            <a:chExt cx="2476500" cy="4667400"/>
          </a:xfrm>
        </p:grpSpPr>
        <p:sp>
          <p:nvSpPr>
            <p:cNvPr id="387" name="Google Shape;387;g3f62b341f7e_0_3387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g3f62b341f7e_0_3387"/>
            <p:cNvSpPr txBox="1"/>
            <p:nvPr/>
          </p:nvSpPr>
          <p:spPr>
            <a:xfrm>
              <a:off x="228600" y="228600"/>
              <a:ext cx="2019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Properties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Open the project settings: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 → Properties</a:t>
              </a:r>
              <a:endParaRPr b="1" sz="12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9" name="Google Shape;389;g3f62b341f7e_0_3387"/>
          <p:cNvGrpSpPr/>
          <p:nvPr/>
        </p:nvGrpSpPr>
        <p:grpSpPr>
          <a:xfrm>
            <a:off x="6210300" y="1524000"/>
            <a:ext cx="2476500" cy="4667400"/>
            <a:chOff x="0" y="0"/>
            <a:chExt cx="2476500" cy="4667400"/>
          </a:xfrm>
        </p:grpSpPr>
        <p:sp>
          <p:nvSpPr>
            <p:cNvPr id="390" name="Google Shape;390;g3f62b341f7e_0_3387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g3f62b341f7e_0_3387"/>
            <p:cNvSpPr txBox="1"/>
            <p:nvPr/>
          </p:nvSpPr>
          <p:spPr>
            <a:xfrm>
              <a:off x="228600" y="228600"/>
              <a:ext cx="2019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3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VC++ Paths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Include Directories: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$(OPENGL_DIR)\include</a:t>
              </a:r>
              <a:endParaRPr b="1" sz="105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Library Directories: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$(OPENGL_DIR)\lib</a:t>
              </a:r>
              <a:endParaRPr b="1" sz="105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92" name="Google Shape;392;g3f62b341f7e_0_3387"/>
          <p:cNvGrpSpPr/>
          <p:nvPr/>
        </p:nvGrpSpPr>
        <p:grpSpPr>
          <a:xfrm>
            <a:off x="8934450" y="1524000"/>
            <a:ext cx="2476500" cy="4667400"/>
            <a:chOff x="0" y="0"/>
            <a:chExt cx="2476500" cy="4667400"/>
          </a:xfrm>
        </p:grpSpPr>
        <p:sp>
          <p:nvSpPr>
            <p:cNvPr id="393" name="Google Shape;393;g3f62b341f7e_0_3387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g3f62b341f7e_0_3387"/>
            <p:cNvSpPr txBox="1"/>
            <p:nvPr/>
          </p:nvSpPr>
          <p:spPr>
            <a:xfrm>
              <a:off x="228600" y="228600"/>
              <a:ext cx="2019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Purpose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Compilation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allows the compiler to resolve paths and locate: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Header Files (.h)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Library Files (.lib)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during build execution.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g3f62b341f7e_0_35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0" name="Google Shape;400;g3f62b341f7e_0_3578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401" name="Google Shape;401;g3f62b341f7e_0_3578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g3f62b341f7e_0_3578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Configure Linker &amp; Source Files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03" name="Google Shape;403;g3f62b341f7e_0_3578"/>
          <p:cNvGrpSpPr/>
          <p:nvPr/>
        </p:nvGrpSpPr>
        <p:grpSpPr>
          <a:xfrm>
            <a:off x="762000" y="1524000"/>
            <a:ext cx="3429000" cy="4667400"/>
            <a:chOff x="0" y="0"/>
            <a:chExt cx="3429000" cy="4667400"/>
          </a:xfrm>
        </p:grpSpPr>
        <p:sp>
          <p:nvSpPr>
            <p:cNvPr id="404" name="Google Shape;404;g3f62b341f7e_0_3578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g3f62b341f7e_0_3578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4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Linker Input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Open properties &amp; navigate: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 → Properties</a:t>
              </a:r>
              <a:endParaRPr b="1" sz="105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Go to Linker input: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Linker → Input</a:t>
              </a:r>
              <a:br>
                <a:rPr b="1" lang="en-US" sz="10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0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→ Additional Dependencies</a:t>
              </a:r>
              <a:endParaRPr b="1" sz="105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06" name="Google Shape;406;g3f62b341f7e_0_3578"/>
          <p:cNvGrpSpPr/>
          <p:nvPr/>
        </p:nvGrpSpPr>
        <p:grpSpPr>
          <a:xfrm>
            <a:off x="4381500" y="1524000"/>
            <a:ext cx="3429000" cy="4667400"/>
            <a:chOff x="0" y="0"/>
            <a:chExt cx="3429000" cy="4667400"/>
          </a:xfrm>
        </p:grpSpPr>
        <p:sp>
          <p:nvSpPr>
            <p:cNvPr id="407" name="Google Shape;407;g3f62b341f7e_0_3578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g3f62b341f7e_0_3578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library_add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5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Add Libraries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Add these to your </a:t>
              </a: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Additional Dependencies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glfw3.lib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Window creation, context &amp; input handling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opengl32.lib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Windows OpenGL library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9" name="Google Shape;409;g3f62b341f7e_0_3578"/>
          <p:cNvGrpSpPr/>
          <p:nvPr/>
        </p:nvGrpSpPr>
        <p:grpSpPr>
          <a:xfrm>
            <a:off x="8001000" y="1524000"/>
            <a:ext cx="3429000" cy="4667400"/>
            <a:chOff x="0" y="0"/>
            <a:chExt cx="3429000" cy="4667400"/>
          </a:xfrm>
        </p:grpSpPr>
        <p:sp>
          <p:nvSpPr>
            <p:cNvPr id="410" name="Google Shape;410;g3f62b341f7e_0_3578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g3f62b341f7e_0_3578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note_add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6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Source Files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Add GLAD source file to your project files: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glad.c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Loads modern OpenGL functions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0F172A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Ensure glad.c is actually added directly to your IDE project hierarchy.</a:t>
              </a:r>
              <a:endParaRPr b="0" sz="1050">
                <a:solidFill>
                  <a:srgbClr val="0F172A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g3f62b341f7e_0_3781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417" name="Google Shape;417;g3f62b341f7e_0_3781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g3f62b341f7e_0_3781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Create Your First OpenGL Project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19" name="Google Shape;419;g3f62b341f7e_0_3781"/>
          <p:cNvGrpSpPr/>
          <p:nvPr/>
        </p:nvGrpSpPr>
        <p:grpSpPr>
          <a:xfrm>
            <a:off x="762000" y="1524000"/>
            <a:ext cx="3429000" cy="4667400"/>
            <a:chOff x="0" y="0"/>
            <a:chExt cx="3429000" cy="4667400"/>
          </a:xfrm>
        </p:grpSpPr>
        <p:sp>
          <p:nvSpPr>
            <p:cNvPr id="420" name="Google Shape;420;g3f62b341f7e_0_3781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g3f62b341f7e_0_3781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create_new_folder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7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Setup Project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Create a new </a:t>
              </a: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Empty C++ Project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Replace the generated </a:t>
              </a:r>
              <a:r>
                <a:rPr b="1" lang="en-US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main.cpp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with your OpenGL sample program.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2" name="Google Shape;422;g3f62b341f7e_0_3781"/>
          <p:cNvGrpSpPr/>
          <p:nvPr/>
        </p:nvGrpSpPr>
        <p:grpSpPr>
          <a:xfrm>
            <a:off x="4381500" y="1524000"/>
            <a:ext cx="3429000" cy="4667400"/>
            <a:chOff x="0" y="0"/>
            <a:chExt cx="3429000" cy="4667400"/>
          </a:xfrm>
        </p:grpSpPr>
        <p:sp>
          <p:nvSpPr>
            <p:cNvPr id="423" name="Google Shape;423;g3f62b341f7e_0_3781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g3f62b341f7e_0_3781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play_circle_filled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8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Build &amp; Run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Compile and execute your program. Click: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Build → Run</a:t>
              </a:r>
              <a:endParaRPr b="1" sz="14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Ensure your compiler has no unresolved external symbols from previous configuration steps.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5" name="Google Shape;425;g3f62b341f7e_0_3781"/>
          <p:cNvGrpSpPr/>
          <p:nvPr/>
        </p:nvGrpSpPr>
        <p:grpSpPr>
          <a:xfrm>
            <a:off x="8001000" y="1524000"/>
            <a:ext cx="3429000" cy="4667400"/>
            <a:chOff x="0" y="0"/>
            <a:chExt cx="3429000" cy="4667400"/>
          </a:xfrm>
        </p:grpSpPr>
        <p:sp>
          <p:nvSpPr>
            <p:cNvPr id="426" name="Google Shape;426;g3f62b341f7e_0_3781"/>
            <p:cNvSpPr/>
            <p:nvPr/>
          </p:nvSpPr>
          <p:spPr>
            <a:xfrm>
              <a:off x="0" y="0"/>
              <a:ext cx="3429000" cy="4667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g3f62b341f7e_0_3781"/>
            <p:cNvSpPr txBox="1"/>
            <p:nvPr/>
          </p:nvSpPr>
          <p:spPr>
            <a:xfrm>
              <a:off x="304800" y="304800"/>
              <a:ext cx="2819400" cy="40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Verification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Success!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an OpenGL window appears successfully, your development environment is fully ready for OpenGL programming.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62b341f7e_0_3966"/>
          <p:cNvSpPr txBox="1"/>
          <p:nvPr>
            <p:ph type="title"/>
          </p:nvPr>
        </p:nvSpPr>
        <p:spPr>
          <a:xfrm>
            <a:off x="762000" y="4762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Architecture of the Modern OpenGL Setup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33" name="Google Shape;433;g3f62b341f7e_0_3966"/>
          <p:cNvGrpSpPr/>
          <p:nvPr/>
        </p:nvGrpSpPr>
        <p:grpSpPr>
          <a:xfrm>
            <a:off x="666750" y="2095500"/>
            <a:ext cx="10725300" cy="2667000"/>
            <a:chOff x="666750" y="2095500"/>
            <a:chExt cx="10725300" cy="2667000"/>
          </a:xfrm>
        </p:grpSpPr>
        <p:sp>
          <p:nvSpPr>
            <p:cNvPr id="434" name="Google Shape;434;g3f62b341f7e_0_3966"/>
            <p:cNvSpPr/>
            <p:nvPr/>
          </p:nvSpPr>
          <p:spPr>
            <a:xfrm>
              <a:off x="666750" y="2095500"/>
              <a:ext cx="1352700" cy="2667000"/>
            </a:xfrm>
            <a:prstGeom prst="roundRect">
              <a:avLst>
                <a:gd fmla="val 1126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g3f62b341f7e_0_3966"/>
            <p:cNvSpPr txBox="1"/>
            <p:nvPr/>
          </p:nvSpPr>
          <p:spPr>
            <a:xfrm>
              <a:off x="666750" y="2095500"/>
              <a:ext cx="1352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Your C++ Program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Entry point of your application logic.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6" name="Google Shape;436;g3f62b341f7e_0_3966"/>
            <p:cNvSpPr txBox="1"/>
            <p:nvPr/>
          </p:nvSpPr>
          <p:spPr>
            <a:xfrm>
              <a:off x="2019300" y="3264789"/>
              <a:ext cx="20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7" name="Google Shape;437;g3f62b341f7e_0_3966"/>
            <p:cNvSpPr/>
            <p:nvPr/>
          </p:nvSpPr>
          <p:spPr>
            <a:xfrm>
              <a:off x="2228850" y="2095500"/>
              <a:ext cx="1352700" cy="2667000"/>
            </a:xfrm>
            <a:prstGeom prst="roundRect">
              <a:avLst>
                <a:gd fmla="val 1126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g3f62b341f7e_0_3966"/>
            <p:cNvSpPr txBox="1"/>
            <p:nvPr/>
          </p:nvSpPr>
          <p:spPr>
            <a:xfrm>
              <a:off x="2228850" y="2095500"/>
              <a:ext cx="1352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Visual Studio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(MSVC)</a:t>
              </a:r>
              <a:endParaRPr b="0" sz="11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Compiles &amp; links source code.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9" name="Google Shape;439;g3f62b341f7e_0_3966"/>
            <p:cNvSpPr txBox="1"/>
            <p:nvPr/>
          </p:nvSpPr>
          <p:spPr>
            <a:xfrm>
              <a:off x="3581400" y="3264789"/>
              <a:ext cx="20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0" name="Google Shape;440;g3f62b341f7e_0_3966"/>
            <p:cNvSpPr/>
            <p:nvPr/>
          </p:nvSpPr>
          <p:spPr>
            <a:xfrm>
              <a:off x="3790950" y="2095500"/>
              <a:ext cx="1352700" cy="2667000"/>
            </a:xfrm>
            <a:prstGeom prst="roundRect">
              <a:avLst>
                <a:gd fmla="val 1126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g3f62b341f7e_0_3966"/>
            <p:cNvSpPr txBox="1"/>
            <p:nvPr/>
          </p:nvSpPr>
          <p:spPr>
            <a:xfrm>
              <a:off x="3790950" y="2095500"/>
              <a:ext cx="1352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3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GLFW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Window &amp; Input</a:t>
              </a:r>
              <a:endParaRPr b="0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Handles OS window creation and user inputs.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2" name="Google Shape;442;g3f62b341f7e_0_3966"/>
            <p:cNvSpPr txBox="1"/>
            <p:nvPr/>
          </p:nvSpPr>
          <p:spPr>
            <a:xfrm>
              <a:off x="5143500" y="3264789"/>
              <a:ext cx="20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3" name="Google Shape;443;g3f62b341f7e_0_3966"/>
            <p:cNvSpPr/>
            <p:nvPr/>
          </p:nvSpPr>
          <p:spPr>
            <a:xfrm>
              <a:off x="5353050" y="2095500"/>
              <a:ext cx="1352700" cy="2667000"/>
            </a:xfrm>
            <a:prstGeom prst="roundRect">
              <a:avLst>
                <a:gd fmla="val 1126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g3f62b341f7e_0_3966"/>
            <p:cNvSpPr txBox="1"/>
            <p:nvPr/>
          </p:nvSpPr>
          <p:spPr>
            <a:xfrm>
              <a:off x="5353050" y="2095500"/>
              <a:ext cx="1352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4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GLAD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Function Loader</a:t>
              </a:r>
              <a:endParaRPr b="0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Loads correct OpenGL function pointers.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5" name="Google Shape;445;g3f62b341f7e_0_3966"/>
            <p:cNvSpPr txBox="1"/>
            <p:nvPr/>
          </p:nvSpPr>
          <p:spPr>
            <a:xfrm>
              <a:off x="6705600" y="3264789"/>
              <a:ext cx="20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6" name="Google Shape;446;g3f62b341f7e_0_3966"/>
            <p:cNvSpPr/>
            <p:nvPr/>
          </p:nvSpPr>
          <p:spPr>
            <a:xfrm>
              <a:off x="6915150" y="2095500"/>
              <a:ext cx="1352700" cy="2667000"/>
            </a:xfrm>
            <a:prstGeom prst="roundRect">
              <a:avLst>
                <a:gd fmla="val 1126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g3f62b341f7e_0_3966"/>
            <p:cNvSpPr txBox="1"/>
            <p:nvPr/>
          </p:nvSpPr>
          <p:spPr>
            <a:xfrm>
              <a:off x="6915150" y="2095500"/>
              <a:ext cx="1352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5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OpenGL Driver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Translates commands for GPU execution.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8" name="Google Shape;448;g3f62b341f7e_0_3966"/>
            <p:cNvSpPr txBox="1"/>
            <p:nvPr/>
          </p:nvSpPr>
          <p:spPr>
            <a:xfrm>
              <a:off x="8267700" y="3264789"/>
              <a:ext cx="20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9" name="Google Shape;449;g3f62b341f7e_0_3966"/>
            <p:cNvSpPr/>
            <p:nvPr/>
          </p:nvSpPr>
          <p:spPr>
            <a:xfrm>
              <a:off x="8477250" y="2095500"/>
              <a:ext cx="1352700" cy="2667000"/>
            </a:xfrm>
            <a:prstGeom prst="roundRect">
              <a:avLst>
                <a:gd fmla="val 1126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g3f62b341f7e_0_3966"/>
            <p:cNvSpPr txBox="1"/>
            <p:nvPr/>
          </p:nvSpPr>
          <p:spPr>
            <a:xfrm>
              <a:off x="8477250" y="2095500"/>
              <a:ext cx="1352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Step 6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GPU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Hardware that processes and renders pixels.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1" name="Google Shape;451;g3f62b341f7e_0_3966"/>
            <p:cNvSpPr txBox="1"/>
            <p:nvPr/>
          </p:nvSpPr>
          <p:spPr>
            <a:xfrm>
              <a:off x="9829800" y="3264789"/>
              <a:ext cx="20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2" name="Google Shape;452;g3f62b341f7e_0_3966"/>
            <p:cNvSpPr/>
            <p:nvPr/>
          </p:nvSpPr>
          <p:spPr>
            <a:xfrm>
              <a:off x="10039350" y="2095500"/>
              <a:ext cx="1352700" cy="2667000"/>
            </a:xfrm>
            <a:prstGeom prst="roundRect">
              <a:avLst>
                <a:gd fmla="val 11267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g3f62b341f7e_0_3966"/>
            <p:cNvSpPr txBox="1"/>
            <p:nvPr/>
          </p:nvSpPr>
          <p:spPr>
            <a:xfrm>
              <a:off x="10039350" y="2095500"/>
              <a:ext cx="1352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Monitor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Displays final rendered graphic.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62b341f7e_0_4171"/>
          <p:cNvSpPr txBox="1"/>
          <p:nvPr>
            <p:ph type="title"/>
          </p:nvPr>
        </p:nvSpPr>
        <p:spPr>
          <a:xfrm>
            <a:off x="762000" y="4762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Role of Each Component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59" name="Google Shape;459;g3f62b341f7e_0_4171"/>
          <p:cNvGrpSpPr/>
          <p:nvPr/>
        </p:nvGrpSpPr>
        <p:grpSpPr>
          <a:xfrm>
            <a:off x="762000" y="1714500"/>
            <a:ext cx="10668000" cy="4191000"/>
            <a:chOff x="762000" y="1714500"/>
            <a:chExt cx="10668000" cy="4191000"/>
          </a:xfrm>
        </p:grpSpPr>
        <p:grpSp>
          <p:nvGrpSpPr>
            <p:cNvPr id="460" name="Google Shape;460;g3f62b341f7e_0_4171"/>
            <p:cNvGrpSpPr/>
            <p:nvPr/>
          </p:nvGrpSpPr>
          <p:grpSpPr>
            <a:xfrm>
              <a:off x="762000" y="1714500"/>
              <a:ext cx="1905000" cy="4191000"/>
              <a:chOff x="0" y="0"/>
              <a:chExt cx="1905000" cy="4191000"/>
            </a:xfrm>
          </p:grpSpPr>
          <p:sp>
            <p:nvSpPr>
              <p:cNvPr id="461" name="Google Shape;461;g3f62b341f7e_0_4171"/>
              <p:cNvSpPr/>
              <p:nvPr/>
            </p:nvSpPr>
            <p:spPr>
              <a:xfrm>
                <a:off x="0" y="0"/>
                <a:ext cx="1905000" cy="41910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g3f62b341f7e_0_4171"/>
              <p:cNvSpPr txBox="1"/>
              <p:nvPr/>
            </p:nvSpPr>
            <p:spPr>
              <a:xfrm>
                <a:off x="190500" y="228600"/>
                <a:ext cx="1524000" cy="37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Visual Studio</a:t>
                </a:r>
                <a:endParaRPr b="0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IDE &amp; Compiler</a:t>
                </a:r>
                <a:endParaRPr b="1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Serves as the primary IDE and compiles source code using the MSVC compiler.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3" name="Google Shape;463;g3f62b341f7e_0_4171"/>
            <p:cNvGrpSpPr/>
            <p:nvPr/>
          </p:nvGrpSpPr>
          <p:grpSpPr>
            <a:xfrm>
              <a:off x="2952750" y="1714500"/>
              <a:ext cx="1905000" cy="4191000"/>
              <a:chOff x="0" y="0"/>
              <a:chExt cx="1905000" cy="4191000"/>
            </a:xfrm>
          </p:grpSpPr>
          <p:sp>
            <p:nvSpPr>
              <p:cNvPr id="464" name="Google Shape;464;g3f62b341f7e_0_4171"/>
              <p:cNvSpPr/>
              <p:nvPr/>
            </p:nvSpPr>
            <p:spPr>
              <a:xfrm>
                <a:off x="0" y="0"/>
                <a:ext cx="1905000" cy="41910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g3f62b341f7e_0_4171"/>
              <p:cNvSpPr txBox="1"/>
              <p:nvPr/>
            </p:nvSpPr>
            <p:spPr>
              <a:xfrm>
                <a:off x="190500" y="228600"/>
                <a:ext cx="1524000" cy="37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open_in_new</a:t>
                </a:r>
                <a:endParaRPr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GLFW</a:t>
                </a:r>
                <a:endParaRPr b="0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Window &amp; Input</a:t>
                </a:r>
                <a:endParaRPr b="1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Creates the OS window, manages OpenGL context, and handles user inputs.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6" name="Google Shape;466;g3f62b341f7e_0_4171"/>
            <p:cNvGrpSpPr/>
            <p:nvPr/>
          </p:nvGrpSpPr>
          <p:grpSpPr>
            <a:xfrm>
              <a:off x="5143500" y="1714500"/>
              <a:ext cx="1905000" cy="4191000"/>
              <a:chOff x="0" y="0"/>
              <a:chExt cx="1905000" cy="4191000"/>
            </a:xfrm>
          </p:grpSpPr>
          <p:sp>
            <p:nvSpPr>
              <p:cNvPr id="467" name="Google Shape;467;g3f62b341f7e_0_4171"/>
              <p:cNvSpPr/>
              <p:nvPr/>
            </p:nvSpPr>
            <p:spPr>
              <a:xfrm>
                <a:off x="0" y="0"/>
                <a:ext cx="1905000" cy="41910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g3f62b341f7e_0_4171"/>
              <p:cNvSpPr txBox="1"/>
              <p:nvPr/>
            </p:nvSpPr>
            <p:spPr>
              <a:xfrm>
                <a:off x="190500" y="228600"/>
                <a:ext cx="1524000" cy="37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bolt</a:t>
                </a:r>
                <a:endParaRPr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GLAD</a:t>
                </a:r>
                <a:endParaRPr b="0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Function Loader</a:t>
                </a:r>
                <a:endParaRPr b="1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Dynamically loads modern OpenGL function pointers from the graphics driver.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9" name="Google Shape;469;g3f62b341f7e_0_4171"/>
            <p:cNvGrpSpPr/>
            <p:nvPr/>
          </p:nvGrpSpPr>
          <p:grpSpPr>
            <a:xfrm>
              <a:off x="7334250" y="1714500"/>
              <a:ext cx="1905000" cy="4191000"/>
              <a:chOff x="0" y="0"/>
              <a:chExt cx="1905000" cy="4191000"/>
            </a:xfrm>
          </p:grpSpPr>
          <p:sp>
            <p:nvSpPr>
              <p:cNvPr id="470" name="Google Shape;470;g3f62b341f7e_0_4171"/>
              <p:cNvSpPr/>
              <p:nvPr/>
            </p:nvSpPr>
            <p:spPr>
              <a:xfrm>
                <a:off x="0" y="0"/>
                <a:ext cx="1905000" cy="41910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g3f62b341f7e_0_4171"/>
              <p:cNvSpPr txBox="1"/>
              <p:nvPr/>
            </p:nvSpPr>
            <p:spPr>
              <a:xfrm>
                <a:off x="190500" y="228600"/>
                <a:ext cx="1524000" cy="37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settings_input_component</a:t>
                </a:r>
                <a:endParaRPr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Driver</a:t>
                </a:r>
                <a:endParaRPr b="0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OpenGL Driver</a:t>
                </a:r>
                <a:endParaRPr b="1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Translates OpenGL API commands into GPU-specific hardware instructions.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2" name="Google Shape;472;g3f62b341f7e_0_4171"/>
            <p:cNvGrpSpPr/>
            <p:nvPr/>
          </p:nvGrpSpPr>
          <p:grpSpPr>
            <a:xfrm>
              <a:off x="9525000" y="1714500"/>
              <a:ext cx="1905000" cy="4191000"/>
              <a:chOff x="0" y="0"/>
              <a:chExt cx="1905000" cy="4191000"/>
            </a:xfrm>
          </p:grpSpPr>
          <p:sp>
            <p:nvSpPr>
              <p:cNvPr id="473" name="Google Shape;473;g3f62b341f7e_0_4171"/>
              <p:cNvSpPr/>
              <p:nvPr/>
            </p:nvSpPr>
            <p:spPr>
              <a:xfrm>
                <a:off x="0" y="0"/>
                <a:ext cx="1905000" cy="41910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g3f62b341f7e_0_4171"/>
              <p:cNvSpPr txBox="1"/>
              <p:nvPr/>
            </p:nvSpPr>
            <p:spPr>
              <a:xfrm>
                <a:off x="190500" y="228600"/>
                <a:ext cx="1524000" cy="37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endParaRPr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GPU</a:t>
                </a:r>
                <a:endParaRPr b="0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Hardware Renderer</a:t>
                </a:r>
                <a:endParaRPr b="1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Executes commands to perform high-performance, hardware-accelerated rendering.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0"/>
          <p:cNvSpPr txBox="1"/>
          <p:nvPr/>
        </p:nvSpPr>
        <p:spPr>
          <a:xfrm>
            <a:off x="762000" y="4762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Installing on macOS </a:t>
            </a:r>
            <a:r>
              <a:rPr b="0" lang="en-US" sz="24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(Approach C)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80" name="Google Shape;480;p10"/>
          <p:cNvGrpSpPr/>
          <p:nvPr/>
        </p:nvGrpSpPr>
        <p:grpSpPr>
          <a:xfrm>
            <a:off x="762000" y="1524000"/>
            <a:ext cx="10668000" cy="4572000"/>
            <a:chOff x="762000" y="1524000"/>
            <a:chExt cx="10668000" cy="4572000"/>
          </a:xfrm>
        </p:grpSpPr>
        <p:sp>
          <p:nvSpPr>
            <p:cNvPr id="481" name="Google Shape;481;p10"/>
            <p:cNvSpPr/>
            <p:nvPr/>
          </p:nvSpPr>
          <p:spPr>
            <a:xfrm>
              <a:off x="762000" y="1524000"/>
              <a:ext cx="3295800" cy="4572000"/>
            </a:xfrm>
            <a:prstGeom prst="roundRect">
              <a:avLst>
                <a:gd fmla="val 462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0"/>
            <p:cNvSpPr txBox="1"/>
            <p:nvPr/>
          </p:nvSpPr>
          <p:spPr>
            <a:xfrm>
              <a:off x="990600" y="1752600"/>
              <a:ext cx="2838600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9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 Homebrew Setup</a:t>
              </a:r>
              <a:endParaRPr b="0" sz="99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60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essential package manager for macOS, used to manage development tools and libraries like GLFW, GLM, CMake, and Git.</a:t>
              </a:r>
              <a:endParaRPr b="0" sz="60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5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INSTALLATION COMMAND:</a:t>
              </a:r>
              <a:endParaRPr b="1" sz="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1" lang="en-US" sz="523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/bin/bash -c "$(curl -fsSL https://raw.githubusercontent.com/Homebrew/install/HEAD/install.sh)"</a:t>
              </a:r>
              <a:endParaRPr b="1" sz="523">
                <a:solidFill>
                  <a:srgbClr val="38BDF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4438650" y="1524000"/>
              <a:ext cx="3295800" cy="4572000"/>
            </a:xfrm>
            <a:prstGeom prst="roundRect">
              <a:avLst>
                <a:gd fmla="val 462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0"/>
            <p:cNvSpPr txBox="1"/>
            <p:nvPr/>
          </p:nvSpPr>
          <p:spPr>
            <a:xfrm>
              <a:off x="4667250" y="1752600"/>
              <a:ext cx="2838600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Install Libraries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Once Homebrew is installed, execute the command below in your terminal to install both GLFW and GLM simultaneously.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TERMINAL COMMAND:</a:t>
              </a:r>
              <a:endParaRPr b="1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1" lang="en-US" sz="11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brew install glfw glm</a:t>
              </a:r>
              <a:endParaRPr b="1" sz="11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5" name="Google Shape;485;p10"/>
            <p:cNvSpPr/>
            <p:nvPr/>
          </p:nvSpPr>
          <p:spPr>
            <a:xfrm>
              <a:off x="8115300" y="1524000"/>
              <a:ext cx="3314700" cy="4572000"/>
            </a:xfrm>
            <a:prstGeom prst="roundRect">
              <a:avLst>
                <a:gd fmla="val 4597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0"/>
            <p:cNvSpPr txBox="1"/>
            <p:nvPr/>
          </p:nvSpPr>
          <p:spPr>
            <a:xfrm>
              <a:off x="8343900" y="1752600"/>
              <a:ext cx="2857500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Dependency Roles</a:t>
              </a:r>
              <a:endParaRPr b="0" sz="1800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GLFW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Creates window &amp; OpenGL context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Handles keyboard &amp; mouse input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GLM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Header-only mathematics library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90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Handles vectors, matrices, &amp; transformations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g3f62b341f7e_0_45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g3f62b341f7e_0_4536"/>
          <p:cNvGrpSpPr/>
          <p:nvPr/>
        </p:nvGrpSpPr>
        <p:grpSpPr>
          <a:xfrm>
            <a:off x="762000" y="476250"/>
            <a:ext cx="10668000" cy="762000"/>
            <a:chOff x="0" y="0"/>
            <a:chExt cx="10668000" cy="762000"/>
          </a:xfrm>
        </p:grpSpPr>
        <p:sp>
          <p:nvSpPr>
            <p:cNvPr id="493" name="Google Shape;493;g3f62b341f7e_0_4536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g3f62b341f7e_0_4536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Configuring &amp; Using GLAD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95" name="Google Shape;495;g3f62b341f7e_0_4536"/>
          <p:cNvGrpSpPr/>
          <p:nvPr/>
        </p:nvGrpSpPr>
        <p:grpSpPr>
          <a:xfrm>
            <a:off x="762000" y="1524000"/>
            <a:ext cx="4953000" cy="4572000"/>
            <a:chOff x="0" y="0"/>
            <a:chExt cx="4953000" cy="4572000"/>
          </a:xfrm>
        </p:grpSpPr>
        <p:sp>
          <p:nvSpPr>
            <p:cNvPr id="496" name="Google Shape;496;g3f62b341f7e_0_4536"/>
            <p:cNvSpPr/>
            <p:nvPr/>
          </p:nvSpPr>
          <p:spPr>
            <a:xfrm>
              <a:off x="0" y="0"/>
              <a:ext cx="4953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g3f62b341f7e_0_4536"/>
            <p:cNvSpPr txBox="1"/>
            <p:nvPr/>
          </p:nvSpPr>
          <p:spPr>
            <a:xfrm>
              <a:off x="228600" y="228600"/>
              <a:ext cx="4495800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 Download &amp; Generate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Visit the GLAD web generator to configure your setup: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https://gen.glad.sh/</a:t>
              </a:r>
              <a:endParaRPr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Required Settings: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Language: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C/C++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Specification: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OpenGL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API Version: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OpenGL 4.1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Profile: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Core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Generate and download the resulting library files.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8" name="Google Shape;498;g3f62b341f7e_0_4536"/>
          <p:cNvGrpSpPr/>
          <p:nvPr/>
        </p:nvGrpSpPr>
        <p:grpSpPr>
          <a:xfrm>
            <a:off x="6477000" y="1524000"/>
            <a:ext cx="4953000" cy="4572000"/>
            <a:chOff x="0" y="0"/>
            <a:chExt cx="4953000" cy="4572000"/>
          </a:xfrm>
        </p:grpSpPr>
        <p:sp>
          <p:nvSpPr>
            <p:cNvPr id="499" name="Google Shape;499;g3f62b341f7e_0_4536"/>
            <p:cNvSpPr/>
            <p:nvPr/>
          </p:nvSpPr>
          <p:spPr>
            <a:xfrm>
              <a:off x="0" y="0"/>
              <a:ext cx="4953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g3f62b341f7e_0_4536"/>
            <p:cNvSpPr txBox="1"/>
            <p:nvPr/>
          </p:nvSpPr>
          <p:spPr>
            <a:xfrm>
              <a:off x="228600" y="228600"/>
              <a:ext cx="4495800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Role &amp; Usage</a:t>
              </a:r>
              <a:endParaRPr b="0" sz="2000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GLAD acts as an OpenGL loader, retrieving the required modern function pointers from your GPU driver at runtime.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Without GLAD, modern OpenGL functions are inaccessible: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• glCreateShader()</a:t>
              </a:r>
              <a:endParaRPr b="1" sz="11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• glBindVertexArray()</a:t>
              </a:r>
              <a:endParaRPr b="1" sz="11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• glGenBuffers()</a:t>
              </a:r>
              <a:endParaRPr b="1" sz="11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Crucial step: Initialize GLAD in your program after setting up the window context, but before making any OpenGL API calls.</a:t>
              </a:r>
              <a:endParaRPr b="0" sz="110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62b341f7e_0_4717"/>
          <p:cNvSpPr txBox="1"/>
          <p:nvPr/>
        </p:nvSpPr>
        <p:spPr>
          <a:xfrm>
            <a:off x="762000" y="476250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Verify Homebrew Installation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Ensure Homebrew has correctly installed the required header files and libraries on your system.</a:t>
            </a:r>
            <a:endParaRPr b="0" sz="12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06" name="Google Shape;506;g3f62b341f7e_0_4717"/>
          <p:cNvGrpSpPr/>
          <p:nvPr/>
        </p:nvGrpSpPr>
        <p:grpSpPr>
          <a:xfrm>
            <a:off x="762000" y="1714500"/>
            <a:ext cx="5143500" cy="3238500"/>
            <a:chOff x="0" y="0"/>
            <a:chExt cx="5143500" cy="3238500"/>
          </a:xfrm>
        </p:grpSpPr>
        <p:sp>
          <p:nvSpPr>
            <p:cNvPr id="507" name="Google Shape;507;g3f62b341f7e_0_4717"/>
            <p:cNvSpPr/>
            <p:nvPr/>
          </p:nvSpPr>
          <p:spPr>
            <a:xfrm>
              <a:off x="0" y="0"/>
              <a:ext cx="51435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g3f62b341f7e_0_4717"/>
            <p:cNvSpPr txBox="1"/>
            <p:nvPr/>
          </p:nvSpPr>
          <p:spPr>
            <a:xfrm>
              <a:off x="285750" y="285750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Intel-based Macs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Headers Path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/usr/local/include</a:t>
              </a:r>
              <a:endParaRPr b="1" sz="14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Libraries Path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/usr/local/lib</a:t>
              </a:r>
              <a:endParaRPr b="1" sz="14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09" name="Google Shape;509;g3f62b341f7e_0_4717"/>
          <p:cNvGrpSpPr/>
          <p:nvPr/>
        </p:nvGrpSpPr>
        <p:grpSpPr>
          <a:xfrm>
            <a:off x="6286500" y="1714500"/>
            <a:ext cx="5143500" cy="3238500"/>
            <a:chOff x="0" y="0"/>
            <a:chExt cx="5143500" cy="3238500"/>
          </a:xfrm>
        </p:grpSpPr>
        <p:sp>
          <p:nvSpPr>
            <p:cNvPr id="510" name="Google Shape;510;g3f62b341f7e_0_4717"/>
            <p:cNvSpPr/>
            <p:nvPr/>
          </p:nvSpPr>
          <p:spPr>
            <a:xfrm>
              <a:off x="0" y="0"/>
              <a:ext cx="51435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g3f62b341f7e_0_4717"/>
            <p:cNvSpPr txBox="1"/>
            <p:nvPr/>
          </p:nvSpPr>
          <p:spPr>
            <a:xfrm>
              <a:off x="285750" y="285750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Apple Silicon </a:t>
              </a:r>
              <a:r>
                <a:rPr b="0" lang="en-US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(M1 / M2 / M3 / M4)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Headers Path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/opt/homebrew/include</a:t>
              </a:r>
              <a:endParaRPr b="1" sz="14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Libraries Path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/opt/homebrew/lib</a:t>
              </a:r>
              <a:endParaRPr b="1" sz="14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12" name="Google Shape;512;g3f62b341f7e_0_4717"/>
          <p:cNvGrpSpPr/>
          <p:nvPr/>
        </p:nvGrpSpPr>
        <p:grpSpPr>
          <a:xfrm>
            <a:off x="762000" y="5191125"/>
            <a:ext cx="10668000" cy="904800"/>
            <a:chOff x="0" y="0"/>
            <a:chExt cx="10668000" cy="904800"/>
          </a:xfrm>
        </p:grpSpPr>
        <p:sp>
          <p:nvSpPr>
            <p:cNvPr id="513" name="Google Shape;513;g3f62b341f7e_0_4717"/>
            <p:cNvSpPr/>
            <p:nvPr/>
          </p:nvSpPr>
          <p:spPr>
            <a:xfrm>
              <a:off x="0" y="0"/>
              <a:ext cx="10668000" cy="904800"/>
            </a:xfrm>
            <a:prstGeom prst="roundRect">
              <a:avLst>
                <a:gd fmla="val 16842" name="adj"/>
              </a:avLst>
            </a:prstGeom>
            <a:solidFill>
              <a:srgbClr val="EFF6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g3f62b341f7e_0_4717"/>
            <p:cNvSpPr txBox="1"/>
            <p:nvPr/>
          </p:nvSpPr>
          <p:spPr>
            <a:xfrm>
              <a:off x="228600" y="190500"/>
              <a:ext cx="10210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1E40AF"/>
                  </a:solidFill>
                  <a:highlight>
                    <a:srgbClr val="DBEAFE"/>
                  </a:highlight>
                  <a:latin typeface="Inter ExtraBold"/>
                  <a:ea typeface="Inter ExtraBold"/>
                  <a:cs typeface="Inter ExtraBold"/>
                  <a:sym typeface="Inter ExtraBold"/>
                </a:rPr>
                <a:t>Compilation Note</a:t>
              </a:r>
              <a:r>
                <a:rPr lang="en-US" sz="11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These directories contain the critical header files and libraries required by Xcode during compilation. Ensure your project's search paths are configured to check these locations based on your system architecture.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62b341f7e_0_4898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Configure Xcode Project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Prerequisite: Open your project and navigate to </a:t>
            </a:r>
            <a:r>
              <a:rPr b="1" lang="en-US" sz="13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Project Settings</a:t>
            </a:r>
            <a:endParaRPr b="0" sz="13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520" name="Google Shape;520;g3f62b341f7e_0_4898"/>
          <p:cNvGrpSpPr/>
          <p:nvPr/>
        </p:nvGrpSpPr>
        <p:grpSpPr>
          <a:xfrm>
            <a:off x="762000" y="1905000"/>
            <a:ext cx="2476500" cy="4000500"/>
            <a:chOff x="0" y="0"/>
            <a:chExt cx="2476500" cy="4000500"/>
          </a:xfrm>
        </p:grpSpPr>
        <p:sp>
          <p:nvSpPr>
            <p:cNvPr id="521" name="Google Shape;521;g3f62b341f7e_0_4898"/>
            <p:cNvSpPr/>
            <p:nvPr/>
          </p:nvSpPr>
          <p:spPr>
            <a:xfrm>
              <a:off x="0" y="0"/>
              <a:ext cx="2476500" cy="4000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g3f62b341f7e_0_4898"/>
            <p:cNvSpPr txBox="1"/>
            <p:nvPr/>
          </p:nvSpPr>
          <p:spPr>
            <a:xfrm>
              <a:off x="228600" y="228600"/>
              <a:ext cx="2019300" cy="35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Header Search Paths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Add path: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/usr/local/include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— or —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/opt/homebrew/include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23" name="Google Shape;523;g3f62b341f7e_0_4898"/>
          <p:cNvGrpSpPr/>
          <p:nvPr/>
        </p:nvGrpSpPr>
        <p:grpSpPr>
          <a:xfrm>
            <a:off x="3524250" y="1905000"/>
            <a:ext cx="2476500" cy="4000500"/>
            <a:chOff x="0" y="0"/>
            <a:chExt cx="2476500" cy="4000500"/>
          </a:xfrm>
        </p:grpSpPr>
        <p:sp>
          <p:nvSpPr>
            <p:cNvPr id="524" name="Google Shape;524;g3f62b341f7e_0_4898"/>
            <p:cNvSpPr/>
            <p:nvPr/>
          </p:nvSpPr>
          <p:spPr>
            <a:xfrm>
              <a:off x="0" y="0"/>
              <a:ext cx="2476500" cy="4000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g3f62b341f7e_0_4898"/>
            <p:cNvSpPr txBox="1"/>
            <p:nvPr/>
          </p:nvSpPr>
          <p:spPr>
            <a:xfrm>
              <a:off x="228600" y="228600"/>
              <a:ext cx="2019300" cy="35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Library Search Paths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Add path: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/usr/local/lib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— or —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/opt/homebrew/lib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26" name="Google Shape;526;g3f62b341f7e_0_4898"/>
          <p:cNvGrpSpPr/>
          <p:nvPr/>
        </p:nvGrpSpPr>
        <p:grpSpPr>
          <a:xfrm>
            <a:off x="6286500" y="1905000"/>
            <a:ext cx="2476500" cy="4000500"/>
            <a:chOff x="0" y="0"/>
            <a:chExt cx="2476500" cy="4000500"/>
          </a:xfrm>
        </p:grpSpPr>
        <p:sp>
          <p:nvSpPr>
            <p:cNvPr id="527" name="Google Shape;527;g3f62b341f7e_0_4898"/>
            <p:cNvSpPr/>
            <p:nvPr/>
          </p:nvSpPr>
          <p:spPr>
            <a:xfrm>
              <a:off x="0" y="0"/>
              <a:ext cx="2476500" cy="4000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g3f62b341f7e_0_4898"/>
            <p:cNvSpPr txBox="1"/>
            <p:nvPr/>
          </p:nvSpPr>
          <p:spPr>
            <a:xfrm>
              <a:off x="228600" y="228600"/>
              <a:ext cx="2019300" cy="35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Link Required Framework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Add framework: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OpenGL.framework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29" name="Google Shape;529;g3f62b341f7e_0_4898"/>
          <p:cNvGrpSpPr/>
          <p:nvPr/>
        </p:nvGrpSpPr>
        <p:grpSpPr>
          <a:xfrm>
            <a:off x="9048750" y="1905000"/>
            <a:ext cx="2476500" cy="4000500"/>
            <a:chOff x="0" y="0"/>
            <a:chExt cx="2476500" cy="4000500"/>
          </a:xfrm>
        </p:grpSpPr>
        <p:sp>
          <p:nvSpPr>
            <p:cNvPr id="530" name="Google Shape;530;g3f62b341f7e_0_4898"/>
            <p:cNvSpPr/>
            <p:nvPr/>
          </p:nvSpPr>
          <p:spPr>
            <a:xfrm>
              <a:off x="0" y="0"/>
              <a:ext cx="2476500" cy="4000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g3f62b341f7e_0_4898"/>
            <p:cNvSpPr txBox="1"/>
            <p:nvPr/>
          </p:nvSpPr>
          <p:spPr>
            <a:xfrm>
              <a:off x="228600" y="228600"/>
              <a:ext cx="2019300" cy="35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Add GLAD Source File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Add file to project: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EFF6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glad.c</a:t>
              </a:r>
              <a:endParaRPr b="1" sz="1100">
                <a:solidFill>
                  <a:srgbClr val="0F172A"/>
                </a:solidFill>
                <a:highlight>
                  <a:srgbClr val="EFF6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62b341f7e_0_5085"/>
          <p:cNvSpPr txBox="1"/>
          <p:nvPr>
            <p:ph type="title"/>
          </p:nvPr>
        </p:nvSpPr>
        <p:spPr>
          <a:xfrm>
            <a:off x="762000" y="47625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macOS OpenGL Pipeline</a:t>
            </a:r>
            <a:endParaRPr b="0" i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Understanding the execution flow from your C++ source code to the physical monitor display</a:t>
            </a:r>
            <a:endParaRPr b="0" i="0" sz="13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37" name="Google Shape;537;g3f62b341f7e_0_5085"/>
          <p:cNvGrpSpPr/>
          <p:nvPr/>
        </p:nvGrpSpPr>
        <p:grpSpPr>
          <a:xfrm>
            <a:off x="762000" y="1714500"/>
            <a:ext cx="2476500" cy="1905000"/>
            <a:chOff x="0" y="0"/>
            <a:chExt cx="2476500" cy="1905000"/>
          </a:xfrm>
        </p:grpSpPr>
        <p:sp>
          <p:nvSpPr>
            <p:cNvPr id="538" name="Google Shape;538;g3f62b341f7e_0_5085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g3f62b341f7e_0_5085"/>
            <p:cNvSpPr txBox="1"/>
            <p:nvPr/>
          </p:nvSpPr>
          <p:spPr>
            <a:xfrm>
              <a:off x="228600" y="228600"/>
              <a:ext cx="2019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Your C++ Program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Your application code where the graphics rendering process begins.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0" name="Google Shape;540;g3f62b341f7e_0_5085"/>
          <p:cNvGrpSpPr/>
          <p:nvPr/>
        </p:nvGrpSpPr>
        <p:grpSpPr>
          <a:xfrm>
            <a:off x="3524250" y="1714500"/>
            <a:ext cx="2476500" cy="1905000"/>
            <a:chOff x="0" y="0"/>
            <a:chExt cx="2476500" cy="1905000"/>
          </a:xfrm>
        </p:grpSpPr>
        <p:sp>
          <p:nvSpPr>
            <p:cNvPr id="541" name="Google Shape;541;g3f62b341f7e_0_5085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g3f62b341f7e_0_5085"/>
            <p:cNvSpPr txBox="1"/>
            <p:nvPr/>
          </p:nvSpPr>
          <p:spPr>
            <a:xfrm>
              <a:off x="228600" y="228600"/>
              <a:ext cx="2019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Xcode (Clang)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Compiles and links your code with external frameworks and dependencies.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3" name="Google Shape;543;g3f62b341f7e_0_5085"/>
          <p:cNvGrpSpPr/>
          <p:nvPr/>
        </p:nvGrpSpPr>
        <p:grpSpPr>
          <a:xfrm>
            <a:off x="6286500" y="1714500"/>
            <a:ext cx="2476500" cy="1905000"/>
            <a:chOff x="0" y="0"/>
            <a:chExt cx="2476500" cy="1905000"/>
          </a:xfrm>
        </p:grpSpPr>
        <p:sp>
          <p:nvSpPr>
            <p:cNvPr id="544" name="Google Shape;544;g3f62b341f7e_0_5085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g3f62b341f7e_0_5085"/>
            <p:cNvSpPr txBox="1"/>
            <p:nvPr/>
          </p:nvSpPr>
          <p:spPr>
            <a:xfrm>
              <a:off x="228600" y="228600"/>
              <a:ext cx="2019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GLFW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Window + Input</a:t>
              </a:r>
              <a:endParaRPr b="1" sz="10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Creates the OS window and handles keyboard/mouse inputs.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6" name="Google Shape;546;g3f62b341f7e_0_5085"/>
          <p:cNvGrpSpPr/>
          <p:nvPr/>
        </p:nvGrpSpPr>
        <p:grpSpPr>
          <a:xfrm>
            <a:off x="9048750" y="1714500"/>
            <a:ext cx="2476500" cy="1905000"/>
            <a:chOff x="0" y="0"/>
            <a:chExt cx="2476500" cy="1905000"/>
          </a:xfrm>
        </p:grpSpPr>
        <p:sp>
          <p:nvSpPr>
            <p:cNvPr id="547" name="Google Shape;547;g3f62b341f7e_0_5085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g3f62b341f7e_0_5085"/>
            <p:cNvSpPr txBox="1"/>
            <p:nvPr/>
          </p:nvSpPr>
          <p:spPr>
            <a:xfrm>
              <a:off x="228600" y="228600"/>
              <a:ext cx="2019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GLAD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Function Loader</a:t>
              </a:r>
              <a:endParaRPr b="1" sz="10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Loads the correct driver-specific OpenGL function pointers.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9" name="Google Shape;549;g3f62b341f7e_0_5085"/>
          <p:cNvGrpSpPr/>
          <p:nvPr/>
        </p:nvGrpSpPr>
        <p:grpSpPr>
          <a:xfrm>
            <a:off x="762000" y="4095750"/>
            <a:ext cx="2476500" cy="1905000"/>
            <a:chOff x="0" y="0"/>
            <a:chExt cx="2476500" cy="1905000"/>
          </a:xfrm>
        </p:grpSpPr>
        <p:sp>
          <p:nvSpPr>
            <p:cNvPr id="550" name="Google Shape;550;g3f62b341f7e_0_5085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g3f62b341f7e_0_5085"/>
            <p:cNvSpPr txBox="1"/>
            <p:nvPr/>
          </p:nvSpPr>
          <p:spPr>
            <a:xfrm>
              <a:off x="228600" y="228600"/>
              <a:ext cx="2019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OpenGL.framework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system level macOS framework providing essential OpenGL APIs.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2" name="Google Shape;552;g3f62b341f7e_0_5085"/>
          <p:cNvGrpSpPr/>
          <p:nvPr/>
        </p:nvGrpSpPr>
        <p:grpSpPr>
          <a:xfrm>
            <a:off x="3524250" y="4095750"/>
            <a:ext cx="2476500" cy="1905000"/>
            <a:chOff x="0" y="0"/>
            <a:chExt cx="2476500" cy="1905000"/>
          </a:xfrm>
        </p:grpSpPr>
        <p:sp>
          <p:nvSpPr>
            <p:cNvPr id="553" name="Google Shape;553;g3f62b341f7e_0_5085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g3f62b341f7e_0_5085"/>
            <p:cNvSpPr txBox="1"/>
            <p:nvPr/>
          </p:nvSpPr>
          <p:spPr>
            <a:xfrm>
              <a:off x="228600" y="228600"/>
              <a:ext cx="2019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06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Apple Graphics Driver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Translates abstract API calls into instructions the hardware understands.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g3f62b341f7e_0_5085"/>
          <p:cNvGrpSpPr/>
          <p:nvPr/>
        </p:nvGrpSpPr>
        <p:grpSpPr>
          <a:xfrm>
            <a:off x="6286500" y="4095750"/>
            <a:ext cx="2476500" cy="1905000"/>
            <a:chOff x="0" y="0"/>
            <a:chExt cx="2476500" cy="1905000"/>
          </a:xfrm>
        </p:grpSpPr>
        <p:sp>
          <p:nvSpPr>
            <p:cNvPr id="556" name="Google Shape;556;g3f62b341f7e_0_5085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g3f62b341f7e_0_5085"/>
            <p:cNvSpPr txBox="1"/>
            <p:nvPr/>
          </p:nvSpPr>
          <p:spPr>
            <a:xfrm>
              <a:off x="228600" y="228600"/>
              <a:ext cx="2019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GPU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graphics processing hardware executing shaders and drawing pixels.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8" name="Google Shape;558;g3f62b341f7e_0_5085"/>
          <p:cNvGrpSpPr/>
          <p:nvPr/>
        </p:nvGrpSpPr>
        <p:grpSpPr>
          <a:xfrm>
            <a:off x="9048750" y="4095750"/>
            <a:ext cx="2476500" cy="1905000"/>
            <a:chOff x="0" y="0"/>
            <a:chExt cx="2476500" cy="1905000"/>
          </a:xfrm>
        </p:grpSpPr>
        <p:sp>
          <p:nvSpPr>
            <p:cNvPr id="559" name="Google Shape;559;g3f62b341f7e_0_5085"/>
            <p:cNvSpPr/>
            <p:nvPr/>
          </p:nvSpPr>
          <p:spPr>
            <a:xfrm>
              <a:off x="0" y="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g3f62b341f7e_0_5085"/>
            <p:cNvSpPr txBox="1"/>
            <p:nvPr/>
          </p:nvSpPr>
          <p:spPr>
            <a:xfrm>
              <a:off x="228600" y="228600"/>
              <a:ext cx="2019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08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Monitor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Renders the final image frame buffer to physical pixels on screen.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1" name="Google Shape;561;g3f62b341f7e_0_5085"/>
          <p:cNvGrpSpPr/>
          <p:nvPr/>
        </p:nvGrpSpPr>
        <p:grpSpPr>
          <a:xfrm>
            <a:off x="1952625" y="2619375"/>
            <a:ext cx="8334300" cy="2476650"/>
            <a:chOff x="1952625" y="2619375"/>
            <a:chExt cx="8334300" cy="2476650"/>
          </a:xfrm>
        </p:grpSpPr>
        <p:sp>
          <p:nvSpPr>
            <p:cNvPr id="562" name="Google Shape;562;g3f62b341f7e_0_5085"/>
            <p:cNvSpPr/>
            <p:nvPr/>
          </p:nvSpPr>
          <p:spPr>
            <a:xfrm>
              <a:off x="3238500" y="2619375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g3f62b341f7e_0_5085"/>
            <p:cNvSpPr/>
            <p:nvPr/>
          </p:nvSpPr>
          <p:spPr>
            <a:xfrm>
              <a:off x="6000750" y="2619375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g3f62b341f7e_0_5085"/>
            <p:cNvSpPr/>
            <p:nvPr/>
          </p:nvSpPr>
          <p:spPr>
            <a:xfrm>
              <a:off x="8763000" y="2619375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g3f62b341f7e_0_5085"/>
            <p:cNvSpPr/>
            <p:nvPr/>
          </p:nvSpPr>
          <p:spPr>
            <a:xfrm>
              <a:off x="1952625" y="3619500"/>
              <a:ext cx="8334300" cy="4764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686" y="60000"/>
                  </a:lnTo>
                  <a:lnTo>
                    <a:pt x="686" y="120000"/>
                  </a:lnTo>
                  <a:moveTo>
                    <a:pt x="0" y="96000"/>
                  </a:moveTo>
                  <a:lnTo>
                    <a:pt x="686" y="120000"/>
                  </a:lnTo>
                  <a:lnTo>
                    <a:pt x="1371" y="96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g3f62b341f7e_0_5085"/>
            <p:cNvSpPr/>
            <p:nvPr/>
          </p:nvSpPr>
          <p:spPr>
            <a:xfrm>
              <a:off x="3238500" y="5000625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g3f62b341f7e_0_5085"/>
            <p:cNvSpPr/>
            <p:nvPr/>
          </p:nvSpPr>
          <p:spPr>
            <a:xfrm>
              <a:off x="6000750" y="5000625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g3f62b341f7e_0_5085"/>
            <p:cNvSpPr/>
            <p:nvPr/>
          </p:nvSpPr>
          <p:spPr>
            <a:xfrm>
              <a:off x="8763000" y="5000625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g3f62b341f7e_0_5311"/>
          <p:cNvGrpSpPr/>
          <p:nvPr/>
        </p:nvGrpSpPr>
        <p:grpSpPr>
          <a:xfrm>
            <a:off x="762000" y="571500"/>
            <a:ext cx="10668000" cy="952500"/>
            <a:chOff x="0" y="0"/>
            <a:chExt cx="10668000" cy="952500"/>
          </a:xfrm>
        </p:grpSpPr>
        <p:sp>
          <p:nvSpPr>
            <p:cNvPr id="574" name="Google Shape;574;g3f62b341f7e_0_5311"/>
            <p:cNvSpPr/>
            <p:nvPr/>
          </p:nvSpPr>
          <p:spPr>
            <a:xfrm>
              <a:off x="0" y="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g3f62b341f7e_0_5311"/>
            <p:cNvSpPr txBox="1"/>
            <p:nvPr/>
          </p:nvSpPr>
          <p:spPr>
            <a:xfrm>
              <a:off x="0" y="0"/>
              <a:ext cx="1066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Installing on Linux (Approach D)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Update repository packages and install key C++ OpenGL development dependencies</a:t>
              </a:r>
              <a:endParaRPr b="0" sz="13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76" name="Google Shape;576;g3f62b341f7e_0_5311"/>
          <p:cNvGrpSpPr/>
          <p:nvPr/>
        </p:nvGrpSpPr>
        <p:grpSpPr>
          <a:xfrm>
            <a:off x="762000" y="1714500"/>
            <a:ext cx="3429000" cy="4381500"/>
            <a:chOff x="0" y="0"/>
            <a:chExt cx="3429000" cy="4381500"/>
          </a:xfrm>
        </p:grpSpPr>
        <p:sp>
          <p:nvSpPr>
            <p:cNvPr id="577" name="Google Shape;577;g3f62b341f7e_0_5311"/>
            <p:cNvSpPr/>
            <p:nvPr/>
          </p:nvSpPr>
          <p:spPr>
            <a:xfrm>
              <a:off x="0" y="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g3f62b341f7e_0_5311"/>
            <p:cNvSpPr txBox="1"/>
            <p:nvPr/>
          </p:nvSpPr>
          <p:spPr>
            <a:xfrm>
              <a:off x="285750" y="285750"/>
              <a:ext cx="2857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Update Repository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Run command: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sudo apt update</a:t>
              </a:r>
              <a:endParaRPr b="1" sz="12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Purpose: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Updates the local package database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Downloads the latest information about available packages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79" name="Google Shape;579;g3f62b341f7e_0_5311"/>
          <p:cNvGrpSpPr/>
          <p:nvPr/>
        </p:nvGrpSpPr>
        <p:grpSpPr>
          <a:xfrm>
            <a:off x="4476750" y="1714500"/>
            <a:ext cx="6953400" cy="4381500"/>
            <a:chOff x="0" y="0"/>
            <a:chExt cx="6953400" cy="4381500"/>
          </a:xfrm>
        </p:grpSpPr>
        <p:sp>
          <p:nvSpPr>
            <p:cNvPr id="580" name="Google Shape;580;g3f62b341f7e_0_5311"/>
            <p:cNvSpPr/>
            <p:nvPr/>
          </p:nvSpPr>
          <p:spPr>
            <a:xfrm>
              <a:off x="0" y="0"/>
              <a:ext cx="6953400" cy="43815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g3f62b341f7e_0_5311"/>
            <p:cNvSpPr txBox="1"/>
            <p:nvPr/>
          </p:nvSpPr>
          <p:spPr>
            <a:xfrm>
              <a:off x="285750" y="285750"/>
              <a:ext cx="638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Install Required Packages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Run command: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sudo apt install build-essential libglfw3-dev libglm-dev cmake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82" name="Google Shape;582;g3f62b341f7e_0_5311"/>
          <p:cNvSpPr txBox="1"/>
          <p:nvPr/>
        </p:nvSpPr>
        <p:spPr>
          <a:xfrm>
            <a:off x="4762500" y="3714750"/>
            <a:ext cx="2952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build-essential</a:t>
            </a:r>
            <a:endParaRPr b="0" sz="1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Core compiler suite and development tools: GCC &amp; G++ Compiler, Make, and essential Build Tools</a:t>
            </a:r>
            <a:endParaRPr b="0" sz="10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3" name="Google Shape;583;g3f62b341f7e_0_5311"/>
          <p:cNvSpPr txBox="1"/>
          <p:nvPr/>
        </p:nvSpPr>
        <p:spPr>
          <a:xfrm>
            <a:off x="8001000" y="3714750"/>
            <a:ext cx="2952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GLFW</a:t>
            </a:r>
            <a:endParaRPr b="0" sz="1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Multi-platform library for OpenGL application development: Window creation, OpenGL context, and user input handling</a:t>
            </a:r>
            <a:endParaRPr b="0" sz="10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4" name="Google Shape;584;g3f62b341f7e_0_5311"/>
          <p:cNvSpPr txBox="1"/>
          <p:nvPr/>
        </p:nvSpPr>
        <p:spPr>
          <a:xfrm>
            <a:off x="4762500" y="4857750"/>
            <a:ext cx="2952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GLM</a:t>
            </a:r>
            <a:endParaRPr b="0" sz="1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Header-only mathematics library tailored for graphics programming: Vectors, Matrices, and 3D Transformations</a:t>
            </a:r>
            <a:endParaRPr b="0" sz="10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5" name="Google Shape;585;g3f62b341f7e_0_5311"/>
          <p:cNvSpPr txBox="1"/>
          <p:nvPr/>
        </p:nvSpPr>
        <p:spPr>
          <a:xfrm>
            <a:off x="8001000" y="4857750"/>
            <a:ext cx="2952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CMake</a:t>
            </a:r>
            <a:endParaRPr b="0" sz="1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Cross-platform build automation tool: Manages and simplifies project compilation configurations</a:t>
            </a:r>
            <a:endParaRPr b="0" sz="10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g3f62b341f7e_0_5317"/>
          <p:cNvGrpSpPr/>
          <p:nvPr/>
        </p:nvGrpSpPr>
        <p:grpSpPr>
          <a:xfrm>
            <a:off x="762000" y="476250"/>
            <a:ext cx="10668000" cy="952500"/>
            <a:chOff x="0" y="0"/>
            <a:chExt cx="10668000" cy="952500"/>
          </a:xfrm>
        </p:grpSpPr>
        <p:sp>
          <p:nvSpPr>
            <p:cNvPr id="591" name="Google Shape;591;g3f62b341f7e_0_5317"/>
            <p:cNvSpPr/>
            <p:nvPr/>
          </p:nvSpPr>
          <p:spPr>
            <a:xfrm>
              <a:off x="0" y="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g3f62b341f7e_0_5317"/>
            <p:cNvSpPr txBox="1"/>
            <p:nvPr/>
          </p:nvSpPr>
          <p:spPr>
            <a:xfrm>
              <a:off x="0" y="0"/>
              <a:ext cx="1066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Integrating GLAD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step-by-step guide to downloading, understanding, and adding GLAD to your project</a:t>
              </a:r>
              <a:endParaRPr b="0" sz="13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93" name="Google Shape;593;g3f62b341f7e_0_5317"/>
          <p:cNvGrpSpPr/>
          <p:nvPr/>
        </p:nvGrpSpPr>
        <p:grpSpPr>
          <a:xfrm>
            <a:off x="762000" y="1714500"/>
            <a:ext cx="3333900" cy="4381500"/>
            <a:chOff x="0" y="0"/>
            <a:chExt cx="3333900" cy="4381500"/>
          </a:xfrm>
        </p:grpSpPr>
        <p:sp>
          <p:nvSpPr>
            <p:cNvPr id="594" name="Google Shape;594;g3f62b341f7e_0_5317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g3f62b341f7e_0_5317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Download GLAD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Generator Link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B82F6"/>
                  </a:solidFill>
                  <a:uFill>
                    <a:noFill/>
                  </a:uFill>
                  <a:latin typeface="Inter"/>
                  <a:ea typeface="Inter"/>
                  <a:cs typeface="Inter"/>
                  <a:sym typeface="Inter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https://gen.glad.sh/</a:t>
              </a:r>
              <a:endParaRPr b="1" sz="12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Required Settings: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Language: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C/C++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Specification: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OpenGL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API Version: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4.6 (or lab ver.)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Profile: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Core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Generate and download the resulting files.</a:t>
              </a:r>
              <a:endParaRPr i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6" name="Google Shape;596;g3f62b341f7e_0_5317"/>
          <p:cNvGrpSpPr/>
          <p:nvPr/>
        </p:nvGrpSpPr>
        <p:grpSpPr>
          <a:xfrm>
            <a:off x="4429125" y="1714500"/>
            <a:ext cx="3333900" cy="4381500"/>
            <a:chOff x="0" y="0"/>
            <a:chExt cx="3333900" cy="4381500"/>
          </a:xfrm>
        </p:grpSpPr>
        <p:sp>
          <p:nvSpPr>
            <p:cNvPr id="597" name="Google Shape;597;g3f62b341f7e_0_5317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g3f62b341f7e_0_5317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Use of GLAD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GLAD is a function loader that dynamically loads modern driver-specific OpenGL function pointers at runtime.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Without GLAD, essential functions cannot be accessed: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50"/>
                <a:buFont typeface="Courier New"/>
                <a:buChar char="●"/>
              </a:pPr>
              <a:r>
                <a:rPr b="1" lang="en-US" sz="115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glCreateShader()</a:t>
              </a:r>
              <a:endParaRPr b="1" sz="115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50"/>
                <a:buFont typeface="Courier New"/>
                <a:buChar char="●"/>
              </a:pPr>
              <a:r>
                <a:rPr b="1" lang="en-US" sz="115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glBindVertexArray()</a:t>
              </a:r>
              <a:endParaRPr b="1" sz="115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50"/>
                <a:buFont typeface="Courier New"/>
                <a:buChar char="●"/>
              </a:pPr>
              <a:r>
                <a:rPr b="1" lang="en-US" sz="115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glGenBuffers()</a:t>
              </a:r>
              <a:endParaRPr b="1" sz="115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99" name="Google Shape;599;g3f62b341f7e_0_5317"/>
          <p:cNvGrpSpPr/>
          <p:nvPr/>
        </p:nvGrpSpPr>
        <p:grpSpPr>
          <a:xfrm>
            <a:off x="8096250" y="1714500"/>
            <a:ext cx="3333900" cy="4381500"/>
            <a:chOff x="0" y="0"/>
            <a:chExt cx="3333900" cy="4381500"/>
          </a:xfrm>
        </p:grpSpPr>
        <p:sp>
          <p:nvSpPr>
            <p:cNvPr id="600" name="Google Shape;600;g3f62b341f7e_0_5317"/>
            <p:cNvSpPr/>
            <p:nvPr/>
          </p:nvSpPr>
          <p:spPr>
            <a:xfrm>
              <a:off x="0" y="0"/>
              <a:ext cx="3333900" cy="43815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g3f62b341f7e_0_5317"/>
            <p:cNvSpPr txBox="1"/>
            <p:nvPr/>
          </p:nvSpPr>
          <p:spPr>
            <a:xfrm>
              <a:off x="228600" y="228600"/>
              <a:ext cx="2876700" cy="39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Add to Project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1. Copy Header Directories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include/glad</a:t>
              </a:r>
              <a:br>
                <a:rPr b="1" lang="en-US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include/KHR</a:t>
              </a:r>
              <a:endParaRPr b="1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Place these inside your project's main </a:t>
              </a:r>
              <a:r>
                <a:rPr b="0" lang="en-US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include</a:t>
              </a:r>
              <a:r>
                <a:rPr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search path.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2. Link the Source File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glad.c</a:t>
              </a:r>
              <a:endParaRPr b="1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Add this to your project source files for compilation.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g3f62b341f7e_0_5683"/>
          <p:cNvGrpSpPr/>
          <p:nvPr/>
        </p:nvGrpSpPr>
        <p:grpSpPr>
          <a:xfrm>
            <a:off x="762000" y="476250"/>
            <a:ext cx="10668000" cy="1047900"/>
            <a:chOff x="0" y="0"/>
            <a:chExt cx="10668000" cy="1047900"/>
          </a:xfrm>
        </p:grpSpPr>
        <p:sp>
          <p:nvSpPr>
            <p:cNvPr id="607" name="Google Shape;607;g3f62b341f7e_0_5683"/>
            <p:cNvSpPr/>
            <p:nvPr/>
          </p:nvSpPr>
          <p:spPr>
            <a:xfrm>
              <a:off x="0" y="0"/>
              <a:ext cx="106680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g3f62b341f7e_0_5683"/>
            <p:cNvSpPr txBox="1"/>
            <p:nvPr/>
          </p:nvSpPr>
          <p:spPr>
            <a:xfrm>
              <a:off x="0" y="0"/>
              <a:ext cx="1066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Verify Installed Libraries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Confirm successful installation of GLFW and GLM, and check standard directory paths</a:t>
              </a:r>
              <a:endParaRPr b="0" sz="13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09" name="Google Shape;609;g3f62b341f7e_0_5683"/>
          <p:cNvGrpSpPr/>
          <p:nvPr/>
        </p:nvGrpSpPr>
        <p:grpSpPr>
          <a:xfrm>
            <a:off x="762000" y="1714500"/>
            <a:ext cx="4572000" cy="4381500"/>
            <a:chOff x="0" y="0"/>
            <a:chExt cx="4572000" cy="4381500"/>
          </a:xfrm>
        </p:grpSpPr>
        <p:sp>
          <p:nvSpPr>
            <p:cNvPr id="610" name="Google Shape;610;g3f62b341f7e_0_5683"/>
            <p:cNvSpPr/>
            <p:nvPr/>
          </p:nvSpPr>
          <p:spPr>
            <a:xfrm>
              <a:off x="0" y="0"/>
              <a:ext cx="4572000" cy="43815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g3f62b341f7e_0_5683"/>
            <p:cNvSpPr txBox="1"/>
            <p:nvPr/>
          </p:nvSpPr>
          <p:spPr>
            <a:xfrm>
              <a:off x="285750" y="285750"/>
              <a:ext cx="4000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Run Verification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Check GLFW installation: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dpkg -L libglfw3-dev</a:t>
              </a:r>
              <a:endParaRPr b="0" sz="1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Check GLM installation: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dpkg -L libglm-dev</a:t>
              </a:r>
              <a:endParaRPr b="0" sz="1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Purpose: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Verifies that both </a:t>
              </a:r>
              <a:r>
                <a:rPr b="1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Header files</a:t>
              </a:r>
              <a:r>
                <a:rPr b="0" lang="en-US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and </a:t>
              </a:r>
              <a:r>
                <a:rPr b="1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Library files</a:t>
              </a:r>
              <a:r>
                <a:rPr b="0" lang="en-US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have been installed correctly on your system.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12" name="Google Shape;612;g3f62b341f7e_0_5683"/>
          <p:cNvGrpSpPr/>
          <p:nvPr/>
        </p:nvGrpSpPr>
        <p:grpSpPr>
          <a:xfrm>
            <a:off x="5619750" y="1714500"/>
            <a:ext cx="2809800" cy="4381500"/>
            <a:chOff x="0" y="0"/>
            <a:chExt cx="2809800" cy="4381500"/>
          </a:xfrm>
        </p:grpSpPr>
        <p:sp>
          <p:nvSpPr>
            <p:cNvPr id="613" name="Google Shape;613;g3f62b341f7e_0_5683"/>
            <p:cNvSpPr/>
            <p:nvPr/>
          </p:nvSpPr>
          <p:spPr>
            <a:xfrm>
              <a:off x="0" y="0"/>
              <a:ext cx="2809800" cy="4381500"/>
            </a:xfrm>
            <a:prstGeom prst="roundRect">
              <a:avLst>
                <a:gd fmla="val 542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g3f62b341f7e_0_5683"/>
            <p:cNvSpPr txBox="1"/>
            <p:nvPr/>
          </p:nvSpPr>
          <p:spPr>
            <a:xfrm>
              <a:off x="228600" y="285750"/>
              <a:ext cx="23526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Header Locations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Standard search paths: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/usr/include</a:t>
              </a:r>
              <a:endParaRPr b="0" sz="1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/usr/local/include</a:t>
              </a:r>
              <a:endParaRPr b="0" sz="1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15" name="Google Shape;615;g3f62b341f7e_0_5683"/>
          <p:cNvGrpSpPr/>
          <p:nvPr/>
        </p:nvGrpSpPr>
        <p:grpSpPr>
          <a:xfrm>
            <a:off x="8715375" y="1714500"/>
            <a:ext cx="2714700" cy="4381500"/>
            <a:chOff x="0" y="0"/>
            <a:chExt cx="2714700" cy="4381500"/>
          </a:xfrm>
        </p:grpSpPr>
        <p:sp>
          <p:nvSpPr>
            <p:cNvPr id="616" name="Google Shape;616;g3f62b341f7e_0_5683"/>
            <p:cNvSpPr/>
            <p:nvPr/>
          </p:nvSpPr>
          <p:spPr>
            <a:xfrm>
              <a:off x="0" y="0"/>
              <a:ext cx="2714700" cy="4381500"/>
            </a:xfrm>
            <a:prstGeom prst="roundRect">
              <a:avLst>
                <a:gd fmla="val 561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g3f62b341f7e_0_5683"/>
            <p:cNvSpPr txBox="1"/>
            <p:nvPr/>
          </p:nvSpPr>
          <p:spPr>
            <a:xfrm>
              <a:off x="228600" y="285750"/>
              <a:ext cx="2257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Library Locations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Standard search paths: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/usr/lib</a:t>
              </a:r>
              <a:endParaRPr b="0" sz="1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/usr/local/lib</a:t>
              </a:r>
              <a:endParaRPr b="0" sz="1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g3f62b341f7e_0_58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3" name="Google Shape;623;g3f62b341f7e_0_5883"/>
          <p:cNvGrpSpPr/>
          <p:nvPr/>
        </p:nvGrpSpPr>
        <p:grpSpPr>
          <a:xfrm>
            <a:off x="762000" y="571500"/>
            <a:ext cx="10668000" cy="1047900"/>
            <a:chOff x="0" y="0"/>
            <a:chExt cx="10668000" cy="1047900"/>
          </a:xfrm>
        </p:grpSpPr>
        <p:sp>
          <p:nvSpPr>
            <p:cNvPr id="624" name="Google Shape;624;g3f62b341f7e_0_5883"/>
            <p:cNvSpPr/>
            <p:nvPr/>
          </p:nvSpPr>
          <p:spPr>
            <a:xfrm>
              <a:off x="0" y="0"/>
              <a:ext cx="106680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g3f62b341f7e_0_5883"/>
            <p:cNvSpPr txBox="1"/>
            <p:nvPr/>
          </p:nvSpPr>
          <p:spPr>
            <a:xfrm>
              <a:off x="0" y="0"/>
              <a:ext cx="1066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OpenGL Execution Flow</a:t>
              </a:r>
              <a:endParaRPr b="0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Understanding how your code compiles, links, loads functions, and renders to the display</a:t>
              </a:r>
              <a:endParaRPr b="0" sz="13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26" name="Google Shape;626;g3f62b341f7e_0_5883"/>
          <p:cNvGrpSpPr/>
          <p:nvPr/>
        </p:nvGrpSpPr>
        <p:grpSpPr>
          <a:xfrm>
            <a:off x="762000" y="2190750"/>
            <a:ext cx="1381200" cy="3619500"/>
            <a:chOff x="0" y="0"/>
            <a:chExt cx="1381200" cy="3619500"/>
          </a:xfrm>
        </p:grpSpPr>
        <p:sp>
          <p:nvSpPr>
            <p:cNvPr id="627" name="Google Shape;627;g3f62b341f7e_0_5883"/>
            <p:cNvSpPr/>
            <p:nvPr/>
          </p:nvSpPr>
          <p:spPr>
            <a:xfrm>
              <a:off x="0" y="0"/>
              <a:ext cx="1381200" cy="3619500"/>
            </a:xfrm>
            <a:prstGeom prst="roundRect">
              <a:avLst>
                <a:gd fmla="val 1103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g3f62b341f7e_0_5883"/>
            <p:cNvSpPr txBox="1"/>
            <p:nvPr/>
          </p:nvSpPr>
          <p:spPr>
            <a:xfrm>
              <a:off x="152400" y="228600"/>
              <a:ext cx="10764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C++ Code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Your application source containing the main logic and OpenGL instructions.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29" name="Google Shape;629;g3f62b341f7e_0_5883"/>
          <p:cNvGrpSpPr/>
          <p:nvPr/>
        </p:nvGrpSpPr>
        <p:grpSpPr>
          <a:xfrm>
            <a:off x="2305050" y="2190750"/>
            <a:ext cx="1381200" cy="3619500"/>
            <a:chOff x="0" y="0"/>
            <a:chExt cx="1381200" cy="3619500"/>
          </a:xfrm>
        </p:grpSpPr>
        <p:sp>
          <p:nvSpPr>
            <p:cNvPr id="630" name="Google Shape;630;g3f62b341f7e_0_5883"/>
            <p:cNvSpPr/>
            <p:nvPr/>
          </p:nvSpPr>
          <p:spPr>
            <a:xfrm>
              <a:off x="0" y="0"/>
              <a:ext cx="1381200" cy="3619500"/>
            </a:xfrm>
            <a:prstGeom prst="roundRect">
              <a:avLst>
                <a:gd fmla="val 1103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g3f62b341f7e_0_5883"/>
            <p:cNvSpPr txBox="1"/>
            <p:nvPr/>
          </p:nvSpPr>
          <p:spPr>
            <a:xfrm>
              <a:off x="152400" y="228600"/>
              <a:ext cx="10764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GCC / G++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 compiler that builds, links, and generates the binary executable.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32" name="Google Shape;632;g3f62b341f7e_0_5883"/>
          <p:cNvGrpSpPr/>
          <p:nvPr/>
        </p:nvGrpSpPr>
        <p:grpSpPr>
          <a:xfrm>
            <a:off x="3848100" y="2190750"/>
            <a:ext cx="1381200" cy="3619500"/>
            <a:chOff x="0" y="0"/>
            <a:chExt cx="1381200" cy="3619500"/>
          </a:xfrm>
        </p:grpSpPr>
        <p:sp>
          <p:nvSpPr>
            <p:cNvPr id="633" name="Google Shape;633;g3f62b341f7e_0_5883"/>
            <p:cNvSpPr/>
            <p:nvPr/>
          </p:nvSpPr>
          <p:spPr>
            <a:xfrm>
              <a:off x="0" y="0"/>
              <a:ext cx="1381200" cy="3619500"/>
            </a:xfrm>
            <a:prstGeom prst="roundRect">
              <a:avLst>
                <a:gd fmla="val 1103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g3f62b341f7e_0_5883"/>
            <p:cNvSpPr txBox="1"/>
            <p:nvPr/>
          </p:nvSpPr>
          <p:spPr>
            <a:xfrm>
              <a:off x="152400" y="228600"/>
              <a:ext cx="10764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GLFW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Utility library for OS window creation, context, and input handling.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35" name="Google Shape;635;g3f62b341f7e_0_5883"/>
          <p:cNvGrpSpPr/>
          <p:nvPr/>
        </p:nvGrpSpPr>
        <p:grpSpPr>
          <a:xfrm>
            <a:off x="5391150" y="2190750"/>
            <a:ext cx="1381200" cy="3619500"/>
            <a:chOff x="0" y="0"/>
            <a:chExt cx="1381200" cy="3619500"/>
          </a:xfrm>
        </p:grpSpPr>
        <p:sp>
          <p:nvSpPr>
            <p:cNvPr id="636" name="Google Shape;636;g3f62b341f7e_0_5883"/>
            <p:cNvSpPr/>
            <p:nvPr/>
          </p:nvSpPr>
          <p:spPr>
            <a:xfrm>
              <a:off x="0" y="0"/>
              <a:ext cx="1381200" cy="3619500"/>
            </a:xfrm>
            <a:prstGeom prst="roundRect">
              <a:avLst>
                <a:gd fmla="val 1103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g3f62b341f7e_0_5883"/>
            <p:cNvSpPr txBox="1"/>
            <p:nvPr/>
          </p:nvSpPr>
          <p:spPr>
            <a:xfrm>
              <a:off x="152400" y="228600"/>
              <a:ext cx="10764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GLAD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Function loader to access drivers and fetch modern OpenGL functions.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38" name="Google Shape;638;g3f62b341f7e_0_5883"/>
          <p:cNvGrpSpPr/>
          <p:nvPr/>
        </p:nvGrpSpPr>
        <p:grpSpPr>
          <a:xfrm>
            <a:off x="6934200" y="2190750"/>
            <a:ext cx="1381200" cy="3619500"/>
            <a:chOff x="0" y="0"/>
            <a:chExt cx="1381200" cy="3619500"/>
          </a:xfrm>
        </p:grpSpPr>
        <p:sp>
          <p:nvSpPr>
            <p:cNvPr id="639" name="Google Shape;639;g3f62b341f7e_0_5883"/>
            <p:cNvSpPr/>
            <p:nvPr/>
          </p:nvSpPr>
          <p:spPr>
            <a:xfrm>
              <a:off x="0" y="0"/>
              <a:ext cx="1381200" cy="3619500"/>
            </a:xfrm>
            <a:prstGeom prst="roundRect">
              <a:avLst>
                <a:gd fmla="val 1103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g3f62b341f7e_0_5883"/>
            <p:cNvSpPr txBox="1"/>
            <p:nvPr/>
          </p:nvSpPr>
          <p:spPr>
            <a:xfrm>
              <a:off x="152400" y="228600"/>
              <a:ext cx="10764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Driver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Translates API commands into instructions the graphics card understands.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41" name="Google Shape;641;g3f62b341f7e_0_5883"/>
          <p:cNvGrpSpPr/>
          <p:nvPr/>
        </p:nvGrpSpPr>
        <p:grpSpPr>
          <a:xfrm>
            <a:off x="8477250" y="2190750"/>
            <a:ext cx="1381200" cy="3619500"/>
            <a:chOff x="0" y="0"/>
            <a:chExt cx="1381200" cy="3619500"/>
          </a:xfrm>
        </p:grpSpPr>
        <p:sp>
          <p:nvSpPr>
            <p:cNvPr id="642" name="Google Shape;642;g3f62b341f7e_0_5883"/>
            <p:cNvSpPr/>
            <p:nvPr/>
          </p:nvSpPr>
          <p:spPr>
            <a:xfrm>
              <a:off x="0" y="0"/>
              <a:ext cx="1381200" cy="3619500"/>
            </a:xfrm>
            <a:prstGeom prst="roundRect">
              <a:avLst>
                <a:gd fmla="val 1103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g3f62b341f7e_0_5883"/>
            <p:cNvSpPr txBox="1"/>
            <p:nvPr/>
          </p:nvSpPr>
          <p:spPr>
            <a:xfrm>
              <a:off x="152400" y="228600"/>
              <a:ext cx="10764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06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GPU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Hardware processor that executes shaders and performs parallel rendering.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44" name="Google Shape;644;g3f62b341f7e_0_5883"/>
          <p:cNvGrpSpPr/>
          <p:nvPr/>
        </p:nvGrpSpPr>
        <p:grpSpPr>
          <a:xfrm>
            <a:off x="10020300" y="2190750"/>
            <a:ext cx="1409700" cy="3619500"/>
            <a:chOff x="0" y="0"/>
            <a:chExt cx="1409700" cy="3619500"/>
          </a:xfrm>
        </p:grpSpPr>
        <p:sp>
          <p:nvSpPr>
            <p:cNvPr id="645" name="Google Shape;645;g3f62b341f7e_0_5883"/>
            <p:cNvSpPr/>
            <p:nvPr/>
          </p:nvSpPr>
          <p:spPr>
            <a:xfrm>
              <a:off x="0" y="0"/>
              <a:ext cx="1409700" cy="3619500"/>
            </a:xfrm>
            <a:prstGeom prst="roundRect">
              <a:avLst>
                <a:gd fmla="val 1081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g3f62b341f7e_0_5883"/>
            <p:cNvSpPr txBox="1"/>
            <p:nvPr/>
          </p:nvSpPr>
          <p:spPr>
            <a:xfrm>
              <a:off x="152400" y="228600"/>
              <a:ext cx="11049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Monitor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Receives the frame buffer signal and presents the visual output to the screen.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13"/>
          <p:cNvSpPr txBox="1"/>
          <p:nvPr/>
        </p:nvSpPr>
        <p:spPr>
          <a:xfrm>
            <a:off x="762000" y="476250"/>
            <a:ext cx="1066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Troubleshooting Tips</a:t>
            </a:r>
            <a:endParaRPr b="0" sz="3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Common setup errors, causes, and step-by-step solutions for OpenGL development</a:t>
            </a:r>
            <a:endParaRPr b="0" sz="13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53" name="Google Shape;653;p13"/>
          <p:cNvGrpSpPr/>
          <p:nvPr/>
        </p:nvGrpSpPr>
        <p:grpSpPr>
          <a:xfrm>
            <a:off x="762000" y="1476375"/>
            <a:ext cx="5143500" cy="1095300"/>
            <a:chOff x="0" y="0"/>
            <a:chExt cx="5143500" cy="1095300"/>
          </a:xfrm>
        </p:grpSpPr>
        <p:sp>
          <p:nvSpPr>
            <p:cNvPr id="654" name="Google Shape;654;p13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3"/>
            <p:cNvSpPr txBox="1"/>
            <p:nvPr/>
          </p:nvSpPr>
          <p:spPr>
            <a:xfrm>
              <a:off x="152400" y="114300"/>
              <a:ext cx="48387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Header File Not Found</a:t>
              </a:r>
              <a:endParaRPr b="0" sz="1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F444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GLFW/glfw3.h: No such file or directory</a:t>
              </a:r>
              <a:endParaRPr b="0" sz="85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Cause:</a:t>
              </a:r>
              <a:r>
                <a:rPr b="0" lang="en-US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Include directory not configured correctly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Fix:</a:t>
              </a:r>
              <a:r>
                <a:rPr b="0" lang="en-US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Verify Include Directories; ensure GLFW, GLAD, and GLM header files are present.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56" name="Google Shape;656;p13"/>
          <p:cNvGrpSpPr/>
          <p:nvPr/>
        </p:nvGrpSpPr>
        <p:grpSpPr>
          <a:xfrm>
            <a:off x="6286500" y="1476375"/>
            <a:ext cx="5143500" cy="1095300"/>
            <a:chOff x="0" y="0"/>
            <a:chExt cx="5143500" cy="1095300"/>
          </a:xfrm>
        </p:grpSpPr>
        <p:sp>
          <p:nvSpPr>
            <p:cNvPr id="657" name="Google Shape;657;p13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3"/>
            <p:cNvSpPr txBox="1"/>
            <p:nvPr/>
          </p:nvSpPr>
          <p:spPr>
            <a:xfrm>
              <a:off x="152400" y="114300"/>
              <a:ext cx="48387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Linker Error</a:t>
              </a:r>
              <a:endParaRPr b="0" sz="1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F444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undefined reference / unresolved external symbol</a:t>
              </a:r>
              <a:endParaRPr b="0" sz="85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Cause:</a:t>
              </a:r>
              <a:r>
                <a:rPr b="0" lang="en-US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Required libraries are not linked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Fix:</a:t>
              </a:r>
              <a:r>
                <a:rPr b="0" lang="en-US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Link glfw3.lib, opengl32.lib (Win) or -lglfw -lGL (Linux). Add glad.c to project.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59" name="Google Shape;659;p13"/>
          <p:cNvGrpSpPr/>
          <p:nvPr/>
        </p:nvGrpSpPr>
        <p:grpSpPr>
          <a:xfrm>
            <a:off x="762000" y="2714625"/>
            <a:ext cx="5143500" cy="1095300"/>
            <a:chOff x="0" y="0"/>
            <a:chExt cx="5143500" cy="1095300"/>
          </a:xfrm>
        </p:grpSpPr>
        <p:sp>
          <p:nvSpPr>
            <p:cNvPr id="660" name="Google Shape;660;p13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3"/>
            <p:cNvSpPr txBox="1"/>
            <p:nvPr/>
          </p:nvSpPr>
          <p:spPr>
            <a:xfrm>
              <a:off x="152400" y="114300"/>
              <a:ext cx="48387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GLFW Initialization Failed</a:t>
              </a:r>
              <a:endParaRPr b="0" sz="1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F444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glfwInit() returns GLFW_FALSE</a:t>
              </a:r>
              <a:endParaRPr b="0" sz="85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Cause:</a:t>
              </a:r>
              <a:r>
                <a:rPr b="0" lang="en-US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Incorrect installation or unsupported graphics driver/OpenGL version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Fix:</a:t>
              </a:r>
              <a:r>
                <a:rPr b="0" lang="en-US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Verify GLFW installation, update graphics drivers, and check requested OpenGL version.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62" name="Google Shape;662;p13"/>
          <p:cNvGrpSpPr/>
          <p:nvPr/>
        </p:nvGrpSpPr>
        <p:grpSpPr>
          <a:xfrm>
            <a:off x="6286500" y="2714625"/>
            <a:ext cx="5143500" cy="1095300"/>
            <a:chOff x="0" y="0"/>
            <a:chExt cx="5143500" cy="1095300"/>
          </a:xfrm>
        </p:grpSpPr>
        <p:sp>
          <p:nvSpPr>
            <p:cNvPr id="663" name="Google Shape;663;p13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3"/>
            <p:cNvSpPr txBox="1"/>
            <p:nvPr/>
          </p:nvSpPr>
          <p:spPr>
            <a:xfrm>
              <a:off x="152400" y="114300"/>
              <a:ext cx="48387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04. GLAD Functions Not Working</a:t>
              </a:r>
              <a:endParaRPr b="0" sz="1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F444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glCreateShader is NULL</a:t>
              </a:r>
              <a:endParaRPr b="0" sz="85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Cause:</a:t>
              </a:r>
              <a:r>
                <a:rPr b="0" lang="en-US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GLAD has not been initialized correctly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Fix:</a:t>
              </a:r>
              <a:r>
                <a:rPr b="0" lang="en-US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Ensure gladLoadGLLoader() is called immediately after creating OpenGL Context.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65" name="Google Shape;665;p13"/>
          <p:cNvGrpSpPr/>
          <p:nvPr/>
        </p:nvGrpSpPr>
        <p:grpSpPr>
          <a:xfrm>
            <a:off x="762000" y="3952875"/>
            <a:ext cx="5143500" cy="1095300"/>
            <a:chOff x="0" y="0"/>
            <a:chExt cx="5143500" cy="1095300"/>
          </a:xfrm>
        </p:grpSpPr>
        <p:sp>
          <p:nvSpPr>
            <p:cNvPr id="666" name="Google Shape;666;p13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3"/>
            <p:cNvSpPr txBox="1"/>
            <p:nvPr/>
          </p:nvSpPr>
          <p:spPr>
            <a:xfrm>
              <a:off x="152400" y="114300"/>
              <a:ext cx="48387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05. Black / Blank Window</a:t>
              </a:r>
              <a:endParaRPr b="0" sz="1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64748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Window launches but displays no graphic output</a:t>
              </a:r>
              <a:endParaRPr b="0" sz="85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Cause:</a:t>
              </a:r>
              <a:r>
                <a:rPr b="0" lang="en-US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Rendering loop or buffer swap is missing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Fix:</a:t>
              </a:r>
              <a:r>
                <a:rPr b="0" lang="en-US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Call glClearColor(), glClear(), and glfwSwapBuffers() inside loop every frame.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68" name="Google Shape;668;p13"/>
          <p:cNvGrpSpPr/>
          <p:nvPr/>
        </p:nvGrpSpPr>
        <p:grpSpPr>
          <a:xfrm>
            <a:off x="6286500" y="3952875"/>
            <a:ext cx="5143500" cy="1095300"/>
            <a:chOff x="0" y="0"/>
            <a:chExt cx="5143500" cy="1095300"/>
          </a:xfrm>
        </p:grpSpPr>
        <p:sp>
          <p:nvSpPr>
            <p:cNvPr id="669" name="Google Shape;669;p13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3"/>
            <p:cNvSpPr txBox="1"/>
            <p:nvPr/>
          </p:nvSpPr>
          <p:spPr>
            <a:xfrm>
              <a:off x="152400" y="114300"/>
              <a:ext cx="48387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06. DLL Not Found (Windows)</a:t>
              </a:r>
              <a:endParaRPr b="0" sz="1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F444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Missing .dll files during runtime execution</a:t>
              </a:r>
              <a:endParaRPr b="0" sz="85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Cause:</a:t>
              </a:r>
              <a:r>
                <a:rPr b="0" lang="en-US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Required DLL files are missing or system PATH is not configured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Fix:</a:t>
              </a:r>
              <a:r>
                <a:rPr b="0" lang="en-US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Copy required DLLs to executable directory or add %OPENGL_DIR%\bin to PATH.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71" name="Google Shape;671;p13"/>
          <p:cNvGrpSpPr/>
          <p:nvPr/>
        </p:nvGrpSpPr>
        <p:grpSpPr>
          <a:xfrm>
            <a:off x="762000" y="5191125"/>
            <a:ext cx="5143500" cy="1095300"/>
            <a:chOff x="0" y="0"/>
            <a:chExt cx="5143500" cy="1095300"/>
          </a:xfrm>
        </p:grpSpPr>
        <p:sp>
          <p:nvSpPr>
            <p:cNvPr id="672" name="Google Shape;672;p13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3"/>
            <p:cNvSpPr txBox="1"/>
            <p:nvPr/>
          </p:nvSpPr>
          <p:spPr>
            <a:xfrm>
              <a:off x="152400" y="114300"/>
              <a:ext cx="48387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07. Compiles but Crashes Immediately</a:t>
              </a:r>
              <a:endParaRPr b="0" sz="1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F444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Segmentation fault / Null pointer access</a:t>
              </a:r>
              <a:endParaRPr b="0" sz="85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Cause:</a:t>
              </a:r>
              <a:r>
                <a:rPr b="0" lang="en-US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OpenGL Context not created successfully or pointers are invalid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Fix:</a:t>
              </a:r>
              <a:r>
                <a:rPr b="0" lang="en-US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Check return values of glfwCreateWindow, glfwMakeContextCurrent, and gladLoadGLLoader.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74" name="Google Shape;674;p13"/>
          <p:cNvGrpSpPr/>
          <p:nvPr/>
        </p:nvGrpSpPr>
        <p:grpSpPr>
          <a:xfrm>
            <a:off x="6286500" y="5191125"/>
            <a:ext cx="5143500" cy="1095300"/>
            <a:chOff x="0" y="0"/>
            <a:chExt cx="5143500" cy="1095300"/>
          </a:xfrm>
        </p:grpSpPr>
        <p:sp>
          <p:nvSpPr>
            <p:cNvPr id="675" name="Google Shape;675;p13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fmla="val 1043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3"/>
            <p:cNvSpPr txBox="1"/>
            <p:nvPr/>
          </p:nvSpPr>
          <p:spPr>
            <a:xfrm>
              <a:off x="152400" y="114300"/>
              <a:ext cx="48387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08. OpenGL Version Not Supported</a:t>
              </a:r>
              <a:endParaRPr b="0" sz="1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F444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Requested OpenGL profile fails to instantiate</a:t>
              </a:r>
              <a:endParaRPr b="0" sz="85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Cause:</a:t>
              </a:r>
              <a:r>
                <a:rPr b="0" lang="en-US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GPU hardware or driver does not support requested version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Fix:</a:t>
              </a:r>
              <a:r>
                <a:rPr b="0" lang="en-US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Request a lower version profile (e.g., 3.3 Core) or update your graphics driver.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"/>
          <p:cNvSpPr txBox="1"/>
          <p:nvPr>
            <p:ph type="title"/>
          </p:nvPr>
        </p:nvSpPr>
        <p:spPr>
          <a:xfrm>
            <a:off x="49072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Showcase of Basic Graphics</a:t>
            </a:r>
            <a:endParaRPr/>
          </a:p>
        </p:txBody>
      </p:sp>
      <p:pic>
        <p:nvPicPr>
          <p:cNvPr id="682" name="Google Shape;68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162" y="1499935"/>
            <a:ext cx="2800741" cy="287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903" y="4009627"/>
            <a:ext cx="2553056" cy="2848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0991" y="1626039"/>
            <a:ext cx="3743847" cy="292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6"/>
          <p:cNvSpPr txBox="1"/>
          <p:nvPr>
            <p:ph type="title"/>
          </p:nvPr>
        </p:nvSpPr>
        <p:spPr>
          <a:xfrm>
            <a:off x="527304" y="5518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 What’s Next?</a:t>
            </a:r>
            <a:endParaRPr/>
          </a:p>
        </p:txBody>
      </p:sp>
      <p:pic>
        <p:nvPicPr>
          <p:cNvPr id="690" name="Google Shape;690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5020" y="1427318"/>
            <a:ext cx="6332676" cy="4693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7"/>
          <p:cNvSpPr txBox="1"/>
          <p:nvPr>
            <p:ph type="title"/>
          </p:nvPr>
        </p:nvSpPr>
        <p:spPr>
          <a:xfrm>
            <a:off x="30784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 What’s Next?</a:t>
            </a:r>
            <a:endParaRPr/>
          </a:p>
        </p:txBody>
      </p:sp>
      <p:pic>
        <p:nvPicPr>
          <p:cNvPr id="696" name="Google Shape;69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9560" y="1143000"/>
            <a:ext cx="7377048" cy="49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9"/>
          <p:cNvSpPr txBox="1"/>
          <p:nvPr/>
        </p:nvSpPr>
        <p:spPr>
          <a:xfrm>
            <a:off x="952500" y="762000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Interactive Session</a:t>
            </a:r>
            <a:endParaRPr b="0" sz="148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3885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Q&amp;A &amp; Live Coding</a:t>
            </a:r>
            <a:endParaRPr b="0" sz="3885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702" name="Google Shape;702;p19"/>
          <p:cNvGrpSpPr/>
          <p:nvPr/>
        </p:nvGrpSpPr>
        <p:grpSpPr>
          <a:xfrm>
            <a:off x="952500" y="2286000"/>
            <a:ext cx="4857900" cy="3429000"/>
            <a:chOff x="0" y="0"/>
            <a:chExt cx="4857900" cy="3429000"/>
          </a:xfrm>
        </p:grpSpPr>
        <p:sp>
          <p:nvSpPr>
            <p:cNvPr id="703" name="Google Shape;703;p19"/>
            <p:cNvSpPr/>
            <p:nvPr/>
          </p:nvSpPr>
          <p:spPr>
            <a:xfrm>
              <a:off x="0" y="0"/>
              <a:ext cx="4857900" cy="3429000"/>
            </a:xfrm>
            <a:prstGeom prst="roundRect">
              <a:avLst>
                <a:gd fmla="val 4444" name="adj"/>
              </a:avLst>
            </a:prstGeom>
            <a:solidFill>
              <a:srgbClr val="151D30"/>
            </a:solidFill>
            <a:ln cap="flat" cmpd="sng" w="19050">
              <a:solidFill>
                <a:srgbClr val="2231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9"/>
            <p:cNvSpPr txBox="1"/>
            <p:nvPr/>
          </p:nvSpPr>
          <p:spPr>
            <a:xfrm>
              <a:off x="381000" y="381000"/>
              <a:ext cx="4095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Got Questions?</a:t>
              </a:r>
              <a:endParaRPr b="1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Any installation or coding questions?</a:t>
              </a:r>
              <a:endParaRPr b="0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We can help with library configurations, compiler errors, IDE setup, or core OpenGL concepts.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5" name="Google Shape;705;p19"/>
          <p:cNvGrpSpPr/>
          <p:nvPr/>
        </p:nvGrpSpPr>
        <p:grpSpPr>
          <a:xfrm>
            <a:off x="6381750" y="2286000"/>
            <a:ext cx="4857900" cy="3429000"/>
            <a:chOff x="0" y="0"/>
            <a:chExt cx="4857900" cy="3429000"/>
          </a:xfrm>
        </p:grpSpPr>
        <p:sp>
          <p:nvSpPr>
            <p:cNvPr id="706" name="Google Shape;706;p19"/>
            <p:cNvSpPr/>
            <p:nvPr/>
          </p:nvSpPr>
          <p:spPr>
            <a:xfrm>
              <a:off x="0" y="0"/>
              <a:ext cx="4857900" cy="3429000"/>
            </a:xfrm>
            <a:prstGeom prst="roundRect">
              <a:avLst>
                <a:gd fmla="val 4444" name="adj"/>
              </a:avLst>
            </a:prstGeom>
            <a:solidFill>
              <a:srgbClr val="151D30"/>
            </a:solidFill>
            <a:ln cap="flat" cmpd="sng" w="19050">
              <a:solidFill>
                <a:srgbClr val="2231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9"/>
            <p:cNvSpPr txBox="1"/>
            <p:nvPr/>
          </p:nvSpPr>
          <p:spPr>
            <a:xfrm>
              <a:off x="381000" y="381000"/>
              <a:ext cx="4095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4D3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play_circle_outline</a:t>
              </a:r>
              <a:endParaRPr sz="3600">
                <a:solidFill>
                  <a:srgbClr val="34D3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Let's Build!</a:t>
              </a:r>
              <a:endParaRPr b="1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Let’s build and run your first OpenGL program together!</a:t>
              </a:r>
              <a:endParaRPr b="0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We will initialize a window, set up the graphics context, and render your very first geometric primitive on screen.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Dr. Sunil Kumar</dc:creator>
</cp:coreProperties>
</file>