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90" r:id="rId2"/>
    <p:sldId id="392" r:id="rId3"/>
    <p:sldId id="398" r:id="rId4"/>
    <p:sldId id="399" r:id="rId5"/>
    <p:sldId id="400" r:id="rId6"/>
    <p:sldId id="401" r:id="rId7"/>
    <p:sldId id="403" r:id="rId8"/>
    <p:sldId id="402" r:id="rId9"/>
    <p:sldId id="405" r:id="rId10"/>
    <p:sldId id="404" r:id="rId11"/>
    <p:sldId id="39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4F81BD"/>
    <a:srgbClr val="25A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69" autoAdjust="0"/>
    <p:restoredTop sz="96323" autoAdjust="0"/>
  </p:normalViewPr>
  <p:slideViewPr>
    <p:cSldViewPr>
      <p:cViewPr varScale="1">
        <p:scale>
          <a:sx n="62" d="100"/>
          <a:sy n="62" d="100"/>
        </p:scale>
        <p:origin x="900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3024A1-837C-427E-A09E-F69BE28790E3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C820EA-AEA3-4928-999E-F2B4A3EAE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16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2A8F8-2F5C-1739-7C6E-9DC31B1C7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74A815-896A-0E39-6ABB-8C7D94613E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0A313-15FC-4883-CAC9-A00F5852E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6EF5E-4409-D843-55F1-430F512310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31F5C-E4D2-4B32-ACFC-7F4BB6D354A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679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638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289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8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595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709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199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79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101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956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6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9759CC-92EB-41BE-8A78-21811B536BE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422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A5989-633D-423F-BC88-6C5916D45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7AE26F4-3F9F-44D3-CC67-1987E8B26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01" y="23924"/>
            <a:ext cx="868623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1C24924-1FBF-A688-9802-3B462389E627}"/>
              </a:ext>
            </a:extLst>
          </p:cNvPr>
          <p:cNvSpPr txBox="1">
            <a:spLocks/>
          </p:cNvSpPr>
          <p:nvPr/>
        </p:nvSpPr>
        <p:spPr>
          <a:xfrm>
            <a:off x="755092" y="63213"/>
            <a:ext cx="11287000" cy="11848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n-IN" sz="3200" dirty="0">
                <a:latin typeface="Amasis MT Pro" panose="02040504050005020304" pitchFamily="18" charset="0"/>
              </a:rPr>
              <a:t>Atal Bihari Vajpayee</a:t>
            </a:r>
            <a:r>
              <a:rPr lang="en-US" sz="2900" b="1" dirty="0">
                <a:solidFill>
                  <a:srgbClr val="002060"/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-</a:t>
            </a:r>
          </a:p>
          <a:p>
            <a:pPr>
              <a:lnSpc>
                <a:spcPts val="3800"/>
              </a:lnSpc>
            </a:pPr>
            <a:r>
              <a:rPr lang="en-US" sz="2900" dirty="0">
                <a:solidFill>
                  <a:srgbClr val="002060"/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Indian Institute of Information Technology and Management Gwalior</a:t>
            </a:r>
            <a:endParaRPr lang="en-IN" sz="2400" dirty="0">
              <a:solidFill>
                <a:srgbClr val="002060"/>
              </a:solidFill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4274C5-6B84-C83C-4FF4-C5E58FBC7A29}"/>
              </a:ext>
            </a:extLst>
          </p:cNvPr>
          <p:cNvSpPr txBox="1">
            <a:spLocks/>
          </p:cNvSpPr>
          <p:nvPr/>
        </p:nvSpPr>
        <p:spPr>
          <a:xfrm>
            <a:off x="77319" y="3982819"/>
            <a:ext cx="11584217" cy="9049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00" b="1" dirty="0">
                <a:solidFill>
                  <a:srgbClr val="002060"/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Instructor – Dr. Sunil Kumar</a:t>
            </a:r>
          </a:p>
          <a:p>
            <a:r>
              <a:rPr lang="en-US" sz="2900" dirty="0">
                <a:solidFill>
                  <a:srgbClr val="002060"/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Assistant Professor @ Dept. of Information Technology, ABV-IIITM Gwalior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C2E2BD-7408-EBD3-0654-F31C8B4A920D}"/>
              </a:ext>
            </a:extLst>
          </p:cNvPr>
          <p:cNvSpPr txBox="1"/>
          <p:nvPr/>
        </p:nvSpPr>
        <p:spPr>
          <a:xfrm>
            <a:off x="3337698" y="1860689"/>
            <a:ext cx="52164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Computer Graphics Lab : 02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4E02E7-BC8E-682A-CFDF-F90BB0E57D57}"/>
              </a:ext>
            </a:extLst>
          </p:cNvPr>
          <p:cNvSpPr txBox="1">
            <a:spLocks/>
          </p:cNvSpPr>
          <p:nvPr/>
        </p:nvSpPr>
        <p:spPr>
          <a:xfrm>
            <a:off x="269390" y="2400787"/>
            <a:ext cx="11653219" cy="1314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>
                <a:solidFill>
                  <a:schemeClr val="bg2">
                    <a:lumMod val="10000"/>
                  </a:schemeClr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Vector Graphics &amp; Raster Graphics</a:t>
            </a:r>
            <a:endParaRPr lang="en-IN" sz="66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91D2EC2-F2A3-A3F7-D458-9A501858E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498095"/>
              </p:ext>
            </p:extLst>
          </p:nvPr>
        </p:nvGraphicFramePr>
        <p:xfrm>
          <a:off x="1045082" y="5517232"/>
          <a:ext cx="9801721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77561">
                  <a:extLst>
                    <a:ext uri="{9D8B030D-6E8A-4147-A177-3AD203B41FA5}">
                      <a16:colId xmlns:a16="http://schemas.microsoft.com/office/drawing/2014/main" val="1573689763"/>
                    </a:ext>
                  </a:extLst>
                </a:gridCol>
                <a:gridCol w="2724160">
                  <a:extLst>
                    <a:ext uri="{9D8B030D-6E8A-4147-A177-3AD203B41FA5}">
                      <a16:colId xmlns:a16="http://schemas.microsoft.com/office/drawing/2014/main" val="25926377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masis MT Pro" panose="02040504050005020304" pitchFamily="18" charset="0"/>
                          <a:cs typeface="Times New Roman" panose="02020603050405020304" pitchFamily="18" charset="0"/>
                        </a:rPr>
                        <a:t>Mehr Aliah, Sheel Patel, &amp; Pranav : MON : 2 pm – 4 pm</a:t>
                      </a:r>
                      <a:endParaRPr lang="en-IN" dirty="0">
                        <a:latin typeface="Amasis MT Pro" panose="020405040500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masis MT Pro" panose="02040504050005020304" pitchFamily="18" charset="0"/>
                        </a:rPr>
                        <a:t>Group-02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164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masis MT Pro" panose="02040504050005020304" pitchFamily="18" charset="0"/>
                          <a:cs typeface="Times New Roman" panose="02020603050405020304" pitchFamily="18" charset="0"/>
                        </a:rPr>
                        <a:t>Anushka Agarwal, Radhika, and Riya : FRI: 9 am – 11 am</a:t>
                      </a:r>
                      <a:endParaRPr lang="en-IN" dirty="0">
                        <a:latin typeface="Amasis MT Pro" panose="020405040500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masis MT Pro" panose="02040504050005020304" pitchFamily="18" charset="0"/>
                        </a:rPr>
                        <a:t>Group-01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66141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F95651A-21A4-C99E-CAA4-C4200504666B}"/>
              </a:ext>
            </a:extLst>
          </p:cNvPr>
          <p:cNvSpPr txBox="1"/>
          <p:nvPr/>
        </p:nvSpPr>
        <p:spPr>
          <a:xfrm>
            <a:off x="4079776" y="5072395"/>
            <a:ext cx="33334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Amasis MT Pro" panose="02040504050005020304" pitchFamily="18" charset="0"/>
              </a:rPr>
              <a:t>Teaching Assistants (TAs)</a:t>
            </a:r>
          </a:p>
        </p:txBody>
      </p:sp>
    </p:spTree>
    <p:extLst>
      <p:ext uri="{BB962C8B-B14F-4D97-AF65-F5344CB8AC3E}">
        <p14:creationId xmlns:p14="http://schemas.microsoft.com/office/powerpoint/2010/main" val="295080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3F1E8-DCE4-BEE6-DFAB-914C981F6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59F738-7F80-DEA7-1E96-CE9D17B99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16632"/>
            <a:ext cx="10981220" cy="1078665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Objective of this lab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973B07-1466-B9FB-AF3A-C18AD2DDBC68}"/>
              </a:ext>
            </a:extLst>
          </p:cNvPr>
          <p:cNvSpPr txBox="1"/>
          <p:nvPr/>
        </p:nvSpPr>
        <p:spPr>
          <a:xfrm>
            <a:off x="605390" y="1628800"/>
            <a:ext cx="10981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Amasis MT Pro" panose="02040504050005020304" pitchFamily="18" charset="0"/>
              </a:rPr>
              <a:t>To understand the concepts of </a:t>
            </a:r>
            <a:r>
              <a:rPr lang="en-IN" sz="2400" b="1" dirty="0">
                <a:latin typeface="Amasis MT Pro" panose="02040504050005020304" pitchFamily="18" charset="0"/>
              </a:rPr>
              <a:t>Vector Graphics</a:t>
            </a:r>
            <a:r>
              <a:rPr lang="en-IN" sz="2400" dirty="0">
                <a:latin typeface="Amasis MT Pro" panose="02040504050005020304" pitchFamily="18" charset="0"/>
              </a:rPr>
              <a:t> and </a:t>
            </a:r>
            <a:r>
              <a:rPr lang="en-IN" sz="2400" b="1" dirty="0">
                <a:latin typeface="Amasis MT Pro" panose="02040504050005020304" pitchFamily="18" charset="0"/>
              </a:rPr>
              <a:t>Raster Graphics</a:t>
            </a:r>
            <a:r>
              <a:rPr lang="en-IN" sz="2400" dirty="0">
                <a:latin typeface="Amasis MT Pro" panose="02040504050005020304" pitchFamily="18" charset="0"/>
              </a:rPr>
              <a:t>, compare their characteristics, and study their mathematical representation, storage mechanisms, and conversion techniques.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Amasis MT Pro" panose="02040504050005020304" pitchFamily="18" charset="0"/>
              </a:rPr>
              <a:t>Converting one form of the graphics to the other form.</a:t>
            </a:r>
          </a:p>
        </p:txBody>
      </p:sp>
    </p:spTree>
    <p:extLst>
      <p:ext uri="{BB962C8B-B14F-4D97-AF65-F5344CB8AC3E}">
        <p14:creationId xmlns:p14="http://schemas.microsoft.com/office/powerpoint/2010/main" val="1317663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1ED3E-6AB7-4C44-E519-A64382B7F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DBA5A85-6ACB-F410-ECFE-1CDEC1F60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32186"/>
            <a:ext cx="10981220" cy="1740630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00B050"/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Demo</a:t>
            </a:r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 Assignment – 00</a:t>
            </a:r>
            <a:b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Amasis MT Pro" panose="02040504050005020304" pitchFamily="18" charset="0"/>
                <a:cs typeface="Times New Roman" panose="02020603050405020304" pitchFamily="18" charset="0"/>
              </a:rPr>
              <a:t>(Vector Graphics)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39CB19-5CE1-3A1C-F8CD-C731A4D5BE73}"/>
              </a:ext>
            </a:extLst>
          </p:cNvPr>
          <p:cNvSpPr txBox="1"/>
          <p:nvPr/>
        </p:nvSpPr>
        <p:spPr>
          <a:xfrm>
            <a:off x="263352" y="1615223"/>
            <a:ext cx="105851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200" dirty="0">
                <a:latin typeface="Amasis MT Pro" panose="02040504050005020304" pitchFamily="18" charset="0"/>
              </a:rPr>
              <a:t>SVG Example: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304897-9F87-23CF-2FD7-3F17F78EB015}"/>
              </a:ext>
            </a:extLst>
          </p:cNvPr>
          <p:cNvSpPr txBox="1"/>
          <p:nvPr/>
        </p:nvSpPr>
        <p:spPr>
          <a:xfrm>
            <a:off x="6888088" y="6456482"/>
            <a:ext cx="5184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https://www.w3schools.com/graphics/svg_intro.asp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11C38E-1525-6EED-01F1-4B0D54265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56" y="2277485"/>
            <a:ext cx="11568608" cy="37162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BDB69FE-2F34-AB42-CE98-80CB48C33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248" y="1723251"/>
            <a:ext cx="2428875" cy="12573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462E2B7-19D7-D573-A6EB-A78181C6C18E}"/>
              </a:ext>
            </a:extLst>
          </p:cNvPr>
          <p:cNvSpPr txBox="1"/>
          <p:nvPr/>
        </p:nvSpPr>
        <p:spPr>
          <a:xfrm>
            <a:off x="8040216" y="2986521"/>
            <a:ext cx="2603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Output</a:t>
            </a:r>
            <a:r>
              <a:rPr lang="en-US" dirty="0"/>
              <a:t>: SVG </a:t>
            </a:r>
            <a:r>
              <a:rPr lang="en-US" dirty="0" err="1"/>
              <a:t>rect</a:t>
            </a:r>
            <a:r>
              <a:rPr lang="en-US" dirty="0"/>
              <a:t> element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0762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E57E5-ADC4-2614-9422-0BFDE444A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D2E724D-B50C-5EFC-4EF5-8C219CF04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32186"/>
            <a:ext cx="10981220" cy="1740630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Assignment – 01</a:t>
            </a:r>
            <a:b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Amasis MT Pro" panose="02040504050005020304" pitchFamily="18" charset="0"/>
                <a:cs typeface="Times New Roman" panose="02020603050405020304" pitchFamily="18" charset="0"/>
              </a:rPr>
              <a:t>(Vector Graphics)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EF0DB8-9734-C992-335D-ABAC88BA885F}"/>
              </a:ext>
            </a:extLst>
          </p:cNvPr>
          <p:cNvSpPr txBox="1"/>
          <p:nvPr/>
        </p:nvSpPr>
        <p:spPr>
          <a:xfrm>
            <a:off x="533382" y="1772816"/>
            <a:ext cx="1058517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200" dirty="0">
                <a:latin typeface="Amasis MT Pro" panose="02040504050005020304" pitchFamily="18" charset="0"/>
              </a:rPr>
              <a:t> Write the .html code (Assignment-00) in Notepad and save it as .html file.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200" dirty="0">
                <a:latin typeface="Amasis MT Pro" panose="02040504050005020304" pitchFamily="18" charset="0"/>
              </a:rPr>
              <a:t> Click on it to open or to show the output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200" dirty="0">
                <a:latin typeface="Amasis MT Pro" panose="02040504050005020304" pitchFamily="18" charset="0"/>
              </a:rPr>
              <a:t> Do the following modification and observed the output graphics: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IN" sz="2200" dirty="0">
                <a:latin typeface="Amasis MT Pro" panose="02040504050005020304" pitchFamily="18" charset="0"/>
              </a:rPr>
              <a:t>Generate the graphics for </a:t>
            </a:r>
            <a:r>
              <a:rPr lang="en-IN" sz="2200" dirty="0" err="1">
                <a:latin typeface="Amasis MT Pro" panose="02040504050005020304" pitchFamily="18" charset="0"/>
              </a:rPr>
              <a:t>rx</a:t>
            </a:r>
            <a:r>
              <a:rPr lang="en-IN" sz="2200" dirty="0">
                <a:latin typeface="Amasis MT Pro" panose="02040504050005020304" pitchFamily="18" charset="0"/>
              </a:rPr>
              <a:t> = 0 and </a:t>
            </a:r>
            <a:r>
              <a:rPr lang="en-IN" sz="2200" dirty="0" err="1">
                <a:latin typeface="Amasis MT Pro" panose="02040504050005020304" pitchFamily="18" charset="0"/>
              </a:rPr>
              <a:t>ry</a:t>
            </a:r>
            <a:r>
              <a:rPr lang="en-IN" sz="2200" dirty="0">
                <a:latin typeface="Amasis MT Pro" panose="02040504050005020304" pitchFamily="18" charset="0"/>
              </a:rPr>
              <a:t> = 0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IN" sz="2200" dirty="0">
                <a:latin typeface="Amasis MT Pro" panose="02040504050005020304" pitchFamily="18" charset="0"/>
              </a:rPr>
              <a:t>Generate the graphics by changing </a:t>
            </a:r>
            <a:r>
              <a:rPr lang="en-IN" sz="2200" dirty="0" err="1">
                <a:latin typeface="Amasis MT Pro" panose="02040504050005020304" pitchFamily="18" charset="0"/>
              </a:rPr>
              <a:t>rgb</a:t>
            </a:r>
            <a:r>
              <a:rPr lang="en-IN" sz="2200" dirty="0">
                <a:latin typeface="Amasis MT Pro" panose="02040504050005020304" pitchFamily="18" charset="0"/>
              </a:rPr>
              <a:t>(</a:t>
            </a:r>
            <a:r>
              <a:rPr lang="en-IN" sz="2200" dirty="0" err="1">
                <a:latin typeface="Amasis MT Pro" panose="02040504050005020304" pitchFamily="18" charset="0"/>
              </a:rPr>
              <a:t>r_value</a:t>
            </a:r>
            <a:r>
              <a:rPr lang="en-IN" sz="2200" dirty="0">
                <a:latin typeface="Amasis MT Pro" panose="02040504050005020304" pitchFamily="18" charset="0"/>
              </a:rPr>
              <a:t>, </a:t>
            </a:r>
            <a:r>
              <a:rPr lang="en-IN" sz="2200" dirty="0" err="1">
                <a:latin typeface="Amasis MT Pro" panose="02040504050005020304" pitchFamily="18" charset="0"/>
              </a:rPr>
              <a:t>g_value</a:t>
            </a:r>
            <a:r>
              <a:rPr lang="en-IN" sz="2200" dirty="0">
                <a:latin typeface="Amasis MT Pro" panose="02040504050005020304" pitchFamily="18" charset="0"/>
              </a:rPr>
              <a:t>, </a:t>
            </a:r>
            <a:r>
              <a:rPr lang="en-IN" sz="2200" dirty="0" err="1">
                <a:latin typeface="Amasis MT Pro" panose="02040504050005020304" pitchFamily="18" charset="0"/>
              </a:rPr>
              <a:t>b_value</a:t>
            </a:r>
            <a:r>
              <a:rPr lang="en-IN" sz="2200" dirty="0">
                <a:latin typeface="Amasis MT Pro" panose="02040504050005020304" pitchFamily="18" charset="0"/>
              </a:rPr>
              <a:t>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IN" sz="2200" dirty="0" err="1">
                <a:latin typeface="Amasis MT Pro" panose="02040504050005020304" pitchFamily="18" charset="0"/>
              </a:rPr>
              <a:t>rgb</a:t>
            </a:r>
            <a:r>
              <a:rPr lang="en-IN" sz="2200" dirty="0">
                <a:latin typeface="Amasis MT Pro" panose="02040504050005020304" pitchFamily="18" charset="0"/>
              </a:rPr>
              <a:t>(255, 0, 0) = red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IN" sz="2200" dirty="0" err="1">
                <a:latin typeface="Amasis MT Pro" panose="02040504050005020304" pitchFamily="18" charset="0"/>
              </a:rPr>
              <a:t>rgb</a:t>
            </a:r>
            <a:r>
              <a:rPr lang="en-IN" sz="2200" dirty="0">
                <a:latin typeface="Amasis MT Pro" panose="02040504050005020304" pitchFamily="18" charset="0"/>
              </a:rPr>
              <a:t>(0, 255, 0) = green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IN" sz="2200" dirty="0" err="1">
                <a:latin typeface="Amasis MT Pro" panose="02040504050005020304" pitchFamily="18" charset="0"/>
              </a:rPr>
              <a:t>rgb</a:t>
            </a:r>
            <a:r>
              <a:rPr lang="en-IN" sz="2200" dirty="0">
                <a:latin typeface="Amasis MT Pro" panose="02040504050005020304" pitchFamily="18" charset="0"/>
              </a:rPr>
              <a:t>(0, 0, 255) = blue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IN" sz="2200" dirty="0" err="1">
                <a:latin typeface="Amasis MT Pro" panose="02040504050005020304" pitchFamily="18" charset="0"/>
              </a:rPr>
              <a:t>rgb</a:t>
            </a:r>
            <a:r>
              <a:rPr lang="en-IN" sz="2200" dirty="0">
                <a:latin typeface="Amasis MT Pro" panose="02040504050005020304" pitchFamily="18" charset="0"/>
              </a:rPr>
              <a:t>(255, 255, 0) = ……..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IN" sz="2200" dirty="0" err="1">
                <a:latin typeface="Amasis MT Pro" panose="02040504050005020304" pitchFamily="18" charset="0"/>
              </a:rPr>
              <a:t>rgb</a:t>
            </a:r>
            <a:r>
              <a:rPr lang="en-IN" sz="2200" dirty="0">
                <a:latin typeface="Amasis MT Pro" panose="02040504050005020304" pitchFamily="18" charset="0"/>
              </a:rPr>
              <a:t>(0, 255, 255) =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IN" sz="2200" dirty="0">
                <a:latin typeface="Amasis MT Pro" panose="02040504050005020304" pitchFamily="18" charset="0"/>
              </a:rPr>
              <a:t>…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IN" sz="2200" dirty="0" err="1">
                <a:latin typeface="Amasis MT Pro" panose="02040504050005020304" pitchFamily="18" charset="0"/>
              </a:rPr>
              <a:t>rgb</a:t>
            </a:r>
            <a:r>
              <a:rPr lang="en-IN" sz="2200" dirty="0">
                <a:latin typeface="Amasis MT Pro" panose="02040504050005020304" pitchFamily="18" charset="0"/>
              </a:rPr>
              <a:t>(x, y, z)</a:t>
            </a:r>
          </a:p>
        </p:txBody>
      </p:sp>
    </p:spTree>
    <p:extLst>
      <p:ext uri="{BB962C8B-B14F-4D97-AF65-F5344CB8AC3E}">
        <p14:creationId xmlns:p14="http://schemas.microsoft.com/office/powerpoint/2010/main" val="2827626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B71AE-8EDA-C7B3-B142-0ED889D3E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3B0BC1F-0EA8-955A-84A0-A11BFF3E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32186"/>
            <a:ext cx="10981220" cy="1740630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Assignment – 02</a:t>
            </a:r>
            <a:b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Amasis MT Pro" panose="02040504050005020304" pitchFamily="18" charset="0"/>
                <a:cs typeface="Times New Roman" panose="02020603050405020304" pitchFamily="18" charset="0"/>
              </a:rPr>
              <a:t>(Vector Graphics)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B3F409-AF1D-C4FF-4798-DC2E2D48CFFD}"/>
              </a:ext>
            </a:extLst>
          </p:cNvPr>
          <p:cNvSpPr txBox="1"/>
          <p:nvPr/>
        </p:nvSpPr>
        <p:spPr>
          <a:xfrm>
            <a:off x="533382" y="1772816"/>
            <a:ext cx="10585176" cy="1048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200" dirty="0">
                <a:latin typeface="Amasis MT Pro" panose="02040504050005020304" pitchFamily="18" charset="0"/>
              </a:rPr>
              <a:t> Write the .html code to generate the following vector graphics: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lphaLcPeriod"/>
            </a:pPr>
            <a:r>
              <a:rPr lang="en-IN" sz="2200" dirty="0">
                <a:latin typeface="Amasis MT Pro" panose="020405040500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BFD525-5FBC-88C9-933B-1BD9C444C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36" y="2996952"/>
            <a:ext cx="2552700" cy="24669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5A879F-9272-97E4-89E8-F1E82F7F31D8}"/>
              </a:ext>
            </a:extLst>
          </p:cNvPr>
          <p:cNvSpPr txBox="1"/>
          <p:nvPr/>
        </p:nvSpPr>
        <p:spPr>
          <a:xfrm>
            <a:off x="1339865" y="5639571"/>
            <a:ext cx="3712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Centre at (200, 200) and Radius = 100</a:t>
            </a:r>
          </a:p>
          <a:p>
            <a:r>
              <a:rPr lang="en-US" dirty="0"/>
              <a:t>Color code: (100, 100, 100)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CC15AB-2F50-F766-7F85-C04E75299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8288" y="4035177"/>
            <a:ext cx="361950" cy="3905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D58D1-3B39-6F3C-99B9-A29F2D2525EA}"/>
              </a:ext>
            </a:extLst>
          </p:cNvPr>
          <p:cNvSpPr txBox="1"/>
          <p:nvPr/>
        </p:nvSpPr>
        <p:spPr>
          <a:xfrm>
            <a:off x="7104112" y="4797152"/>
            <a:ext cx="35950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Centre at (100, 100) and Radius = 10</a:t>
            </a:r>
          </a:p>
          <a:p>
            <a:r>
              <a:rPr lang="en-US" dirty="0"/>
              <a:t>Color code : (100, 0, 100)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3879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623E4-F448-AFDA-B2E9-5D8A0BF16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6DB625A-15EA-FF53-7CE3-EEA3053B8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32186"/>
            <a:ext cx="10981220" cy="1740630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Assignment – 03</a:t>
            </a:r>
            <a:b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Amasis MT Pro" panose="02040504050005020304" pitchFamily="18" charset="0"/>
                <a:cs typeface="Times New Roman" panose="02020603050405020304" pitchFamily="18" charset="0"/>
              </a:rPr>
              <a:t>(Vector Graphics)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CB1A92-E614-D5F0-F1C8-39E9EC84E6E4}"/>
              </a:ext>
            </a:extLst>
          </p:cNvPr>
          <p:cNvSpPr txBox="1"/>
          <p:nvPr/>
        </p:nvSpPr>
        <p:spPr>
          <a:xfrm>
            <a:off x="533382" y="1772816"/>
            <a:ext cx="10585176" cy="1048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200" dirty="0">
                <a:latin typeface="Amasis MT Pro" panose="02040504050005020304" pitchFamily="18" charset="0"/>
              </a:rPr>
              <a:t> Write the .html code to generate the following vector graphics: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lphaLcPeriod"/>
            </a:pPr>
            <a:r>
              <a:rPr lang="en-IN" sz="2200" dirty="0">
                <a:latin typeface="Amasis MT Pro" panose="02040504050005020304" pitchFamily="18" charset="0"/>
              </a:rPr>
              <a:t>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E91C62-A78F-18CF-E1DD-BA0C1663491F}"/>
              </a:ext>
            </a:extLst>
          </p:cNvPr>
          <p:cNvCxnSpPr>
            <a:cxnSpLocks/>
          </p:cNvCxnSpPr>
          <p:nvPr/>
        </p:nvCxnSpPr>
        <p:spPr>
          <a:xfrm flipV="1">
            <a:off x="2351585" y="3284984"/>
            <a:ext cx="2304256" cy="169618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D298B8A-4E79-A4EC-134A-421B869F5396}"/>
              </a:ext>
            </a:extLst>
          </p:cNvPr>
          <p:cNvSpPr txBox="1"/>
          <p:nvPr/>
        </p:nvSpPr>
        <p:spPr>
          <a:xfrm>
            <a:off x="2981654" y="5600268"/>
            <a:ext cx="1101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asis MT Pro" panose="02040504050005020304" pitchFamily="18" charset="0"/>
              </a:rPr>
              <a:t>SVG Line</a:t>
            </a:r>
            <a:endParaRPr lang="en-IN" dirty="0">
              <a:latin typeface="Amasis MT Pro" panose="02040504050005020304" pitchFamily="18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06CBFDF-8052-A4E0-2AB7-07D5948BDF8C}"/>
              </a:ext>
            </a:extLst>
          </p:cNvPr>
          <p:cNvCxnSpPr>
            <a:cxnSpLocks/>
          </p:cNvCxnSpPr>
          <p:nvPr/>
        </p:nvCxnSpPr>
        <p:spPr>
          <a:xfrm>
            <a:off x="6456040" y="3932679"/>
            <a:ext cx="1080120" cy="1944593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03489DE-02F8-89FF-7F4D-6EB0B982BFF3}"/>
              </a:ext>
            </a:extLst>
          </p:cNvPr>
          <p:cNvCxnSpPr>
            <a:cxnSpLocks/>
          </p:cNvCxnSpPr>
          <p:nvPr/>
        </p:nvCxnSpPr>
        <p:spPr>
          <a:xfrm flipH="1">
            <a:off x="7536160" y="4981171"/>
            <a:ext cx="432048" cy="905302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084AC06-09EB-C65E-5910-B332B2B366D2}"/>
              </a:ext>
            </a:extLst>
          </p:cNvPr>
          <p:cNvCxnSpPr>
            <a:cxnSpLocks/>
          </p:cNvCxnSpPr>
          <p:nvPr/>
        </p:nvCxnSpPr>
        <p:spPr>
          <a:xfrm>
            <a:off x="7968208" y="4981171"/>
            <a:ext cx="504056" cy="905302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7270173-8713-7BEB-AA38-550190E73CE5}"/>
              </a:ext>
            </a:extLst>
          </p:cNvPr>
          <p:cNvCxnSpPr>
            <a:cxnSpLocks/>
          </p:cNvCxnSpPr>
          <p:nvPr/>
        </p:nvCxnSpPr>
        <p:spPr>
          <a:xfrm flipH="1">
            <a:off x="8473861" y="3932679"/>
            <a:ext cx="736485" cy="1944593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7F6FF88-E83E-7386-3EE4-162D233284A0}"/>
              </a:ext>
            </a:extLst>
          </p:cNvPr>
          <p:cNvSpPr txBox="1"/>
          <p:nvPr/>
        </p:nvSpPr>
        <p:spPr>
          <a:xfrm>
            <a:off x="7409456" y="6093296"/>
            <a:ext cx="1446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asis MT Pro" panose="02040504050005020304" pitchFamily="18" charset="0"/>
              </a:rPr>
              <a:t>SVG Polyline</a:t>
            </a:r>
            <a:endParaRPr lang="en-IN" dirty="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691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57E2F-1ABF-9961-E801-75178D7C5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A62D500-5D5E-AFAB-10EA-8488E6A87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32186"/>
            <a:ext cx="10981220" cy="1740630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Assignment – 04</a:t>
            </a:r>
            <a:b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Amasis MT Pro" panose="02040504050005020304" pitchFamily="18" charset="0"/>
                <a:cs typeface="Times New Roman" panose="02020603050405020304" pitchFamily="18" charset="0"/>
              </a:rPr>
              <a:t>(Vector Graphics)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A9DDCD-34CF-1449-AD74-5E3C36E16DFC}"/>
              </a:ext>
            </a:extLst>
          </p:cNvPr>
          <p:cNvSpPr txBox="1"/>
          <p:nvPr/>
        </p:nvSpPr>
        <p:spPr>
          <a:xfrm>
            <a:off x="533382" y="1772816"/>
            <a:ext cx="10585176" cy="1048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200" dirty="0">
                <a:latin typeface="Amasis MT Pro" panose="02040504050005020304" pitchFamily="18" charset="0"/>
              </a:rPr>
              <a:t> Write the .html code to generate the following vector graphics: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lphaLcPeriod"/>
            </a:pPr>
            <a:r>
              <a:rPr lang="en-IN" sz="2200" dirty="0">
                <a:latin typeface="Amasis MT Pro" panose="02040504050005020304" pitchFamily="18" charset="0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B015F5-8C45-A1FA-7682-7FE0E6D1E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568" y="3426369"/>
            <a:ext cx="3525842" cy="18893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D55DCFC-0CC6-279E-5F43-77EB68C02F02}"/>
              </a:ext>
            </a:extLst>
          </p:cNvPr>
          <p:cNvSpPr txBox="1"/>
          <p:nvPr/>
        </p:nvSpPr>
        <p:spPr>
          <a:xfrm>
            <a:off x="3285137" y="5574931"/>
            <a:ext cx="1316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asis MT Pro" panose="02040504050005020304" pitchFamily="18" charset="0"/>
              </a:rPr>
              <a:t>SVG Ellipse</a:t>
            </a:r>
            <a:endParaRPr lang="en-IN" dirty="0">
              <a:latin typeface="Amasis MT Pro" panose="02040504050005020304" pitchFamily="18" charset="0"/>
            </a:endParaRPr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BE9B3744-1264-C764-67A5-DF96687F986C}"/>
              </a:ext>
            </a:extLst>
          </p:cNvPr>
          <p:cNvSpPr/>
          <p:nvPr/>
        </p:nvSpPr>
        <p:spPr>
          <a:xfrm>
            <a:off x="7680176" y="3426369"/>
            <a:ext cx="2304256" cy="2151193"/>
          </a:xfrm>
          <a:prstGeom prst="hexagon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1D35B1-BCB5-758A-8E7B-FAD1833FE017}"/>
              </a:ext>
            </a:extLst>
          </p:cNvPr>
          <p:cNvSpPr txBox="1"/>
          <p:nvPr/>
        </p:nvSpPr>
        <p:spPr>
          <a:xfrm>
            <a:off x="8142059" y="5840849"/>
            <a:ext cx="1455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asis MT Pro" panose="02040504050005020304" pitchFamily="18" charset="0"/>
              </a:rPr>
              <a:t>SVG Polygon</a:t>
            </a:r>
            <a:endParaRPr lang="en-IN" dirty="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280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37E4C-7E24-0D9C-69E5-904E659F3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5B8572D-F87E-B987-E591-D05183AAE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32186"/>
            <a:ext cx="10981220" cy="1740630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Assignment – 05</a:t>
            </a:r>
            <a:b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Amasis MT Pro" panose="02040504050005020304" pitchFamily="18" charset="0"/>
                <a:cs typeface="Times New Roman" panose="02020603050405020304" pitchFamily="18" charset="0"/>
              </a:rPr>
              <a:t>(Vector Graphics)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255CDE-ED82-84C3-5C52-54920F9C7A74}"/>
              </a:ext>
            </a:extLst>
          </p:cNvPr>
          <p:cNvSpPr txBox="1"/>
          <p:nvPr/>
        </p:nvSpPr>
        <p:spPr>
          <a:xfrm>
            <a:off x="533382" y="1772816"/>
            <a:ext cx="10585176" cy="1048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200" dirty="0">
                <a:latin typeface="Amasis MT Pro" panose="02040504050005020304" pitchFamily="18" charset="0"/>
              </a:rPr>
              <a:t> Write the .html code to generate the following vector graphics: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lphaLcPeriod"/>
            </a:pPr>
            <a:r>
              <a:rPr lang="en-IN" sz="2200" dirty="0">
                <a:latin typeface="Amasis MT Pro" panose="02040504050005020304" pitchFamily="18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20E99C-60F6-F25E-4AA0-15372DB37E8D}"/>
              </a:ext>
            </a:extLst>
          </p:cNvPr>
          <p:cNvSpPr txBox="1"/>
          <p:nvPr/>
        </p:nvSpPr>
        <p:spPr>
          <a:xfrm>
            <a:off x="4511824" y="5085184"/>
            <a:ext cx="1099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asis MT Pro" panose="02040504050005020304" pitchFamily="18" charset="0"/>
              </a:rPr>
              <a:t>SVG Text</a:t>
            </a:r>
            <a:endParaRPr lang="en-IN" dirty="0">
              <a:latin typeface="Amasis MT Pro" panose="020405040500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EF082B-110D-D2AC-2AE4-66CF9DF06DBA}"/>
              </a:ext>
            </a:extLst>
          </p:cNvPr>
          <p:cNvSpPr txBox="1"/>
          <p:nvPr/>
        </p:nvSpPr>
        <p:spPr>
          <a:xfrm>
            <a:off x="2639616" y="3737384"/>
            <a:ext cx="54184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600" dirty="0">
                <a:latin typeface="Amasis MT Pro" panose="02040504050005020304" pitchFamily="18" charset="0"/>
              </a:rPr>
              <a:t>This is Amazing !</a:t>
            </a:r>
            <a:endParaRPr lang="en-IN" sz="5600" dirty="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407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27F2234-2C1C-350E-CA8C-A0B290BCF15B}"/>
              </a:ext>
            </a:extLst>
          </p:cNvPr>
          <p:cNvSpPr txBox="1">
            <a:spLocks/>
          </p:cNvSpPr>
          <p:nvPr/>
        </p:nvSpPr>
        <p:spPr>
          <a:xfrm>
            <a:off x="335360" y="32186"/>
            <a:ext cx="10981220" cy="17406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Assignment – 06</a:t>
            </a:r>
            <a:b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Amasis MT Pro" panose="02040504050005020304" pitchFamily="18" charset="0"/>
                <a:cs typeface="Times New Roman" panose="02020603050405020304" pitchFamily="18" charset="0"/>
              </a:rPr>
              <a:t>(Vector Graphics)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B89FB6-372F-4732-3B07-82627BCAE388}"/>
              </a:ext>
            </a:extLst>
          </p:cNvPr>
          <p:cNvSpPr txBox="1"/>
          <p:nvPr/>
        </p:nvSpPr>
        <p:spPr>
          <a:xfrm>
            <a:off x="533382" y="1772816"/>
            <a:ext cx="10585176" cy="1048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200" dirty="0">
                <a:latin typeface="Amasis MT Pro" panose="02040504050005020304" pitchFamily="18" charset="0"/>
              </a:rPr>
              <a:t> Write the .html code to generate the following vector graphics: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lphaLcPeriod"/>
            </a:pPr>
            <a:r>
              <a:rPr lang="en-IN" sz="2200" dirty="0">
                <a:latin typeface="Amasis MT Pro" panose="02040504050005020304" pitchFamily="18" charset="0"/>
              </a:rPr>
              <a:t> </a:t>
            </a:r>
          </a:p>
        </p:txBody>
      </p:sp>
      <p:pic>
        <p:nvPicPr>
          <p:cNvPr id="8" name="Picture 7" descr="https://images.openai.com/static-rsc-4/Smmkx_K8w6s6RbD2BiBxmYIohHaCpsD-gzjuI1r83U91uaHFSLA7fT0z8h8VFX3jWvPNcHRZOxk3wkizRX9vf79qun3x3xgFobRs6qZmglSC_Jo2pfn_KEtqFJ1A2CD6zzapBY4I7CfHvUXQyWXkaVb6tBsthB3ER2eZcOsXhEgELFWPDtMHwbqz2bSeWQjR?purpose=fullsize">
            <a:extLst>
              <a:ext uri="{FF2B5EF4-FFF2-40B4-BE49-F238E27FC236}">
                <a16:creationId xmlns:a16="http://schemas.microsoft.com/office/drawing/2014/main" id="{196D3BDC-43D4-A0D3-EEF8-A3AAEE20B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036" y="2564904"/>
            <a:ext cx="5147353" cy="429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075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CAC34-7457-5FD2-5C0E-4B6F578E8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utterfly Vectors - Download Free High-Quality Vectors | Magnific (formerly  Freepik)">
            <a:extLst>
              <a:ext uri="{FF2B5EF4-FFF2-40B4-BE49-F238E27FC236}">
                <a16:creationId xmlns:a16="http://schemas.microsoft.com/office/drawing/2014/main" id="{9E41D24E-A89B-D7DB-0E7F-72FE241CC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704" y="2276872"/>
            <a:ext cx="4248472" cy="368009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29A4E0D-5B16-6EC3-A9D2-243DD223C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32186"/>
            <a:ext cx="10981220" cy="1740630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Assignment – 07</a:t>
            </a:r>
            <a:b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Amasis MT Pro" panose="02040504050005020304" pitchFamily="18" charset="0"/>
                <a:cs typeface="Times New Roman" panose="02020603050405020304" pitchFamily="18" charset="0"/>
              </a:rPr>
              <a:t>(Vector Graphics)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162790-9A52-BAA9-0212-88DDDAABAE67}"/>
              </a:ext>
            </a:extLst>
          </p:cNvPr>
          <p:cNvSpPr txBox="1"/>
          <p:nvPr/>
        </p:nvSpPr>
        <p:spPr>
          <a:xfrm>
            <a:off x="533382" y="1772816"/>
            <a:ext cx="105851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200" dirty="0">
                <a:latin typeface="Amasis MT Pro" panose="02040504050005020304" pitchFamily="18" charset="0"/>
              </a:rPr>
              <a:t> Download and Install Free trail version of Adobe Illustrator and create the vector graphics for the below raster graphics: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A9A382-6D01-369A-D820-DB6DCA903206}"/>
              </a:ext>
            </a:extLst>
          </p:cNvPr>
          <p:cNvSpPr txBox="1"/>
          <p:nvPr/>
        </p:nvSpPr>
        <p:spPr>
          <a:xfrm>
            <a:off x="533382" y="5932741"/>
            <a:ext cx="10585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>
                <a:latin typeface="Amasis MT Pro" panose="02040504050005020304" pitchFamily="18" charset="0"/>
              </a:rPr>
              <a:t>U</a:t>
            </a:r>
            <a:r>
              <a:rPr lang="en-IN" sz="2200" dirty="0">
                <a:latin typeface="Amasis MT Pro" panose="02040504050005020304" pitchFamily="18" charset="0"/>
              </a:rPr>
              <a:t>se </a:t>
            </a:r>
            <a:r>
              <a:rPr lang="en-IN" sz="2400" b="1" dirty="0"/>
              <a:t>AI Illustration Generator</a:t>
            </a:r>
            <a:r>
              <a:rPr lang="en-IN" sz="2200" b="1" dirty="0">
                <a:latin typeface="Amasis MT Pro" panose="02040504050005020304" pitchFamily="18" charset="0"/>
              </a:rPr>
              <a:t> </a:t>
            </a:r>
            <a:r>
              <a:rPr lang="en-IN" sz="2200" dirty="0">
                <a:latin typeface="Amasis MT Pro" panose="02040504050005020304" pitchFamily="18" charset="0"/>
              </a:rPr>
              <a:t>to execute the same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69403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9288-850A-A649-67D3-7E81FABA2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6414038-8B27-9D3F-2C68-1608A179A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456" y="3212976"/>
            <a:ext cx="9289032" cy="1078665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Thank you !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846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8629</TotalTime>
  <Words>497</Words>
  <Application>Microsoft Office PowerPoint</Application>
  <PresentationFormat>Widescreen</PresentationFormat>
  <Paragraphs>61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Amasis MT Pro</vt:lpstr>
      <vt:lpstr>Arial</vt:lpstr>
      <vt:lpstr>Calibri</vt:lpstr>
      <vt:lpstr>Wingdings</vt:lpstr>
      <vt:lpstr>Office Theme</vt:lpstr>
      <vt:lpstr>PowerPoint Presentation</vt:lpstr>
      <vt:lpstr>Objective of this lab</vt:lpstr>
      <vt:lpstr>Demo Assignment – 00 (Vector Graphics)</vt:lpstr>
      <vt:lpstr>Assignment – 01 (Vector Graphics)</vt:lpstr>
      <vt:lpstr>Assignment – 02 (Vector Graphics)</vt:lpstr>
      <vt:lpstr>Assignment – 03 (Vector Graphics)</vt:lpstr>
      <vt:lpstr>Assignment – 04 (Vector Graphics)</vt:lpstr>
      <vt:lpstr>Assignment – 05 (Vector Graphics)</vt:lpstr>
      <vt:lpstr>PowerPoint Presentation</vt:lpstr>
      <vt:lpstr>Assignment – 07 (Vector Graphics)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and Autonomous Systems</dc:title>
  <dc:creator>Dell</dc:creator>
  <cp:lastModifiedBy>Nayaab Aman</cp:lastModifiedBy>
  <cp:revision>287</cp:revision>
  <dcterms:created xsi:type="dcterms:W3CDTF">2019-07-26T07:10:10Z</dcterms:created>
  <dcterms:modified xsi:type="dcterms:W3CDTF">2026-08-09T16:21:04Z</dcterms:modified>
</cp:coreProperties>
</file>