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90" r:id="rId2"/>
    <p:sldId id="392" r:id="rId3"/>
    <p:sldId id="393" r:id="rId4"/>
    <p:sldId id="404" r:id="rId5"/>
    <p:sldId id="406" r:id="rId6"/>
    <p:sldId id="410" r:id="rId7"/>
    <p:sldId id="408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4F81BD"/>
    <a:srgbClr val="25A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2955E4-5AFB-4794-A840-C2B597894F92}" v="26" dt="2026-10-18T07:56:53.065"/>
    <p1510:client id="{D78E6D69-0E9C-40C1-BAD2-552CD7D2DA33}" v="140" dt="2026-10-18T07:47:55.1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6323" autoAdjust="0"/>
  </p:normalViewPr>
  <p:slideViewPr>
    <p:cSldViewPr>
      <p:cViewPr varScale="1">
        <p:scale>
          <a:sx n="111" d="100"/>
          <a:sy n="111" d="100"/>
        </p:scale>
        <p:origin x="76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024A1-837C-427E-A09E-F69BE28790E3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820EA-AEA3-4928-999E-F2B4A3EAE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16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2A8F8-2F5C-1739-7C6E-9DC31B1C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4A815-896A-0E39-6ABB-8C7D94613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0A313-15FC-4883-CAC9-A00F5852E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6EF5E-4409-D843-55F1-430F51231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31F5C-E4D2-4B32-ACFC-7F4BB6D354A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679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63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28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8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595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70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19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7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10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5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759CC-92EB-41BE-8A78-21811B536B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2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A5989-633D-423F-BC88-6C5916D45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7AE26F4-3F9F-44D3-CC67-1987E8B26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1" y="23924"/>
            <a:ext cx="868623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C24924-1FBF-A688-9802-3B462389E627}"/>
              </a:ext>
            </a:extLst>
          </p:cNvPr>
          <p:cNvSpPr txBox="1">
            <a:spLocks/>
          </p:cNvSpPr>
          <p:nvPr/>
        </p:nvSpPr>
        <p:spPr>
          <a:xfrm>
            <a:off x="755092" y="63213"/>
            <a:ext cx="11287000" cy="11848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n-IN" sz="3200" dirty="0">
                <a:latin typeface="Amasis MT Pro" panose="02040504050005020304" pitchFamily="18" charset="0"/>
              </a:rPr>
              <a:t>Atal Bihari Vajpayee</a:t>
            </a:r>
            <a:r>
              <a:rPr lang="en-US" sz="2900" b="1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-</a:t>
            </a:r>
          </a:p>
          <a:p>
            <a:pPr>
              <a:lnSpc>
                <a:spcPts val="3800"/>
              </a:lnSpc>
            </a:pPr>
            <a:r>
              <a:rPr lang="en-US" sz="2900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Indian Institute of Information Technology and Management Gwalior</a:t>
            </a:r>
            <a:endParaRPr lang="en-IN" sz="2400" dirty="0">
              <a:solidFill>
                <a:srgbClr val="002060"/>
              </a:solidFill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4274C5-6B84-C83C-4FF4-C5E58FBC7A29}"/>
              </a:ext>
            </a:extLst>
          </p:cNvPr>
          <p:cNvSpPr txBox="1">
            <a:spLocks/>
          </p:cNvSpPr>
          <p:nvPr/>
        </p:nvSpPr>
        <p:spPr>
          <a:xfrm>
            <a:off x="77319" y="3982819"/>
            <a:ext cx="11584217" cy="904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b="1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Instructor – Dr. Sunil Kumar</a:t>
            </a:r>
          </a:p>
          <a:p>
            <a:r>
              <a:rPr lang="en-US" sz="2900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Assistant Professor @ Dept. of Information Technology, ABV-IIITM Gwalior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2E2BD-7408-EBD3-0654-F31C8B4A920D}"/>
              </a:ext>
            </a:extLst>
          </p:cNvPr>
          <p:cNvSpPr txBox="1"/>
          <p:nvPr/>
        </p:nvSpPr>
        <p:spPr>
          <a:xfrm>
            <a:off x="3337698" y="1860689"/>
            <a:ext cx="5216493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N" sz="3200">
                <a:solidFill>
                  <a:srgbClr val="FF0000"/>
                </a:solidFill>
                <a:latin typeface="Amasis MT Pro"/>
                <a:cs typeface="Times New Roman"/>
              </a:rPr>
              <a:t>Computer Graphics Lab : 09 </a:t>
            </a:r>
            <a:endParaRPr lang="en-IN" sz="3200" dirty="0">
              <a:solidFill>
                <a:srgbClr val="FF0000"/>
              </a:solidFill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4E02E7-BC8E-682A-CFDF-F90BB0E57D57}"/>
              </a:ext>
            </a:extLst>
          </p:cNvPr>
          <p:cNvSpPr txBox="1">
            <a:spLocks/>
          </p:cNvSpPr>
          <p:nvPr/>
        </p:nvSpPr>
        <p:spPr>
          <a:xfrm>
            <a:off x="119332" y="2353458"/>
            <a:ext cx="11653219" cy="131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chemeClr val="bg2">
                    <a:lumMod val="10000"/>
                  </a:schemeClr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Scene Creation in 3D</a:t>
            </a:r>
            <a:endParaRPr lang="en-IN" sz="66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1D2EC2-F2A3-A3F7-D458-9A501858E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257554"/>
              </p:ext>
            </p:extLst>
          </p:nvPr>
        </p:nvGraphicFramePr>
        <p:xfrm>
          <a:off x="977563" y="5700498"/>
          <a:ext cx="1023757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45683">
                  <a:extLst>
                    <a:ext uri="{9D8B030D-6E8A-4147-A177-3AD203B41FA5}">
                      <a16:colId xmlns:a16="http://schemas.microsoft.com/office/drawing/2014/main" val="1573689763"/>
                    </a:ext>
                  </a:extLst>
                </a:gridCol>
                <a:gridCol w="2091887">
                  <a:extLst>
                    <a:ext uri="{9D8B030D-6E8A-4147-A177-3AD203B41FA5}">
                      <a16:colId xmlns:a16="http://schemas.microsoft.com/office/drawing/2014/main" val="2592637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D0D0D"/>
                          </a:solidFill>
                          <a:latin typeface="Amasis MT Pro"/>
                          <a:cs typeface="Times New Roman"/>
                        </a:rPr>
                        <a:t>Mehr Aliah, Radhika</a:t>
                      </a:r>
                      <a:r>
                        <a:rPr lang="en-US" sz="1800" b="0" i="0" u="none" strike="noStrike" baseline="0" noProof="0">
                          <a:solidFill>
                            <a:srgbClr val="0D0D0D"/>
                          </a:solidFill>
                          <a:latin typeface="Amasis MT Pro"/>
                          <a:cs typeface="Times New Roman"/>
                        </a:rPr>
                        <a:t> Gupta, Pranav</a:t>
                      </a:r>
                      <a:endParaRPr lang="en-US"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masis MT Pro" panose="02040504050005020304" pitchFamily="18" charset="0"/>
                        </a:rPr>
                        <a:t>Group-02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164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D0D0D"/>
                          </a:solidFill>
                          <a:latin typeface="Amasis MT Pro"/>
                          <a:cs typeface="Times New Roman"/>
                        </a:rPr>
                        <a:t>Anushka Agarwal, Abhishek Shrivastav, Aditya, Sheel Patel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masis MT Pro"/>
                        </a:rPr>
                        <a:t>Group-01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6614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F95651A-21A4-C99E-CAA4-C4200504666B}"/>
              </a:ext>
            </a:extLst>
          </p:cNvPr>
          <p:cNvSpPr txBox="1"/>
          <p:nvPr/>
        </p:nvSpPr>
        <p:spPr>
          <a:xfrm>
            <a:off x="4079776" y="5072395"/>
            <a:ext cx="3333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Amasis MT Pro" panose="02040504050005020304" pitchFamily="18" charset="0"/>
              </a:rPr>
              <a:t>Teaching Assistants (TAs)</a:t>
            </a:r>
          </a:p>
        </p:txBody>
      </p:sp>
    </p:spTree>
    <p:extLst>
      <p:ext uri="{BB962C8B-B14F-4D97-AF65-F5344CB8AC3E}">
        <p14:creationId xmlns:p14="http://schemas.microsoft.com/office/powerpoint/2010/main" val="29508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3F1E8-DCE4-BEE6-DFAB-914C981F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59F738-7F80-DEA7-1E96-CE9D17B9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Objective of this lab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340E2-49C5-D25C-49D6-8233A930D876}"/>
              </a:ext>
            </a:extLst>
          </p:cNvPr>
          <p:cNvSpPr txBox="1"/>
          <p:nvPr/>
        </p:nvSpPr>
        <p:spPr>
          <a:xfrm>
            <a:off x="685754" y="2092788"/>
            <a:ext cx="10629997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5000000000000000000" pitchFamily="2" charset="2"/>
              <a:buChar char="•"/>
            </a:pPr>
            <a:r>
              <a:rPr lang="en-IN" sz="2400">
                <a:ea typeface="+mn-lt"/>
                <a:cs typeface="+mn-lt"/>
              </a:rPr>
              <a:t>The objective of this experiment is to understand the process of 3D scene creation using the World Coordinate System (WCS). It aims to create and visualize a 3D unit cube and study the effects of various geometric transformations, including </a:t>
            </a:r>
            <a:r>
              <a:rPr lang="en-IN" sz="2400">
                <a:latin typeface="Amasis MT Pro"/>
                <a:ea typeface="+mn-lt"/>
                <a:cs typeface="+mn-lt"/>
              </a:rPr>
              <a:t>translation</a:t>
            </a:r>
            <a:r>
              <a:rPr lang="en-IN" sz="2400">
                <a:ea typeface="+mn-lt"/>
                <a:cs typeface="+mn-lt"/>
              </a:rPr>
              <a:t>, scaling, rotation, shearing, and reflection, on three-dimensional objects.</a:t>
            </a:r>
            <a:endParaRPr lang="en-IN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766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732DF-BC1C-2F17-6310-E9917EA68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6162F0-F306-727E-B582-2DD0A030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00B05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Demo</a:t>
            </a:r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 Assignment - 01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BC959-FC7E-29A5-5BA1-04CA015BADBF}"/>
              </a:ext>
            </a:extLst>
          </p:cNvPr>
          <p:cNvSpPr txBox="1"/>
          <p:nvPr/>
        </p:nvSpPr>
        <p:spPr>
          <a:xfrm>
            <a:off x="695400" y="1254625"/>
            <a:ext cx="2792286" cy="51013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200" dirty="0">
                <a:latin typeface="Amasis MT Pro"/>
              </a:rPr>
              <a:t>#include &lt;GL/</a:t>
            </a:r>
            <a:r>
              <a:rPr lang="en-IN" sz="1200" dirty="0" err="1">
                <a:latin typeface="Amasis MT Pro"/>
              </a:rPr>
              <a:t>freeglut.h</a:t>
            </a:r>
            <a:r>
              <a:rPr lang="en-IN" sz="1200" dirty="0">
                <a:latin typeface="Amasis MT Pro"/>
              </a:rPr>
              <a:t>&gt;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void display()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{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glClear</a:t>
            </a:r>
            <a:r>
              <a:rPr lang="en-IN" sz="1200" dirty="0">
                <a:latin typeface="Amasis MT Pro"/>
              </a:rPr>
              <a:t>(GL_COLOR_BUFFER_BIT | GL_DEPTH_BUFFER_BIT);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glMatrixMode</a:t>
            </a:r>
            <a:r>
              <a:rPr lang="en-IN" sz="1200" dirty="0">
                <a:latin typeface="Amasis MT Pro"/>
              </a:rPr>
              <a:t>(GL_MODELVIEW);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glLoadIdentity</a:t>
            </a:r>
            <a:r>
              <a:rPr lang="en-IN" sz="1200" dirty="0">
                <a:latin typeface="Amasis MT Pro"/>
              </a:rPr>
              <a:t>();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gluLookAt</a:t>
            </a:r>
            <a:r>
              <a:rPr lang="en-IN" sz="1200" dirty="0">
                <a:latin typeface="Amasis MT Pro"/>
              </a:rPr>
              <a:t>(0, 0, 5,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              0, 0, 0,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              0, 1, 0);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    // Light position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GLfloat</a:t>
            </a:r>
            <a:r>
              <a:rPr lang="en-IN" sz="1200" dirty="0">
                <a:latin typeface="Amasis MT Pro"/>
              </a:rPr>
              <a:t> </a:t>
            </a:r>
            <a:r>
              <a:rPr lang="en-IN" sz="1200" dirty="0" err="1">
                <a:latin typeface="Amasis MT Pro"/>
              </a:rPr>
              <a:t>lightPos</a:t>
            </a:r>
            <a:r>
              <a:rPr lang="en-IN" sz="1200" dirty="0">
                <a:latin typeface="Amasis MT Pro"/>
              </a:rPr>
              <a:t>[] = { -3, 4, 5, 1 };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glLightfv</a:t>
            </a:r>
            <a:r>
              <a:rPr lang="en-IN" sz="1200" dirty="0">
                <a:latin typeface="Amasis MT Pro"/>
              </a:rPr>
              <a:t>(GL_LIGHT0, GL_POSITION, </a:t>
            </a:r>
            <a:r>
              <a:rPr lang="en-IN" sz="1200" dirty="0" err="1">
                <a:latin typeface="Amasis MT Pro"/>
              </a:rPr>
              <a:t>lightPos</a:t>
            </a:r>
            <a:r>
              <a:rPr lang="en-IN" sz="1200" dirty="0">
                <a:latin typeface="Amasis MT Pro"/>
              </a:rPr>
              <a:t>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// Sphere </a:t>
            </a:r>
            <a:r>
              <a:rPr lang="en-IN" sz="1200" dirty="0" err="1">
                <a:latin typeface="Amasis MT Pro"/>
              </a:rPr>
              <a:t>color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    glColor3f(0.1, 0.3, 1.0);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    // Draw 3D sphere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glutSolidSphere</a:t>
            </a:r>
            <a:r>
              <a:rPr lang="en-IN" sz="1200" dirty="0">
                <a:latin typeface="Amasis MT Pro"/>
              </a:rPr>
              <a:t>(1.5, 40, 40);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glutSwapBuffers</a:t>
            </a:r>
            <a:r>
              <a:rPr lang="en-IN" sz="1200" dirty="0">
                <a:latin typeface="Amasis MT Pro"/>
              </a:rPr>
              <a:t>();</a:t>
            </a:r>
            <a:endParaRPr lang="en-IN" sz="1200" dirty="0"/>
          </a:p>
          <a:p>
            <a:r>
              <a:rPr lang="en-IN" sz="1200">
                <a:latin typeface="Amasis MT Pro"/>
              </a:rPr>
              <a:t>}</a:t>
            </a:r>
            <a:endParaRPr lang="en-IN" sz="1200" dirty="0">
              <a:ea typeface="Calibri"/>
              <a:cs typeface="Calibri"/>
            </a:endParaRPr>
          </a:p>
          <a:p>
            <a:endParaRPr lang="en-IN" sz="1200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95407-5CF7-86E2-2712-658078F1C95D}"/>
              </a:ext>
            </a:extLst>
          </p:cNvPr>
          <p:cNvSpPr txBox="1"/>
          <p:nvPr/>
        </p:nvSpPr>
        <p:spPr>
          <a:xfrm>
            <a:off x="3486101" y="1254625"/>
            <a:ext cx="4316284" cy="51244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200" dirty="0">
                <a:latin typeface="Amasis MT Pro"/>
              </a:rPr>
              <a:t>void </a:t>
            </a:r>
            <a:r>
              <a:rPr lang="en-IN" sz="1200" dirty="0" err="1">
                <a:latin typeface="Amasis MT Pro"/>
              </a:rPr>
              <a:t>init</a:t>
            </a:r>
            <a:r>
              <a:rPr lang="en-IN" sz="1200" dirty="0">
                <a:latin typeface="Amasis MT Pro"/>
              </a:rPr>
              <a:t>()</a:t>
            </a:r>
            <a:endParaRPr lang="en-IN" sz="1200" dirty="0"/>
          </a:p>
          <a:p>
            <a:r>
              <a:rPr lang="en-IN" sz="1200">
                <a:latin typeface="Amasis MT Pro"/>
              </a:rPr>
              <a:t>{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glClearColor</a:t>
            </a:r>
            <a:r>
              <a:rPr lang="en-IN" sz="1200" dirty="0">
                <a:latin typeface="Amasis MT Pro"/>
              </a:rPr>
              <a:t>(1, 1, 1, 1);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glEnable</a:t>
            </a:r>
            <a:r>
              <a:rPr lang="en-IN" sz="1200" dirty="0">
                <a:latin typeface="Amasis MT Pro"/>
              </a:rPr>
              <a:t>(GL_DEPTH_TEST);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    // Enable lighting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glEnable</a:t>
            </a:r>
            <a:r>
              <a:rPr lang="en-IN" sz="1200" dirty="0">
                <a:latin typeface="Amasis MT Pro"/>
              </a:rPr>
              <a:t>(GL_LIGHTING);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glEnable</a:t>
            </a:r>
            <a:r>
              <a:rPr lang="en-IN" sz="1200" dirty="0">
                <a:latin typeface="Amasis MT Pro"/>
              </a:rPr>
              <a:t>(GL_LIGHT0);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glEnable</a:t>
            </a:r>
            <a:r>
              <a:rPr lang="en-IN" sz="1200" dirty="0">
                <a:latin typeface="Amasis MT Pro"/>
              </a:rPr>
              <a:t>(GL_COLOR_MATERIAL);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glColorMaterial</a:t>
            </a:r>
            <a:r>
              <a:rPr lang="en-IN" sz="1200" dirty="0">
                <a:latin typeface="Amasis MT Pro"/>
              </a:rPr>
              <a:t>(GL_FRONT, GL_AMBIENT_AND_DIFFUSE);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glEnable</a:t>
            </a:r>
            <a:r>
              <a:rPr lang="en-IN" sz="1200" dirty="0">
                <a:latin typeface="Amasis MT Pro"/>
              </a:rPr>
              <a:t>(GL_NORMALIZE);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GLfloat</a:t>
            </a:r>
            <a:r>
              <a:rPr lang="en-IN" sz="1200" dirty="0">
                <a:latin typeface="Amasis MT Pro"/>
              </a:rPr>
              <a:t> ambient[] = { 0.25, 0.25, 0.25, 1 };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GLfloat</a:t>
            </a:r>
            <a:r>
              <a:rPr lang="en-IN" sz="1200" dirty="0">
                <a:latin typeface="Amasis MT Pro"/>
              </a:rPr>
              <a:t> diffuse[] = { 1, 1, 1, 1 };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glLightfv</a:t>
            </a:r>
            <a:r>
              <a:rPr lang="en-IN" sz="1200" dirty="0">
                <a:latin typeface="Amasis MT Pro"/>
              </a:rPr>
              <a:t>(GL_LIGHT0, GL_AMBIENT, ambient);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glLightfv</a:t>
            </a:r>
            <a:r>
              <a:rPr lang="en-IN" sz="1200" dirty="0">
                <a:latin typeface="Amasis MT Pro"/>
              </a:rPr>
              <a:t>(GL_LIGHT0, GL_DIFFUSE, diffuse);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    // Set perspective view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glMatrixMode</a:t>
            </a:r>
            <a:r>
              <a:rPr lang="en-IN" sz="1200" dirty="0">
                <a:latin typeface="Amasis MT Pro"/>
              </a:rPr>
              <a:t>(GL_PROJECTION);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glLoadIdentity</a:t>
            </a:r>
            <a:r>
              <a:rPr lang="en-IN" sz="1200" dirty="0">
                <a:latin typeface="Amasis MT Pro"/>
              </a:rPr>
              <a:t>();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gluPerspective</a:t>
            </a:r>
            <a:r>
              <a:rPr lang="en-IN" sz="1200" dirty="0">
                <a:latin typeface="Amasis MT Pro"/>
              </a:rPr>
              <a:t>(45, 1, 1, 100);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glMatrixMode</a:t>
            </a:r>
            <a:r>
              <a:rPr lang="en-IN" sz="1200" dirty="0">
                <a:latin typeface="Amasis MT Pro"/>
              </a:rPr>
              <a:t>(GL_MODELVIEW);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}</a:t>
            </a:r>
            <a:endParaRPr lang="en-IN" sz="1200" dirty="0">
              <a:ea typeface="Calibri"/>
              <a:cs typeface="Calibri"/>
            </a:endParaRPr>
          </a:p>
          <a:p>
            <a:endParaRPr lang="en-IN" sz="1200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2BAB8-8C1A-2E36-7379-0B1F9B1BA2BF}"/>
              </a:ext>
            </a:extLst>
          </p:cNvPr>
          <p:cNvSpPr txBox="1"/>
          <p:nvPr/>
        </p:nvSpPr>
        <p:spPr>
          <a:xfrm>
            <a:off x="7375269" y="1106183"/>
            <a:ext cx="4316284" cy="33239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200" dirty="0">
                <a:latin typeface="Amasis MT Pro"/>
              </a:rPr>
              <a:t>int main(int </a:t>
            </a:r>
            <a:r>
              <a:rPr lang="en-IN" sz="1200" dirty="0" err="1">
                <a:latin typeface="Amasis MT Pro"/>
              </a:rPr>
              <a:t>argc</a:t>
            </a:r>
            <a:r>
              <a:rPr lang="en-IN" sz="1200" dirty="0">
                <a:latin typeface="Amasis MT Pro"/>
              </a:rPr>
              <a:t>, char **</a:t>
            </a:r>
            <a:r>
              <a:rPr lang="en-IN" sz="1200" dirty="0" err="1">
                <a:latin typeface="Amasis MT Pro"/>
              </a:rPr>
              <a:t>argv</a:t>
            </a:r>
            <a:r>
              <a:rPr lang="en-IN" sz="1200" dirty="0">
                <a:latin typeface="Amasis MT Pro"/>
              </a:rPr>
              <a:t>)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{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glutInit</a:t>
            </a:r>
            <a:r>
              <a:rPr lang="en-IN" sz="1200" dirty="0">
                <a:latin typeface="Amasis MT Pro"/>
              </a:rPr>
              <a:t>(&amp;</a:t>
            </a:r>
            <a:r>
              <a:rPr lang="en-IN" sz="1200" dirty="0" err="1">
                <a:latin typeface="Amasis MT Pro"/>
              </a:rPr>
              <a:t>argc</a:t>
            </a:r>
            <a:r>
              <a:rPr lang="en-IN" sz="1200" dirty="0">
                <a:latin typeface="Amasis MT Pro"/>
              </a:rPr>
              <a:t>, </a:t>
            </a:r>
            <a:r>
              <a:rPr lang="en-IN" sz="1200" dirty="0" err="1">
                <a:latin typeface="Amasis MT Pro"/>
              </a:rPr>
              <a:t>argv</a:t>
            </a:r>
            <a:r>
              <a:rPr lang="en-IN" sz="1200" dirty="0">
                <a:latin typeface="Amasis MT Pro"/>
              </a:rPr>
              <a:t>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glutInitDisplayMode</a:t>
            </a:r>
            <a:r>
              <a:rPr lang="en-IN" sz="1200" dirty="0">
                <a:latin typeface="Amasis MT Pro"/>
              </a:rPr>
              <a:t>(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        GLUT_DOUBLE | GLUT_RGB | GLUT_DEPTH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    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glutInitWindowSize</a:t>
            </a:r>
            <a:r>
              <a:rPr lang="en-IN" sz="1200" dirty="0">
                <a:latin typeface="Amasis MT Pro"/>
              </a:rPr>
              <a:t>(500, 500);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glutCreateWindow</a:t>
            </a:r>
            <a:r>
              <a:rPr lang="en-IN" sz="1200" dirty="0">
                <a:latin typeface="Amasis MT Pro"/>
              </a:rPr>
              <a:t>("3D Shaded Sphere");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init</a:t>
            </a:r>
            <a:r>
              <a:rPr lang="en-IN" sz="1200" dirty="0">
                <a:latin typeface="Amasis MT Pro"/>
              </a:rPr>
              <a:t>();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glutDisplayFunc</a:t>
            </a:r>
            <a:r>
              <a:rPr lang="en-IN" sz="1200" dirty="0">
                <a:latin typeface="Amasis MT Pro"/>
              </a:rPr>
              <a:t>(display);</a:t>
            </a:r>
            <a:endParaRPr lang="en-IN" sz="1200" dirty="0">
              <a:ea typeface="Calibri"/>
              <a:cs typeface="Calibri"/>
            </a:endParaRPr>
          </a:p>
          <a:p>
            <a:endParaRPr lang="en-IN" sz="1050" dirty="0">
              <a:ea typeface="Calibri"/>
              <a:cs typeface="Calibri"/>
            </a:endParaRPr>
          </a:p>
          <a:p>
            <a:r>
              <a:rPr lang="en-IN" sz="1200" dirty="0">
                <a:latin typeface="Amasis MT Pro"/>
              </a:rPr>
              <a:t>    </a:t>
            </a:r>
            <a:r>
              <a:rPr lang="en-IN" sz="1200" dirty="0" err="1">
                <a:latin typeface="Amasis MT Pro"/>
              </a:rPr>
              <a:t>glutMainLoop</a:t>
            </a:r>
            <a:r>
              <a:rPr lang="en-IN" sz="1200" dirty="0">
                <a:latin typeface="Amasis MT Pro"/>
              </a:rPr>
              <a:t>();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    return 0;</a:t>
            </a:r>
            <a:endParaRPr lang="en-IN" sz="1200" dirty="0">
              <a:ea typeface="Calibri"/>
              <a:cs typeface="Calibri"/>
            </a:endParaRPr>
          </a:p>
          <a:p>
            <a:r>
              <a:rPr lang="en-IN" sz="1200">
                <a:latin typeface="Amasis MT Pro"/>
              </a:rPr>
              <a:t>}</a:t>
            </a:r>
            <a:endParaRPr lang="en-IN" sz="1200" dirty="0">
              <a:ea typeface="Calibri"/>
              <a:cs typeface="Calibri"/>
            </a:endParaRPr>
          </a:p>
          <a:p>
            <a:endParaRPr lang="en-IN" sz="1200" dirty="0">
              <a:latin typeface="Amasis MT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3486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80AAE-01E2-1693-FC54-D121463D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FAEF3A9-DDEA-E326-9CF6-4B0BD7225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56" y="116632"/>
            <a:ext cx="10981220" cy="82938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6000" dirty="0">
                <a:latin typeface="Amasis MT Pro"/>
                <a:cs typeface="Times New Roman"/>
              </a:rPr>
              <a:t>Assignment - 02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568354-8641-6C3E-C257-9E166E4AC782}"/>
                  </a:ext>
                </a:extLst>
              </p:cNvPr>
              <p:cNvSpPr txBox="1"/>
              <p:nvPr/>
            </p:nvSpPr>
            <p:spPr>
              <a:xfrm>
                <a:off x="386856" y="1196752"/>
                <a:ext cx="11210836" cy="5343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IN" sz="2400" b="1" dirty="0">
                    <a:latin typeface="Amasis MT Pro" panose="02040504050005020304" pitchFamily="18" charset="0"/>
                  </a:rPr>
                  <a:t>Question -02 </a:t>
                </a:r>
                <a:r>
                  <a:rPr lang="en-IN" sz="2400" dirty="0">
                    <a:latin typeface="Amasis MT Pro" panose="02040504050005020304" pitchFamily="18" charset="0"/>
                  </a:rPr>
                  <a:t>: Consider a unit cube in 3D w.r.t WCS. Create the following scenes after the performing the following 3D transformations.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Scene-01</a:t>
                </a:r>
                <a:r>
                  <a:rPr lang="en-IN" sz="2400" dirty="0">
                    <a:latin typeface="Amasis MT Pro" panose="02040504050005020304" pitchFamily="18" charset="0"/>
                  </a:rPr>
                  <a:t> = </a:t>
                </a:r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</a:rPr>
                  <a:t>Unit cube w.r.t WCS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Scene-02</a:t>
                </a:r>
                <a:r>
                  <a:rPr lang="en-IN" sz="2400" dirty="0">
                    <a:latin typeface="Amasis MT Pro" panose="020405040500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IN" sz="2400" dirty="0">
                    <a:latin typeface="Amasis MT Pro" panose="02040504050005020304" pitchFamily="18" charset="0"/>
                  </a:rPr>
                  <a:t> </a:t>
                </a:r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</a:rPr>
                  <a:t>(Scene-01)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Scene-03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latin typeface="Amasis MT Pro" panose="02040504050005020304" pitchFamily="18" charset="0"/>
                  </a:rPr>
                  <a:t> </a:t>
                </a:r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</a:rPr>
                  <a:t>(Scene-02)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Scene-04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I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latin typeface="Amasis MT Pro" panose="02040504050005020304" pitchFamily="18" charset="0"/>
                  </a:rPr>
                  <a:t> </a:t>
                </a:r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</a:rPr>
                  <a:t>(Scene-03)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Scene-05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I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latin typeface="Amasis MT Pro" panose="02040504050005020304" pitchFamily="18" charset="0"/>
                  </a:rPr>
                  <a:t> </a:t>
                </a:r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</a:rPr>
                  <a:t>(Scene-03)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Scene-06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I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latin typeface="Amasis MT Pro" panose="02040504050005020304" pitchFamily="18" charset="0"/>
                  </a:rPr>
                  <a:t> (Scene-03)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Scene-07</a:t>
                </a:r>
                <a:r>
                  <a:rPr lang="en-IN" sz="2400" dirty="0">
                    <a:latin typeface="Amasis MT Pro" panose="02040504050005020304" pitchFamily="18" charset="0"/>
                  </a:rPr>
                  <a:t>=(Rotate about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400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I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>
                    <a:latin typeface="Amasis MT Pro" panose="02040504050005020304" pitchFamily="18" charset="0"/>
                  </a:rPr>
                  <a:t> by an angle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IN" sz="2400" dirty="0">
                    <a:latin typeface="Amasis MT Pro" panose="02040504050005020304" pitchFamily="18" charset="0"/>
                  </a:rPr>
                  <a:t>)</a:t>
                </a:r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</a:rPr>
                  <a:t>(Scene-03)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568354-8641-6C3E-C257-9E166E4AC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56" y="1196752"/>
                <a:ext cx="11210836" cy="5343194"/>
              </a:xfrm>
              <a:prstGeom prst="rect">
                <a:avLst/>
              </a:prstGeom>
              <a:blipFill>
                <a:blip r:embed="rId2"/>
                <a:stretch>
                  <a:fillRect l="-707" r="-707" b="-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192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D1833-BC96-A7C6-45A5-4E11357DD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6AE234D-7FF6-554B-2D07-66C48A5ED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56" y="3314"/>
            <a:ext cx="10981220" cy="829383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Amasis MT Pro"/>
                <a:cs typeface="Times New Roman"/>
              </a:rPr>
              <a:t>Assignment - 03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F3881B-9CA3-0EDF-2634-5C4BEBC04923}"/>
                  </a:ext>
                </a:extLst>
              </p:cNvPr>
              <p:cNvSpPr txBox="1"/>
              <p:nvPr/>
            </p:nvSpPr>
            <p:spPr>
              <a:xfrm>
                <a:off x="386856" y="1034639"/>
                <a:ext cx="11210836" cy="3497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IN" sz="2400" b="1" dirty="0">
                    <a:latin typeface="Amasis MT Pro" panose="02040504050005020304" pitchFamily="18" charset="0"/>
                  </a:rPr>
                  <a:t>Question -03 </a:t>
                </a:r>
                <a:r>
                  <a:rPr lang="en-IN" sz="2400" dirty="0">
                    <a:latin typeface="Amasis MT Pro" panose="02040504050005020304" pitchFamily="18" charset="0"/>
                  </a:rPr>
                  <a:t>: Consider a unit cube in 3D w.r.t WCS. Create the following scenes after the performing the following 3D transformations.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Scene-01</a:t>
                </a:r>
                <a:r>
                  <a:rPr lang="en-IN" sz="2400" dirty="0">
                    <a:latin typeface="Amasis MT Pro" panose="02040504050005020304" pitchFamily="18" charset="0"/>
                  </a:rPr>
                  <a:t> = </a:t>
                </a:r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</a:rPr>
                  <a:t>Unit cube w.r.t WCS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Scene-02</a:t>
                </a:r>
                <a:r>
                  <a:rPr lang="en-IN" sz="2400" dirty="0">
                    <a:latin typeface="Amasis MT Pro" panose="020405040500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𝑦𝑥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latin typeface="Amasis MT Pro" panose="02040504050005020304" pitchFamily="18" charset="0"/>
                  </a:rPr>
                  <a:t> </a:t>
                </a:r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</a:rPr>
                  <a:t>(Scene-01)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Scene-03</a:t>
                </a:r>
                <a:r>
                  <a:rPr lang="en-IN" sz="2400" dirty="0">
                    <a:latin typeface="Amasis MT Pro" panose="020405040500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IN" sz="2400" dirty="0">
                    <a:latin typeface="Amasis MT Pro" panose="02040504050005020304" pitchFamily="18" charset="0"/>
                  </a:rPr>
                  <a:t> </a:t>
                </a:r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</a:rPr>
                  <a:t>(Scene-01)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Scene-04</a:t>
                </a:r>
                <a:r>
                  <a:rPr lang="en-IN" sz="2400" dirty="0">
                    <a:latin typeface="Amasis MT Pro" panose="020405040500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IN" sz="2400" dirty="0">
                    <a:latin typeface="Amasis MT Pro" panose="02040504050005020304" pitchFamily="18" charset="0"/>
                  </a:rPr>
                  <a:t> </a:t>
                </a:r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</a:rPr>
                  <a:t>(Scene-01)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F3881B-9CA3-0EDF-2634-5C4BEBC04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56" y="1034639"/>
                <a:ext cx="11210836" cy="3497881"/>
              </a:xfrm>
              <a:prstGeom prst="rect">
                <a:avLst/>
              </a:prstGeom>
              <a:blipFill>
                <a:blip r:embed="rId2"/>
                <a:stretch>
                  <a:fillRect l="-707" r="-707" b="-2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092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7957-4527-4611-BEEC-4866937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CDB3A3F-3176-39B9-CBE1-102BCE14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56" y="116632"/>
            <a:ext cx="10981220" cy="93610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6000" dirty="0">
                <a:latin typeface="Amasis MT Pro"/>
                <a:cs typeface="Times New Roman"/>
              </a:rPr>
              <a:t>Assignment - 04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D0BC97-8BE7-5478-CE69-3C0D0859E99C}"/>
                  </a:ext>
                </a:extLst>
              </p:cNvPr>
              <p:cNvSpPr txBox="1"/>
              <p:nvPr/>
            </p:nvSpPr>
            <p:spPr>
              <a:xfrm>
                <a:off x="416944" y="1412776"/>
                <a:ext cx="11210836" cy="2243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IN" sz="2400" b="1" dirty="0">
                    <a:latin typeface="Amasis MT Pro" panose="02040504050005020304" pitchFamily="18" charset="0"/>
                  </a:rPr>
                  <a:t>Question -04 </a:t>
                </a:r>
                <a:r>
                  <a:rPr lang="en-IN" sz="2400" dirty="0">
                    <a:latin typeface="Amasis MT Pro" panose="02040504050005020304" pitchFamily="18" charset="0"/>
                  </a:rPr>
                  <a:t>: Consider a unit cube in 3D w.r.t WCS. Create the following scenes after the performing the following 3D transformations.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Scene-01</a:t>
                </a:r>
                <a:r>
                  <a:rPr lang="en-IN" sz="2400" dirty="0">
                    <a:latin typeface="Amasis MT Pro" panose="02040504050005020304" pitchFamily="18" charset="0"/>
                  </a:rPr>
                  <a:t> = </a:t>
                </a:r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</a:rPr>
                  <a:t>Unit cube w.r.t WCS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3366FF"/>
                    </a:solidFill>
                    <a:latin typeface="Amasis MT Pro" panose="02040504050005020304" pitchFamily="18" charset="0"/>
                  </a:rPr>
                  <a:t>Scene-02</a:t>
                </a:r>
                <a:r>
                  <a:rPr lang="en-IN" sz="2400" dirty="0">
                    <a:latin typeface="Amasis MT Pro" panose="02040504050005020304" pitchFamily="18" charset="0"/>
                  </a:rPr>
                  <a:t>=(Reflection about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IN" sz="2400" dirty="0">
                    <a:latin typeface="Amasis MT Pro" panose="02040504050005020304" pitchFamily="18" charset="0"/>
                  </a:rPr>
                  <a:t>)</a:t>
                </a:r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</a:rPr>
                  <a:t>(Scene-03)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D0BC97-8BE7-5478-CE69-3C0D0859E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44" y="1412776"/>
                <a:ext cx="11210836" cy="2243371"/>
              </a:xfrm>
              <a:prstGeom prst="rect">
                <a:avLst/>
              </a:prstGeom>
              <a:blipFill>
                <a:blip r:embed="rId2"/>
                <a:stretch>
                  <a:fillRect l="-707" r="-761" b="-5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22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FB2CC-BDAA-2B35-23DC-453DB6B89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5866757-DE18-2EED-CC94-B43CAA33F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66" y="64304"/>
            <a:ext cx="10981220" cy="829383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Amasis MT Pro"/>
                <a:cs typeface="Times New Roman"/>
              </a:rPr>
              <a:t>Assignment - 05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25291A-0292-927E-589D-FFDB2A36FDA5}"/>
              </a:ext>
            </a:extLst>
          </p:cNvPr>
          <p:cNvSpPr txBox="1"/>
          <p:nvPr/>
        </p:nvSpPr>
        <p:spPr>
          <a:xfrm>
            <a:off x="695400" y="1254625"/>
            <a:ext cx="707729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/>
              </a:rPr>
              <a:t>Question -05 </a:t>
            </a:r>
            <a:r>
              <a:rPr lang="en-IN" sz="2400" dirty="0">
                <a:latin typeface="Amasis MT Pro"/>
              </a:rPr>
              <a:t>: Create a scene of your interest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02067B-9F1B-2178-3016-BB96D4FED56D}"/>
              </a:ext>
            </a:extLst>
          </p:cNvPr>
          <p:cNvSpPr/>
          <p:nvPr/>
        </p:nvSpPr>
        <p:spPr>
          <a:xfrm>
            <a:off x="3215680" y="2276872"/>
            <a:ext cx="5328592" cy="32403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06CAE8-2BC4-160B-9EE6-13A569476589}"/>
              </a:ext>
            </a:extLst>
          </p:cNvPr>
          <p:cNvSpPr txBox="1"/>
          <p:nvPr/>
        </p:nvSpPr>
        <p:spPr>
          <a:xfrm>
            <a:off x="5159896" y="3712386"/>
            <a:ext cx="1660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masis MT Pro" panose="02040504050005020304" pitchFamily="18" charset="0"/>
              </a:rPr>
              <a:t>YOUR SCENE</a:t>
            </a:r>
          </a:p>
        </p:txBody>
      </p:sp>
    </p:spTree>
    <p:extLst>
      <p:ext uri="{BB962C8B-B14F-4D97-AF65-F5344CB8AC3E}">
        <p14:creationId xmlns:p14="http://schemas.microsoft.com/office/powerpoint/2010/main" val="298583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9288-850A-A649-67D3-7E81FABA2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414038-8B27-9D3F-2C68-1608A17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2889667"/>
            <a:ext cx="9289032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Thank you !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846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8450</TotalTime>
  <Words>393</Words>
  <Application>Microsoft Office PowerPoint</Application>
  <PresentationFormat>Widescreen</PresentationFormat>
  <Paragraphs>43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Objective of this lab</vt:lpstr>
      <vt:lpstr>Demo Assignment - 01</vt:lpstr>
      <vt:lpstr>Assignment - 02</vt:lpstr>
      <vt:lpstr>Assignment - 03</vt:lpstr>
      <vt:lpstr>Assignment - 04</vt:lpstr>
      <vt:lpstr>Assignment - 05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and Autonomous Systems</dc:title>
  <dc:creator>Dell</dc:creator>
  <cp:lastModifiedBy>Sunil Kumar</cp:lastModifiedBy>
  <cp:revision>364</cp:revision>
  <dcterms:created xsi:type="dcterms:W3CDTF">2019-07-26T07:10:10Z</dcterms:created>
  <dcterms:modified xsi:type="dcterms:W3CDTF">2026-10-18T07:57:11Z</dcterms:modified>
</cp:coreProperties>
</file>